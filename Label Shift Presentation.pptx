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diagrams/data2.xml" ContentType="application/vnd.openxmlformats-officedocument.drawingml.diagramData+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1" r:id="rId2"/>
  </p:sldMasterIdLst>
  <p:notesMasterIdLst>
    <p:notesMasterId r:id="rId26"/>
  </p:notesMasterIdLst>
  <p:sldIdLst>
    <p:sldId id="256" r:id="rId3"/>
    <p:sldId id="257" r:id="rId4"/>
    <p:sldId id="258" r:id="rId5"/>
    <p:sldId id="259" r:id="rId6"/>
    <p:sldId id="260" r:id="rId7"/>
    <p:sldId id="275" r:id="rId8"/>
    <p:sldId id="262" r:id="rId9"/>
    <p:sldId id="263" r:id="rId10"/>
    <p:sldId id="274" r:id="rId11"/>
    <p:sldId id="266" r:id="rId12"/>
    <p:sldId id="267" r:id="rId13"/>
    <p:sldId id="276" r:id="rId14"/>
    <p:sldId id="268" r:id="rId15"/>
    <p:sldId id="269" r:id="rId16"/>
    <p:sldId id="277" r:id="rId17"/>
    <p:sldId id="270" r:id="rId18"/>
    <p:sldId id="278" r:id="rId19"/>
    <p:sldId id="271" r:id="rId20"/>
    <p:sldId id="272" r:id="rId21"/>
    <p:sldId id="273" r:id="rId22"/>
    <p:sldId id="261" r:id="rId23"/>
    <p:sldId id="264" r:id="rId24"/>
    <p:sldId id="265" r:id="rId25"/>
  </p:sldIdLst>
  <p:sldSz cx="12192000" cy="6858000"/>
  <p:notesSz cx="6858000" cy="9144000"/>
  <p:embeddedFontLst>
    <p:embeddedFont>
      <p:font typeface="Cambria Math" panose="02040503050406030204" pitchFamily="18" charset="0"/>
      <p:regular r:id="rId27"/>
    </p:embeddedFont>
    <p:embeddedFont>
      <p:font typeface="Cormorant" panose="02010600030101010101" charset="0"/>
      <p:regular r:id="rId28"/>
      <p:bold r:id="rId29"/>
      <p:italic r:id="rId30"/>
      <p:boldItalic r:id="rId31"/>
    </p:embeddedFont>
    <p:embeddedFont>
      <p:font typeface="Nunito Sans"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jCtvYE8SaTCMP1/JOqeBCab27P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F483FC4-A8E0-496E-99EA-8A9381747193}">
  <a:tblStyle styleId="{9F483FC4-A8E0-496E-99EA-8A938174719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68" autoAdjust="0"/>
    <p:restoredTop sz="86323" autoAdjust="0"/>
  </p:normalViewPr>
  <p:slideViewPr>
    <p:cSldViewPr snapToGrid="0">
      <p:cViewPr>
        <p:scale>
          <a:sx n="100" d="100"/>
          <a:sy n="100" d="100"/>
        </p:scale>
        <p:origin x="48" y="-12"/>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font" Target="fonts/font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7.fntdata"/><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customschemas.google.com/relationships/presentationmetadata" Target="meta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6.xml"/><Relationship Id="rId3" Type="http://schemas.openxmlformats.org/officeDocument/2006/relationships/slide" Target="slides/slide1.xml"/></Relationships>
</file>

<file path=ppt/diagrams/_rels/data2.xml.rels><?xml version="1.0" encoding="UTF-8" standalone="yes"?>
<Relationships xmlns="http://schemas.openxmlformats.org/package/2006/relationships"><Relationship Id="rId1" Type="http://schemas.openxmlformats.org/officeDocument/2006/relationships/image" Target="../media/image45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674542-E1D4-4BF5-B565-B67E2D82B362}"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zh-CN" altLang="en-US"/>
        </a:p>
      </dgm:t>
    </dgm:pt>
    <dgm:pt modelId="{4A6D5B30-58C6-4D65-AED0-37DFF697339B}">
      <dgm:prSet phldrT="[文本]"/>
      <dgm:spPr/>
      <dgm:t>
        <a:bodyPr/>
        <a:lstStyle/>
        <a:p>
          <a:pPr>
            <a:buNone/>
          </a:pPr>
          <a:r>
            <a:rPr lang="en-US" dirty="0"/>
            <a:t>Train a classifier on the source data</a:t>
          </a:r>
          <a:endParaRPr lang="zh-CN" altLang="en-US" dirty="0"/>
        </a:p>
      </dgm:t>
    </dgm:pt>
    <dgm:pt modelId="{F59B9F16-AAC2-43C9-B9C1-1CE76BC0B7F0}" type="parTrans" cxnId="{9BEE3E97-4F29-426F-8562-43DE47C3BCF3}">
      <dgm:prSet/>
      <dgm:spPr/>
      <dgm:t>
        <a:bodyPr/>
        <a:lstStyle/>
        <a:p>
          <a:endParaRPr lang="zh-CN" altLang="en-US"/>
        </a:p>
      </dgm:t>
    </dgm:pt>
    <dgm:pt modelId="{9E322A40-6465-4EDC-8E17-6FD83375A308}" type="sibTrans" cxnId="{9BEE3E97-4F29-426F-8562-43DE47C3BCF3}">
      <dgm:prSet/>
      <dgm:spPr/>
      <dgm:t>
        <a:bodyPr/>
        <a:lstStyle/>
        <a:p>
          <a:endParaRPr lang="zh-CN" altLang="en-US"/>
        </a:p>
      </dgm:t>
    </dgm:pt>
    <dgm:pt modelId="{B4637F0B-A274-4662-86EB-6D18F1008A81}">
      <dgm:prSet phldrT="[文本]" phldr="0"/>
      <dgm:spPr/>
      <dgm:t>
        <a:bodyPr/>
        <a:lstStyle/>
        <a:p>
          <a:r>
            <a:rPr lang="en-US" altLang="zh-CN" dirty="0"/>
            <a:t>Estimate weights using BBSE/MLLS</a:t>
          </a:r>
          <a:endParaRPr lang="zh-CN" altLang="en-US" dirty="0"/>
        </a:p>
      </dgm:t>
    </dgm:pt>
    <dgm:pt modelId="{07F761ED-E16E-4B99-96F6-4B32FEB68685}" type="parTrans" cxnId="{C85AADCB-E1D0-451E-B607-E1A06ED59DEB}">
      <dgm:prSet/>
      <dgm:spPr/>
      <dgm:t>
        <a:bodyPr/>
        <a:lstStyle/>
        <a:p>
          <a:endParaRPr lang="zh-CN" altLang="en-US"/>
        </a:p>
      </dgm:t>
    </dgm:pt>
    <dgm:pt modelId="{7072C20F-3612-4614-81E8-1BB597A6A619}" type="sibTrans" cxnId="{C85AADCB-E1D0-451E-B607-E1A06ED59DEB}">
      <dgm:prSet/>
      <dgm:spPr/>
      <dgm:t>
        <a:bodyPr/>
        <a:lstStyle/>
        <a:p>
          <a:endParaRPr lang="zh-CN" altLang="en-US"/>
        </a:p>
      </dgm:t>
    </dgm:pt>
    <dgm:pt modelId="{793FB9BC-DCB4-42DF-918F-1D0540395674}">
      <dgm:prSet phldrT="[文本]" phldr="0"/>
      <dgm:spPr/>
      <dgm:t>
        <a:bodyPr/>
        <a:lstStyle/>
        <a:p>
          <a:r>
            <a:rPr lang="en-US" altLang="zh-CN" dirty="0"/>
            <a:t>Resample the source data with replacement using estimated weights</a:t>
          </a:r>
          <a:endParaRPr lang="zh-CN" altLang="en-US" dirty="0"/>
        </a:p>
      </dgm:t>
    </dgm:pt>
    <dgm:pt modelId="{027C1C0C-DC1E-4946-A071-23DF1A1279B5}" type="parTrans" cxnId="{09EF951F-2337-4432-8EA2-288E830EFCF8}">
      <dgm:prSet/>
      <dgm:spPr/>
      <dgm:t>
        <a:bodyPr/>
        <a:lstStyle/>
        <a:p>
          <a:endParaRPr lang="zh-CN" altLang="en-US"/>
        </a:p>
      </dgm:t>
    </dgm:pt>
    <dgm:pt modelId="{59D2DF1B-A28E-4E7A-93E2-EA51D6932505}" type="sibTrans" cxnId="{09EF951F-2337-4432-8EA2-288E830EFCF8}">
      <dgm:prSet/>
      <dgm:spPr/>
      <dgm:t>
        <a:bodyPr/>
        <a:lstStyle/>
        <a:p>
          <a:endParaRPr lang="zh-CN" altLang="en-US"/>
        </a:p>
      </dgm:t>
    </dgm:pt>
    <mc:AlternateContent xmlns:mc="http://schemas.openxmlformats.org/markup-compatibility/2006" xmlns:a14="http://schemas.microsoft.com/office/drawing/2010/main">
      <mc:Choice Requires="a14">
        <dgm:pt modelId="{07692266-CA2E-4026-90A9-350F5B01A275}">
          <dgm:prSet phldrT="[文本]" phldr="0"/>
          <dgm:spPr/>
          <dgm:t>
            <a:bodyPr/>
            <a:lstStyle/>
            <a:p>
              <a:r>
                <a:rPr lang="en-US" altLang="zh-CN" dirty="0"/>
                <a:t>Compute </a:t>
              </a:r>
              <a:r>
                <a:rPr lang="en-US" dirty="0"/>
                <a:t>Wasserstein Distance </a:t>
              </a:r>
              <a14:m>
                <m:oMath xmlns:m="http://schemas.openxmlformats.org/officeDocument/2006/math">
                  <m:sSub>
                    <m:sSubPr>
                      <m:ctrlPr>
                        <a:rPr lang="en-US" altLang="zh-CN" i="1" dirty="0" smtClean="0">
                          <a:latin typeface="Cambria Math" panose="02040503050406030204" pitchFamily="18" charset="0"/>
                          <a:cs typeface="Times New Roman" panose="02020603050405020304" pitchFamily="18" charset="0"/>
                        </a:rPr>
                      </m:ctrlPr>
                    </m:sSubPr>
                    <m:e>
                      <m:r>
                        <a:rPr lang="en-US" altLang="zh-CN" dirty="0">
                          <a:latin typeface="Cambria Math" panose="02040503050406030204" pitchFamily="18" charset="0"/>
                          <a:cs typeface="Times New Roman" panose="02020603050405020304" pitchFamily="18" charset="0"/>
                        </a:rPr>
                        <m:t>𝑊</m:t>
                      </m:r>
                    </m:e>
                    <m:sub>
                      <m:r>
                        <a:rPr lang="en-US" altLang="zh-CN" dirty="0">
                          <a:latin typeface="Cambria Math" panose="02040503050406030204" pitchFamily="18" charset="0"/>
                          <a:cs typeface="Times New Roman" panose="02020603050405020304" pitchFamily="18" charset="0"/>
                        </a:rPr>
                        <m:t>1</m:t>
                      </m:r>
                    </m:sub>
                  </m:sSub>
                  <m:d>
                    <m:dPr>
                      <m:ctrlPr>
                        <a:rPr lang="en-US" altLang="zh-CN" i="1" dirty="0">
                          <a:latin typeface="Cambria Math" panose="02040503050406030204" pitchFamily="18" charset="0"/>
                          <a:cs typeface="Times New Roman" panose="02020603050405020304" pitchFamily="18" charset="0"/>
                        </a:rPr>
                      </m:ctrlPr>
                    </m:dPr>
                    <m:e>
                      <m:sSup>
                        <m:sSupPr>
                          <m:ctrlPr>
                            <a:rPr lang="en-US" altLang="zh-CN" i="1" dirty="0">
                              <a:latin typeface="Cambria Math" panose="02040503050406030204" pitchFamily="18" charset="0"/>
                              <a:cs typeface="Times New Roman" panose="02020603050405020304" pitchFamily="18" charset="0"/>
                            </a:rPr>
                          </m:ctrlPr>
                        </m:sSupPr>
                        <m:e>
                          <m:r>
                            <a:rPr lang="en-US" altLang="zh-CN" dirty="0">
                              <a:latin typeface="Cambria Math" panose="02040503050406030204" pitchFamily="18" charset="0"/>
                              <a:cs typeface="Times New Roman" panose="02020603050405020304" pitchFamily="18" charset="0"/>
                            </a:rPr>
                            <m:t>𝑝</m:t>
                          </m:r>
                        </m:e>
                        <m:sup>
                          <m:r>
                            <a:rPr lang="en-US" altLang="zh-CN" dirty="0">
                              <a:latin typeface="Cambria Math" panose="02040503050406030204" pitchFamily="18" charset="0"/>
                              <a:cs typeface="Times New Roman" panose="02020603050405020304" pitchFamily="18" charset="0"/>
                            </a:rPr>
                            <m:t>∗</m:t>
                          </m:r>
                        </m:sup>
                      </m:sSup>
                      <m:d>
                        <m:dPr>
                          <m:ctrlPr>
                            <a:rPr lang="en-US" altLang="zh-CN" i="1" dirty="0">
                              <a:latin typeface="Cambria Math" panose="02040503050406030204" pitchFamily="18" charset="0"/>
                              <a:cs typeface="Times New Roman" panose="02020603050405020304" pitchFamily="18" charset="0"/>
                            </a:rPr>
                          </m:ctrlPr>
                        </m:dPr>
                        <m:e>
                          <m:acc>
                            <m:accPr>
                              <m:chr m:val="̂"/>
                              <m:ctrlPr>
                                <a:rPr lang="en-US" altLang="zh-CN" i="1" dirty="0">
                                  <a:latin typeface="Cambria Math" panose="02040503050406030204" pitchFamily="18" charset="0"/>
                                  <a:cs typeface="Times New Roman" panose="02020603050405020304" pitchFamily="18" charset="0"/>
                                </a:rPr>
                              </m:ctrlPr>
                            </m:accPr>
                            <m:e>
                              <m:r>
                                <a:rPr lang="en-US" altLang="zh-CN" dirty="0">
                                  <a:latin typeface="Cambria Math" panose="02040503050406030204" pitchFamily="18" charset="0"/>
                                  <a:cs typeface="Times New Roman" panose="02020603050405020304" pitchFamily="18" charset="0"/>
                                </a:rPr>
                                <m:t>𝑦</m:t>
                              </m:r>
                            </m:e>
                          </m:acc>
                        </m:e>
                      </m:d>
                      <m:r>
                        <a:rPr lang="en-US" altLang="zh-CN" dirty="0">
                          <a:latin typeface="Cambria Math" panose="02040503050406030204" pitchFamily="18" charset="0"/>
                          <a:cs typeface="Times New Roman" panose="02020603050405020304" pitchFamily="18" charset="0"/>
                        </a:rPr>
                        <m:t>,</m:t>
                      </m:r>
                      <m:r>
                        <a:rPr lang="en-US" altLang="zh-CN" dirty="0">
                          <a:latin typeface="Cambria Math" panose="02040503050406030204" pitchFamily="18" charset="0"/>
                          <a:cs typeface="Times New Roman" panose="02020603050405020304" pitchFamily="18" charset="0"/>
                        </a:rPr>
                        <m:t>𝑞</m:t>
                      </m:r>
                      <m:d>
                        <m:dPr>
                          <m:ctrlPr>
                            <a:rPr lang="en-US" altLang="zh-CN" i="1" dirty="0">
                              <a:latin typeface="Cambria Math" panose="02040503050406030204" pitchFamily="18" charset="0"/>
                              <a:cs typeface="Times New Roman" panose="02020603050405020304" pitchFamily="18" charset="0"/>
                            </a:rPr>
                          </m:ctrlPr>
                        </m:dPr>
                        <m:e>
                          <m:acc>
                            <m:accPr>
                              <m:chr m:val="̂"/>
                              <m:ctrlPr>
                                <a:rPr lang="en-US" altLang="zh-CN" i="1" dirty="0">
                                  <a:latin typeface="Cambria Math" panose="02040503050406030204" pitchFamily="18" charset="0"/>
                                  <a:cs typeface="Times New Roman" panose="02020603050405020304" pitchFamily="18" charset="0"/>
                                </a:rPr>
                              </m:ctrlPr>
                            </m:accPr>
                            <m:e>
                              <m:r>
                                <a:rPr lang="en-US" altLang="zh-CN" dirty="0">
                                  <a:latin typeface="Cambria Math" panose="02040503050406030204" pitchFamily="18" charset="0"/>
                                  <a:cs typeface="Times New Roman" panose="02020603050405020304" pitchFamily="18" charset="0"/>
                                </a:rPr>
                                <m:t>𝑦</m:t>
                              </m:r>
                            </m:e>
                          </m:acc>
                        </m:e>
                      </m:d>
                    </m:e>
                  </m:d>
                </m:oMath>
              </a14:m>
              <a:endParaRPr lang="zh-CN" altLang="en-US" dirty="0"/>
            </a:p>
          </dgm:t>
        </dgm:pt>
      </mc:Choice>
      <mc:Fallback xmlns="">
        <dgm:pt modelId="{07692266-CA2E-4026-90A9-350F5B01A275}">
          <dgm:prSet phldrT="[文本]" phldr="0"/>
          <dgm:spPr/>
          <dgm:t>
            <a:bodyPr/>
            <a:lstStyle/>
            <a:p>
              <a:r>
                <a:rPr lang="en-US" altLang="zh-CN" dirty="0"/>
                <a:t>Compute </a:t>
              </a:r>
              <a:r>
                <a:rPr lang="en-US" dirty="0"/>
                <a:t>Wasserstein Distance </a:t>
              </a:r>
              <a:r>
                <a:rPr lang="en-US" altLang="zh-CN" i="0" dirty="0">
                  <a:latin typeface="Cambria Math" panose="02040503050406030204" pitchFamily="18" charset="0"/>
                  <a:cs typeface="Times New Roman" panose="02020603050405020304" pitchFamily="18" charset="0"/>
                </a:rPr>
                <a:t>𝑊_1 (𝑝^∗ (𝑦 ̂ ),𝑞(𝑦 ̂ ))</a:t>
              </a:r>
              <a:endParaRPr lang="zh-CN" altLang="en-US" dirty="0"/>
            </a:p>
          </dgm:t>
        </dgm:pt>
      </mc:Fallback>
    </mc:AlternateContent>
    <dgm:pt modelId="{14ABFD7A-363D-46DD-9E36-D9E1D9E165D8}" type="parTrans" cxnId="{7B1A6B3C-56E0-42B2-B3DA-0C621971D97C}">
      <dgm:prSet/>
      <dgm:spPr/>
      <dgm:t>
        <a:bodyPr/>
        <a:lstStyle/>
        <a:p>
          <a:endParaRPr lang="zh-CN" altLang="en-US"/>
        </a:p>
      </dgm:t>
    </dgm:pt>
    <dgm:pt modelId="{3FCE6EC3-0F5B-4DA4-B9F1-7A990674F1F8}" type="sibTrans" cxnId="{7B1A6B3C-56E0-42B2-B3DA-0C621971D97C}">
      <dgm:prSet/>
      <dgm:spPr/>
      <dgm:t>
        <a:bodyPr/>
        <a:lstStyle/>
        <a:p>
          <a:endParaRPr lang="zh-CN" altLang="en-US"/>
        </a:p>
      </dgm:t>
    </dgm:pt>
    <dgm:pt modelId="{4E6F1F09-8F45-455F-9539-3B7AEE0FF7ED}" type="pres">
      <dgm:prSet presAssocID="{5B674542-E1D4-4BF5-B565-B67E2D82B362}" presName="Name0" presStyleCnt="0">
        <dgm:presLayoutVars>
          <dgm:dir/>
          <dgm:resizeHandles val="exact"/>
        </dgm:presLayoutVars>
      </dgm:prSet>
      <dgm:spPr/>
    </dgm:pt>
    <dgm:pt modelId="{BC828977-0809-45B5-A1B3-641306F19B40}" type="pres">
      <dgm:prSet presAssocID="{4A6D5B30-58C6-4D65-AED0-37DFF697339B}" presName="node" presStyleLbl="node1" presStyleIdx="0" presStyleCnt="4">
        <dgm:presLayoutVars>
          <dgm:bulletEnabled val="1"/>
        </dgm:presLayoutVars>
      </dgm:prSet>
      <dgm:spPr/>
    </dgm:pt>
    <dgm:pt modelId="{9073F57A-0E84-4750-A0FC-6FF4D82FAD12}" type="pres">
      <dgm:prSet presAssocID="{9E322A40-6465-4EDC-8E17-6FD83375A308}" presName="sibTrans" presStyleLbl="sibTrans2D1" presStyleIdx="0" presStyleCnt="3"/>
      <dgm:spPr/>
    </dgm:pt>
    <dgm:pt modelId="{B7080D82-76FB-407B-BC3D-BC4EC059AF40}" type="pres">
      <dgm:prSet presAssocID="{9E322A40-6465-4EDC-8E17-6FD83375A308}" presName="connectorText" presStyleLbl="sibTrans2D1" presStyleIdx="0" presStyleCnt="3"/>
      <dgm:spPr/>
    </dgm:pt>
    <dgm:pt modelId="{1EB9CE48-9BA4-4EB7-BA58-AFF573392532}" type="pres">
      <dgm:prSet presAssocID="{B4637F0B-A274-4662-86EB-6D18F1008A81}" presName="node" presStyleLbl="node1" presStyleIdx="1" presStyleCnt="4">
        <dgm:presLayoutVars>
          <dgm:bulletEnabled val="1"/>
        </dgm:presLayoutVars>
      </dgm:prSet>
      <dgm:spPr/>
    </dgm:pt>
    <dgm:pt modelId="{110E4363-7587-467C-BA08-4F3C134D62DF}" type="pres">
      <dgm:prSet presAssocID="{7072C20F-3612-4614-81E8-1BB597A6A619}" presName="sibTrans" presStyleLbl="sibTrans2D1" presStyleIdx="1" presStyleCnt="3"/>
      <dgm:spPr/>
    </dgm:pt>
    <dgm:pt modelId="{21DF8845-25E1-4A1C-BBD6-34D4CD037216}" type="pres">
      <dgm:prSet presAssocID="{7072C20F-3612-4614-81E8-1BB597A6A619}" presName="connectorText" presStyleLbl="sibTrans2D1" presStyleIdx="1" presStyleCnt="3"/>
      <dgm:spPr/>
    </dgm:pt>
    <dgm:pt modelId="{E6114335-BDCE-4C63-9591-05892C01A931}" type="pres">
      <dgm:prSet presAssocID="{793FB9BC-DCB4-42DF-918F-1D0540395674}" presName="node" presStyleLbl="node1" presStyleIdx="2" presStyleCnt="4">
        <dgm:presLayoutVars>
          <dgm:bulletEnabled val="1"/>
        </dgm:presLayoutVars>
      </dgm:prSet>
      <dgm:spPr/>
    </dgm:pt>
    <dgm:pt modelId="{68908B83-9116-4123-BB83-90E67054CC46}" type="pres">
      <dgm:prSet presAssocID="{59D2DF1B-A28E-4E7A-93E2-EA51D6932505}" presName="sibTrans" presStyleLbl="sibTrans2D1" presStyleIdx="2" presStyleCnt="3"/>
      <dgm:spPr/>
    </dgm:pt>
    <dgm:pt modelId="{B3EC53B0-F460-49C3-90A9-EE33D2BB5BE3}" type="pres">
      <dgm:prSet presAssocID="{59D2DF1B-A28E-4E7A-93E2-EA51D6932505}" presName="connectorText" presStyleLbl="sibTrans2D1" presStyleIdx="2" presStyleCnt="3"/>
      <dgm:spPr/>
    </dgm:pt>
    <dgm:pt modelId="{F39E6B25-904C-4EDE-8BD9-C12FC7CADFAA}" type="pres">
      <dgm:prSet presAssocID="{07692266-CA2E-4026-90A9-350F5B01A275}" presName="node" presStyleLbl="node1" presStyleIdx="3" presStyleCnt="4">
        <dgm:presLayoutVars>
          <dgm:bulletEnabled val="1"/>
        </dgm:presLayoutVars>
      </dgm:prSet>
      <dgm:spPr/>
    </dgm:pt>
  </dgm:ptLst>
  <dgm:cxnLst>
    <dgm:cxn modelId="{64F0A810-46CF-46CA-9308-A5A3C92A8B21}" type="presOf" srcId="{9E322A40-6465-4EDC-8E17-6FD83375A308}" destId="{9073F57A-0E84-4750-A0FC-6FF4D82FAD12}" srcOrd="0" destOrd="0" presId="urn:microsoft.com/office/officeart/2005/8/layout/process1"/>
    <dgm:cxn modelId="{09EF951F-2337-4432-8EA2-288E830EFCF8}" srcId="{5B674542-E1D4-4BF5-B565-B67E2D82B362}" destId="{793FB9BC-DCB4-42DF-918F-1D0540395674}" srcOrd="2" destOrd="0" parTransId="{027C1C0C-DC1E-4946-A071-23DF1A1279B5}" sibTransId="{59D2DF1B-A28E-4E7A-93E2-EA51D6932505}"/>
    <dgm:cxn modelId="{D6170F2A-FB53-4437-BA43-303AA5AD7120}" type="presOf" srcId="{B4637F0B-A274-4662-86EB-6D18F1008A81}" destId="{1EB9CE48-9BA4-4EB7-BA58-AFF573392532}" srcOrd="0" destOrd="0" presId="urn:microsoft.com/office/officeart/2005/8/layout/process1"/>
    <dgm:cxn modelId="{CE909931-504B-47EE-BA26-BF84B07CA8DD}" type="presOf" srcId="{7072C20F-3612-4614-81E8-1BB597A6A619}" destId="{21DF8845-25E1-4A1C-BBD6-34D4CD037216}" srcOrd="1" destOrd="0" presId="urn:microsoft.com/office/officeart/2005/8/layout/process1"/>
    <dgm:cxn modelId="{7B1A6B3C-56E0-42B2-B3DA-0C621971D97C}" srcId="{5B674542-E1D4-4BF5-B565-B67E2D82B362}" destId="{07692266-CA2E-4026-90A9-350F5B01A275}" srcOrd="3" destOrd="0" parTransId="{14ABFD7A-363D-46DD-9E36-D9E1D9E165D8}" sibTransId="{3FCE6EC3-0F5B-4DA4-B9F1-7A990674F1F8}"/>
    <dgm:cxn modelId="{02573D5B-0D4B-4989-A299-45D46B5CED14}" type="presOf" srcId="{9E322A40-6465-4EDC-8E17-6FD83375A308}" destId="{B7080D82-76FB-407B-BC3D-BC4EC059AF40}" srcOrd="1" destOrd="0" presId="urn:microsoft.com/office/officeart/2005/8/layout/process1"/>
    <dgm:cxn modelId="{1F287D6B-DCEB-48DC-B9A9-96B6889A60E9}" type="presOf" srcId="{7072C20F-3612-4614-81E8-1BB597A6A619}" destId="{110E4363-7587-467C-BA08-4F3C134D62DF}" srcOrd="0" destOrd="0" presId="urn:microsoft.com/office/officeart/2005/8/layout/process1"/>
    <dgm:cxn modelId="{9BEE3E97-4F29-426F-8562-43DE47C3BCF3}" srcId="{5B674542-E1D4-4BF5-B565-B67E2D82B362}" destId="{4A6D5B30-58C6-4D65-AED0-37DFF697339B}" srcOrd="0" destOrd="0" parTransId="{F59B9F16-AAC2-43C9-B9C1-1CE76BC0B7F0}" sibTransId="{9E322A40-6465-4EDC-8E17-6FD83375A308}"/>
    <dgm:cxn modelId="{DEC0B7A1-6B27-4B41-9AAA-FC880263164E}" type="presOf" srcId="{07692266-CA2E-4026-90A9-350F5B01A275}" destId="{F39E6B25-904C-4EDE-8BD9-C12FC7CADFAA}" srcOrd="0" destOrd="0" presId="urn:microsoft.com/office/officeart/2005/8/layout/process1"/>
    <dgm:cxn modelId="{449172C7-23B6-4A73-9980-9B1C7D74F7D6}" type="presOf" srcId="{4A6D5B30-58C6-4D65-AED0-37DFF697339B}" destId="{BC828977-0809-45B5-A1B3-641306F19B40}" srcOrd="0" destOrd="0" presId="urn:microsoft.com/office/officeart/2005/8/layout/process1"/>
    <dgm:cxn modelId="{C85AADCB-E1D0-451E-B607-E1A06ED59DEB}" srcId="{5B674542-E1D4-4BF5-B565-B67E2D82B362}" destId="{B4637F0B-A274-4662-86EB-6D18F1008A81}" srcOrd="1" destOrd="0" parTransId="{07F761ED-E16E-4B99-96F6-4B32FEB68685}" sibTransId="{7072C20F-3612-4614-81E8-1BB597A6A619}"/>
    <dgm:cxn modelId="{C47F11CE-EF2B-44F7-8ED8-93F808A22CC9}" type="presOf" srcId="{793FB9BC-DCB4-42DF-918F-1D0540395674}" destId="{E6114335-BDCE-4C63-9591-05892C01A931}" srcOrd="0" destOrd="0" presId="urn:microsoft.com/office/officeart/2005/8/layout/process1"/>
    <dgm:cxn modelId="{DF949DD5-3BB9-421C-B306-92731E8BD6A7}" type="presOf" srcId="{5B674542-E1D4-4BF5-B565-B67E2D82B362}" destId="{4E6F1F09-8F45-455F-9539-3B7AEE0FF7ED}" srcOrd="0" destOrd="0" presId="urn:microsoft.com/office/officeart/2005/8/layout/process1"/>
    <dgm:cxn modelId="{36600ADD-B990-42BF-A0F5-9902945ABF11}" type="presOf" srcId="{59D2DF1B-A28E-4E7A-93E2-EA51D6932505}" destId="{B3EC53B0-F460-49C3-90A9-EE33D2BB5BE3}" srcOrd="1" destOrd="0" presId="urn:microsoft.com/office/officeart/2005/8/layout/process1"/>
    <dgm:cxn modelId="{88606FF2-FE96-4DBA-A681-92647384772F}" type="presOf" srcId="{59D2DF1B-A28E-4E7A-93E2-EA51D6932505}" destId="{68908B83-9116-4123-BB83-90E67054CC46}" srcOrd="0" destOrd="0" presId="urn:microsoft.com/office/officeart/2005/8/layout/process1"/>
    <dgm:cxn modelId="{E8618FF7-8693-48BD-A0C5-09FCDF9C19E2}" type="presParOf" srcId="{4E6F1F09-8F45-455F-9539-3B7AEE0FF7ED}" destId="{BC828977-0809-45B5-A1B3-641306F19B40}" srcOrd="0" destOrd="0" presId="urn:microsoft.com/office/officeart/2005/8/layout/process1"/>
    <dgm:cxn modelId="{CF20E263-AB2D-475A-B72D-B6681917B07E}" type="presParOf" srcId="{4E6F1F09-8F45-455F-9539-3B7AEE0FF7ED}" destId="{9073F57A-0E84-4750-A0FC-6FF4D82FAD12}" srcOrd="1" destOrd="0" presId="urn:microsoft.com/office/officeart/2005/8/layout/process1"/>
    <dgm:cxn modelId="{AD20BE48-F96B-4864-B11E-83F74F2F18F7}" type="presParOf" srcId="{9073F57A-0E84-4750-A0FC-6FF4D82FAD12}" destId="{B7080D82-76FB-407B-BC3D-BC4EC059AF40}" srcOrd="0" destOrd="0" presId="urn:microsoft.com/office/officeart/2005/8/layout/process1"/>
    <dgm:cxn modelId="{0DC542FF-222C-42D0-A094-2E4F8F101729}" type="presParOf" srcId="{4E6F1F09-8F45-455F-9539-3B7AEE0FF7ED}" destId="{1EB9CE48-9BA4-4EB7-BA58-AFF573392532}" srcOrd="2" destOrd="0" presId="urn:microsoft.com/office/officeart/2005/8/layout/process1"/>
    <dgm:cxn modelId="{FE0D4D82-1A94-4965-A9EB-E6118A9D5B3F}" type="presParOf" srcId="{4E6F1F09-8F45-455F-9539-3B7AEE0FF7ED}" destId="{110E4363-7587-467C-BA08-4F3C134D62DF}" srcOrd="3" destOrd="0" presId="urn:microsoft.com/office/officeart/2005/8/layout/process1"/>
    <dgm:cxn modelId="{397255C8-9F41-4CF9-8532-7FDF6208DB42}" type="presParOf" srcId="{110E4363-7587-467C-BA08-4F3C134D62DF}" destId="{21DF8845-25E1-4A1C-BBD6-34D4CD037216}" srcOrd="0" destOrd="0" presId="urn:microsoft.com/office/officeart/2005/8/layout/process1"/>
    <dgm:cxn modelId="{FF485EB7-0D9B-44C2-8124-99CE1D2319E0}" type="presParOf" srcId="{4E6F1F09-8F45-455F-9539-3B7AEE0FF7ED}" destId="{E6114335-BDCE-4C63-9591-05892C01A931}" srcOrd="4" destOrd="0" presId="urn:microsoft.com/office/officeart/2005/8/layout/process1"/>
    <dgm:cxn modelId="{90AF5927-46B8-4126-8AF0-3CB512CC6E60}" type="presParOf" srcId="{4E6F1F09-8F45-455F-9539-3B7AEE0FF7ED}" destId="{68908B83-9116-4123-BB83-90E67054CC46}" srcOrd="5" destOrd="0" presId="urn:microsoft.com/office/officeart/2005/8/layout/process1"/>
    <dgm:cxn modelId="{DD765A31-1BCC-4C66-8D87-9915F44C1E3F}" type="presParOf" srcId="{68908B83-9116-4123-BB83-90E67054CC46}" destId="{B3EC53B0-F460-49C3-90A9-EE33D2BB5BE3}" srcOrd="0" destOrd="0" presId="urn:microsoft.com/office/officeart/2005/8/layout/process1"/>
    <dgm:cxn modelId="{00A3F2B2-D207-4A7C-9252-4ECF487BB1F6}" type="presParOf" srcId="{4E6F1F09-8F45-455F-9539-3B7AEE0FF7ED}" destId="{F39E6B25-904C-4EDE-8BD9-C12FC7CADFAA}"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674542-E1D4-4BF5-B565-B67E2D82B362}"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zh-CN" altLang="en-US"/>
        </a:p>
      </dgm:t>
    </dgm:pt>
    <dgm:pt modelId="{4A6D5B30-58C6-4D65-AED0-37DFF697339B}">
      <dgm:prSet phldrT="[文本]"/>
      <dgm:spPr/>
      <dgm:t>
        <a:bodyPr/>
        <a:lstStyle/>
        <a:p>
          <a:pPr>
            <a:buNone/>
          </a:pPr>
          <a:r>
            <a:rPr lang="en-US" dirty="0"/>
            <a:t>Train a classifier on the source data</a:t>
          </a:r>
          <a:endParaRPr lang="zh-CN" altLang="en-US" dirty="0"/>
        </a:p>
      </dgm:t>
    </dgm:pt>
    <dgm:pt modelId="{F59B9F16-AAC2-43C9-B9C1-1CE76BC0B7F0}" type="parTrans" cxnId="{9BEE3E97-4F29-426F-8562-43DE47C3BCF3}">
      <dgm:prSet/>
      <dgm:spPr/>
      <dgm:t>
        <a:bodyPr/>
        <a:lstStyle/>
        <a:p>
          <a:endParaRPr lang="zh-CN" altLang="en-US"/>
        </a:p>
      </dgm:t>
    </dgm:pt>
    <dgm:pt modelId="{9E322A40-6465-4EDC-8E17-6FD83375A308}" type="sibTrans" cxnId="{9BEE3E97-4F29-426F-8562-43DE47C3BCF3}">
      <dgm:prSet/>
      <dgm:spPr/>
      <dgm:t>
        <a:bodyPr/>
        <a:lstStyle/>
        <a:p>
          <a:endParaRPr lang="zh-CN" altLang="en-US"/>
        </a:p>
      </dgm:t>
    </dgm:pt>
    <dgm:pt modelId="{B4637F0B-A274-4662-86EB-6D18F1008A81}">
      <dgm:prSet phldrT="[文本]" phldr="0"/>
      <dgm:spPr/>
      <dgm:t>
        <a:bodyPr/>
        <a:lstStyle/>
        <a:p>
          <a:r>
            <a:rPr lang="en-US" altLang="zh-CN" dirty="0"/>
            <a:t>Estimate weights using BBSE/MLLS</a:t>
          </a:r>
          <a:endParaRPr lang="zh-CN" altLang="en-US" dirty="0"/>
        </a:p>
      </dgm:t>
    </dgm:pt>
    <dgm:pt modelId="{07F761ED-E16E-4B99-96F6-4B32FEB68685}" type="parTrans" cxnId="{C85AADCB-E1D0-451E-B607-E1A06ED59DEB}">
      <dgm:prSet/>
      <dgm:spPr/>
      <dgm:t>
        <a:bodyPr/>
        <a:lstStyle/>
        <a:p>
          <a:endParaRPr lang="zh-CN" altLang="en-US"/>
        </a:p>
      </dgm:t>
    </dgm:pt>
    <dgm:pt modelId="{7072C20F-3612-4614-81E8-1BB597A6A619}" type="sibTrans" cxnId="{C85AADCB-E1D0-451E-B607-E1A06ED59DEB}">
      <dgm:prSet/>
      <dgm:spPr/>
      <dgm:t>
        <a:bodyPr/>
        <a:lstStyle/>
        <a:p>
          <a:endParaRPr lang="zh-CN" altLang="en-US"/>
        </a:p>
      </dgm:t>
    </dgm:pt>
    <dgm:pt modelId="{793FB9BC-DCB4-42DF-918F-1D0540395674}">
      <dgm:prSet phldrT="[文本]" phldr="0"/>
      <dgm:spPr/>
      <dgm:t>
        <a:bodyPr/>
        <a:lstStyle/>
        <a:p>
          <a:r>
            <a:rPr lang="en-US" altLang="zh-CN" dirty="0"/>
            <a:t>Resample the source data with replacement using estimated weights</a:t>
          </a:r>
          <a:endParaRPr lang="zh-CN" altLang="en-US" dirty="0"/>
        </a:p>
      </dgm:t>
    </dgm:pt>
    <dgm:pt modelId="{027C1C0C-DC1E-4946-A071-23DF1A1279B5}" type="parTrans" cxnId="{09EF951F-2337-4432-8EA2-288E830EFCF8}">
      <dgm:prSet/>
      <dgm:spPr/>
      <dgm:t>
        <a:bodyPr/>
        <a:lstStyle/>
        <a:p>
          <a:endParaRPr lang="zh-CN" altLang="en-US"/>
        </a:p>
      </dgm:t>
    </dgm:pt>
    <dgm:pt modelId="{59D2DF1B-A28E-4E7A-93E2-EA51D6932505}" type="sibTrans" cxnId="{09EF951F-2337-4432-8EA2-288E830EFCF8}">
      <dgm:prSet/>
      <dgm:spPr/>
      <dgm:t>
        <a:bodyPr/>
        <a:lstStyle/>
        <a:p>
          <a:endParaRPr lang="zh-CN" altLang="en-US"/>
        </a:p>
      </dgm:t>
    </dgm:pt>
    <dgm:pt modelId="{07692266-CA2E-4026-90A9-350F5B01A275}">
      <dgm:prSet phldrT="[文本]" phldr="0"/>
      <dgm:spPr>
        <a:blipFill>
          <a:blip xmlns:r="http://schemas.openxmlformats.org/officeDocument/2006/relationships" r:embed="rId1"/>
          <a:stretch>
            <a:fillRect/>
          </a:stretch>
        </a:blipFill>
      </dgm:spPr>
      <dgm:t>
        <a:bodyPr/>
        <a:lstStyle/>
        <a:p>
          <a:r>
            <a:rPr lang="zh-CN" altLang="en-US">
              <a:noFill/>
            </a:rPr>
            <a:t> </a:t>
          </a:r>
        </a:p>
      </dgm:t>
    </dgm:pt>
    <dgm:pt modelId="{14ABFD7A-363D-46DD-9E36-D9E1D9E165D8}" type="parTrans" cxnId="{7B1A6B3C-56E0-42B2-B3DA-0C621971D97C}">
      <dgm:prSet/>
      <dgm:spPr/>
      <dgm:t>
        <a:bodyPr/>
        <a:lstStyle/>
        <a:p>
          <a:endParaRPr lang="zh-CN" altLang="en-US"/>
        </a:p>
      </dgm:t>
    </dgm:pt>
    <dgm:pt modelId="{3FCE6EC3-0F5B-4DA4-B9F1-7A990674F1F8}" type="sibTrans" cxnId="{7B1A6B3C-56E0-42B2-B3DA-0C621971D97C}">
      <dgm:prSet/>
      <dgm:spPr/>
      <dgm:t>
        <a:bodyPr/>
        <a:lstStyle/>
        <a:p>
          <a:endParaRPr lang="zh-CN" altLang="en-US"/>
        </a:p>
      </dgm:t>
    </dgm:pt>
    <dgm:pt modelId="{4E6F1F09-8F45-455F-9539-3B7AEE0FF7ED}" type="pres">
      <dgm:prSet presAssocID="{5B674542-E1D4-4BF5-B565-B67E2D82B362}" presName="Name0" presStyleCnt="0">
        <dgm:presLayoutVars>
          <dgm:dir/>
          <dgm:resizeHandles val="exact"/>
        </dgm:presLayoutVars>
      </dgm:prSet>
      <dgm:spPr/>
    </dgm:pt>
    <dgm:pt modelId="{BC828977-0809-45B5-A1B3-641306F19B40}" type="pres">
      <dgm:prSet presAssocID="{4A6D5B30-58C6-4D65-AED0-37DFF697339B}" presName="node" presStyleLbl="node1" presStyleIdx="0" presStyleCnt="4">
        <dgm:presLayoutVars>
          <dgm:bulletEnabled val="1"/>
        </dgm:presLayoutVars>
      </dgm:prSet>
      <dgm:spPr/>
    </dgm:pt>
    <dgm:pt modelId="{9073F57A-0E84-4750-A0FC-6FF4D82FAD12}" type="pres">
      <dgm:prSet presAssocID="{9E322A40-6465-4EDC-8E17-6FD83375A308}" presName="sibTrans" presStyleLbl="sibTrans2D1" presStyleIdx="0" presStyleCnt="3"/>
      <dgm:spPr/>
    </dgm:pt>
    <dgm:pt modelId="{B7080D82-76FB-407B-BC3D-BC4EC059AF40}" type="pres">
      <dgm:prSet presAssocID="{9E322A40-6465-4EDC-8E17-6FD83375A308}" presName="connectorText" presStyleLbl="sibTrans2D1" presStyleIdx="0" presStyleCnt="3"/>
      <dgm:spPr/>
    </dgm:pt>
    <dgm:pt modelId="{1EB9CE48-9BA4-4EB7-BA58-AFF573392532}" type="pres">
      <dgm:prSet presAssocID="{B4637F0B-A274-4662-86EB-6D18F1008A81}" presName="node" presStyleLbl="node1" presStyleIdx="1" presStyleCnt="4">
        <dgm:presLayoutVars>
          <dgm:bulletEnabled val="1"/>
        </dgm:presLayoutVars>
      </dgm:prSet>
      <dgm:spPr/>
    </dgm:pt>
    <dgm:pt modelId="{110E4363-7587-467C-BA08-4F3C134D62DF}" type="pres">
      <dgm:prSet presAssocID="{7072C20F-3612-4614-81E8-1BB597A6A619}" presName="sibTrans" presStyleLbl="sibTrans2D1" presStyleIdx="1" presStyleCnt="3"/>
      <dgm:spPr/>
    </dgm:pt>
    <dgm:pt modelId="{21DF8845-25E1-4A1C-BBD6-34D4CD037216}" type="pres">
      <dgm:prSet presAssocID="{7072C20F-3612-4614-81E8-1BB597A6A619}" presName="connectorText" presStyleLbl="sibTrans2D1" presStyleIdx="1" presStyleCnt="3"/>
      <dgm:spPr/>
    </dgm:pt>
    <dgm:pt modelId="{E6114335-BDCE-4C63-9591-05892C01A931}" type="pres">
      <dgm:prSet presAssocID="{793FB9BC-DCB4-42DF-918F-1D0540395674}" presName="node" presStyleLbl="node1" presStyleIdx="2" presStyleCnt="4">
        <dgm:presLayoutVars>
          <dgm:bulletEnabled val="1"/>
        </dgm:presLayoutVars>
      </dgm:prSet>
      <dgm:spPr/>
    </dgm:pt>
    <dgm:pt modelId="{68908B83-9116-4123-BB83-90E67054CC46}" type="pres">
      <dgm:prSet presAssocID="{59D2DF1B-A28E-4E7A-93E2-EA51D6932505}" presName="sibTrans" presStyleLbl="sibTrans2D1" presStyleIdx="2" presStyleCnt="3"/>
      <dgm:spPr/>
    </dgm:pt>
    <dgm:pt modelId="{B3EC53B0-F460-49C3-90A9-EE33D2BB5BE3}" type="pres">
      <dgm:prSet presAssocID="{59D2DF1B-A28E-4E7A-93E2-EA51D6932505}" presName="connectorText" presStyleLbl="sibTrans2D1" presStyleIdx="2" presStyleCnt="3"/>
      <dgm:spPr/>
    </dgm:pt>
    <dgm:pt modelId="{F39E6B25-904C-4EDE-8BD9-C12FC7CADFAA}" type="pres">
      <dgm:prSet presAssocID="{07692266-CA2E-4026-90A9-350F5B01A275}" presName="node" presStyleLbl="node1" presStyleIdx="3" presStyleCnt="4">
        <dgm:presLayoutVars>
          <dgm:bulletEnabled val="1"/>
        </dgm:presLayoutVars>
      </dgm:prSet>
      <dgm:spPr/>
    </dgm:pt>
  </dgm:ptLst>
  <dgm:cxnLst>
    <dgm:cxn modelId="{64F0A810-46CF-46CA-9308-A5A3C92A8B21}" type="presOf" srcId="{9E322A40-6465-4EDC-8E17-6FD83375A308}" destId="{9073F57A-0E84-4750-A0FC-6FF4D82FAD12}" srcOrd="0" destOrd="0" presId="urn:microsoft.com/office/officeart/2005/8/layout/process1"/>
    <dgm:cxn modelId="{09EF951F-2337-4432-8EA2-288E830EFCF8}" srcId="{5B674542-E1D4-4BF5-B565-B67E2D82B362}" destId="{793FB9BC-DCB4-42DF-918F-1D0540395674}" srcOrd="2" destOrd="0" parTransId="{027C1C0C-DC1E-4946-A071-23DF1A1279B5}" sibTransId="{59D2DF1B-A28E-4E7A-93E2-EA51D6932505}"/>
    <dgm:cxn modelId="{D6170F2A-FB53-4437-BA43-303AA5AD7120}" type="presOf" srcId="{B4637F0B-A274-4662-86EB-6D18F1008A81}" destId="{1EB9CE48-9BA4-4EB7-BA58-AFF573392532}" srcOrd="0" destOrd="0" presId="urn:microsoft.com/office/officeart/2005/8/layout/process1"/>
    <dgm:cxn modelId="{CE909931-504B-47EE-BA26-BF84B07CA8DD}" type="presOf" srcId="{7072C20F-3612-4614-81E8-1BB597A6A619}" destId="{21DF8845-25E1-4A1C-BBD6-34D4CD037216}" srcOrd="1" destOrd="0" presId="urn:microsoft.com/office/officeart/2005/8/layout/process1"/>
    <dgm:cxn modelId="{7B1A6B3C-56E0-42B2-B3DA-0C621971D97C}" srcId="{5B674542-E1D4-4BF5-B565-B67E2D82B362}" destId="{07692266-CA2E-4026-90A9-350F5B01A275}" srcOrd="3" destOrd="0" parTransId="{14ABFD7A-363D-46DD-9E36-D9E1D9E165D8}" sibTransId="{3FCE6EC3-0F5B-4DA4-B9F1-7A990674F1F8}"/>
    <dgm:cxn modelId="{02573D5B-0D4B-4989-A299-45D46B5CED14}" type="presOf" srcId="{9E322A40-6465-4EDC-8E17-6FD83375A308}" destId="{B7080D82-76FB-407B-BC3D-BC4EC059AF40}" srcOrd="1" destOrd="0" presId="urn:microsoft.com/office/officeart/2005/8/layout/process1"/>
    <dgm:cxn modelId="{1F287D6B-DCEB-48DC-B9A9-96B6889A60E9}" type="presOf" srcId="{7072C20F-3612-4614-81E8-1BB597A6A619}" destId="{110E4363-7587-467C-BA08-4F3C134D62DF}" srcOrd="0" destOrd="0" presId="urn:microsoft.com/office/officeart/2005/8/layout/process1"/>
    <dgm:cxn modelId="{9BEE3E97-4F29-426F-8562-43DE47C3BCF3}" srcId="{5B674542-E1D4-4BF5-B565-B67E2D82B362}" destId="{4A6D5B30-58C6-4D65-AED0-37DFF697339B}" srcOrd="0" destOrd="0" parTransId="{F59B9F16-AAC2-43C9-B9C1-1CE76BC0B7F0}" sibTransId="{9E322A40-6465-4EDC-8E17-6FD83375A308}"/>
    <dgm:cxn modelId="{DEC0B7A1-6B27-4B41-9AAA-FC880263164E}" type="presOf" srcId="{07692266-CA2E-4026-90A9-350F5B01A275}" destId="{F39E6B25-904C-4EDE-8BD9-C12FC7CADFAA}" srcOrd="0" destOrd="0" presId="urn:microsoft.com/office/officeart/2005/8/layout/process1"/>
    <dgm:cxn modelId="{449172C7-23B6-4A73-9980-9B1C7D74F7D6}" type="presOf" srcId="{4A6D5B30-58C6-4D65-AED0-37DFF697339B}" destId="{BC828977-0809-45B5-A1B3-641306F19B40}" srcOrd="0" destOrd="0" presId="urn:microsoft.com/office/officeart/2005/8/layout/process1"/>
    <dgm:cxn modelId="{C85AADCB-E1D0-451E-B607-E1A06ED59DEB}" srcId="{5B674542-E1D4-4BF5-B565-B67E2D82B362}" destId="{B4637F0B-A274-4662-86EB-6D18F1008A81}" srcOrd="1" destOrd="0" parTransId="{07F761ED-E16E-4B99-96F6-4B32FEB68685}" sibTransId="{7072C20F-3612-4614-81E8-1BB597A6A619}"/>
    <dgm:cxn modelId="{C47F11CE-EF2B-44F7-8ED8-93F808A22CC9}" type="presOf" srcId="{793FB9BC-DCB4-42DF-918F-1D0540395674}" destId="{E6114335-BDCE-4C63-9591-05892C01A931}" srcOrd="0" destOrd="0" presId="urn:microsoft.com/office/officeart/2005/8/layout/process1"/>
    <dgm:cxn modelId="{DF949DD5-3BB9-421C-B306-92731E8BD6A7}" type="presOf" srcId="{5B674542-E1D4-4BF5-B565-B67E2D82B362}" destId="{4E6F1F09-8F45-455F-9539-3B7AEE0FF7ED}" srcOrd="0" destOrd="0" presId="urn:microsoft.com/office/officeart/2005/8/layout/process1"/>
    <dgm:cxn modelId="{36600ADD-B990-42BF-A0F5-9902945ABF11}" type="presOf" srcId="{59D2DF1B-A28E-4E7A-93E2-EA51D6932505}" destId="{B3EC53B0-F460-49C3-90A9-EE33D2BB5BE3}" srcOrd="1" destOrd="0" presId="urn:microsoft.com/office/officeart/2005/8/layout/process1"/>
    <dgm:cxn modelId="{88606FF2-FE96-4DBA-A681-92647384772F}" type="presOf" srcId="{59D2DF1B-A28E-4E7A-93E2-EA51D6932505}" destId="{68908B83-9116-4123-BB83-90E67054CC46}" srcOrd="0" destOrd="0" presId="urn:microsoft.com/office/officeart/2005/8/layout/process1"/>
    <dgm:cxn modelId="{E8618FF7-8693-48BD-A0C5-09FCDF9C19E2}" type="presParOf" srcId="{4E6F1F09-8F45-455F-9539-3B7AEE0FF7ED}" destId="{BC828977-0809-45B5-A1B3-641306F19B40}" srcOrd="0" destOrd="0" presId="urn:microsoft.com/office/officeart/2005/8/layout/process1"/>
    <dgm:cxn modelId="{CF20E263-AB2D-475A-B72D-B6681917B07E}" type="presParOf" srcId="{4E6F1F09-8F45-455F-9539-3B7AEE0FF7ED}" destId="{9073F57A-0E84-4750-A0FC-6FF4D82FAD12}" srcOrd="1" destOrd="0" presId="urn:microsoft.com/office/officeart/2005/8/layout/process1"/>
    <dgm:cxn modelId="{AD20BE48-F96B-4864-B11E-83F74F2F18F7}" type="presParOf" srcId="{9073F57A-0E84-4750-A0FC-6FF4D82FAD12}" destId="{B7080D82-76FB-407B-BC3D-BC4EC059AF40}" srcOrd="0" destOrd="0" presId="urn:microsoft.com/office/officeart/2005/8/layout/process1"/>
    <dgm:cxn modelId="{0DC542FF-222C-42D0-A094-2E4F8F101729}" type="presParOf" srcId="{4E6F1F09-8F45-455F-9539-3B7AEE0FF7ED}" destId="{1EB9CE48-9BA4-4EB7-BA58-AFF573392532}" srcOrd="2" destOrd="0" presId="urn:microsoft.com/office/officeart/2005/8/layout/process1"/>
    <dgm:cxn modelId="{FE0D4D82-1A94-4965-A9EB-E6118A9D5B3F}" type="presParOf" srcId="{4E6F1F09-8F45-455F-9539-3B7AEE0FF7ED}" destId="{110E4363-7587-467C-BA08-4F3C134D62DF}" srcOrd="3" destOrd="0" presId="urn:microsoft.com/office/officeart/2005/8/layout/process1"/>
    <dgm:cxn modelId="{397255C8-9F41-4CF9-8532-7FDF6208DB42}" type="presParOf" srcId="{110E4363-7587-467C-BA08-4F3C134D62DF}" destId="{21DF8845-25E1-4A1C-BBD6-34D4CD037216}" srcOrd="0" destOrd="0" presId="urn:microsoft.com/office/officeart/2005/8/layout/process1"/>
    <dgm:cxn modelId="{FF485EB7-0D9B-44C2-8124-99CE1D2319E0}" type="presParOf" srcId="{4E6F1F09-8F45-455F-9539-3B7AEE0FF7ED}" destId="{E6114335-BDCE-4C63-9591-05892C01A931}" srcOrd="4" destOrd="0" presId="urn:microsoft.com/office/officeart/2005/8/layout/process1"/>
    <dgm:cxn modelId="{90AF5927-46B8-4126-8AF0-3CB512CC6E60}" type="presParOf" srcId="{4E6F1F09-8F45-455F-9539-3B7AEE0FF7ED}" destId="{68908B83-9116-4123-BB83-90E67054CC46}" srcOrd="5" destOrd="0" presId="urn:microsoft.com/office/officeart/2005/8/layout/process1"/>
    <dgm:cxn modelId="{DD765A31-1BCC-4C66-8D87-9915F44C1E3F}" type="presParOf" srcId="{68908B83-9116-4123-BB83-90E67054CC46}" destId="{B3EC53B0-F460-49C3-90A9-EE33D2BB5BE3}" srcOrd="0" destOrd="0" presId="urn:microsoft.com/office/officeart/2005/8/layout/process1"/>
    <dgm:cxn modelId="{00A3F2B2-D207-4A7C-9252-4ECF487BB1F6}" type="presParOf" srcId="{4E6F1F09-8F45-455F-9539-3B7AEE0FF7ED}" destId="{F39E6B25-904C-4EDE-8BD9-C12FC7CADFAA}"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828977-0809-45B5-A1B3-641306F19B40}">
      <dsp:nvSpPr>
        <dsp:cNvPr id="0" name=""/>
        <dsp:cNvSpPr/>
      </dsp:nvSpPr>
      <dsp:spPr>
        <a:xfrm>
          <a:off x="4520" y="489661"/>
          <a:ext cx="1976530" cy="14082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Train a classifier on the source data</a:t>
          </a:r>
          <a:endParaRPr lang="zh-CN" altLang="en-US" sz="1800" kern="1200" dirty="0"/>
        </a:p>
      </dsp:txBody>
      <dsp:txXfrm>
        <a:off x="45767" y="530908"/>
        <a:ext cx="1894036" cy="1325783"/>
      </dsp:txXfrm>
    </dsp:sp>
    <dsp:sp modelId="{9073F57A-0E84-4750-A0FC-6FF4D82FAD12}">
      <dsp:nvSpPr>
        <dsp:cNvPr id="0" name=""/>
        <dsp:cNvSpPr/>
      </dsp:nvSpPr>
      <dsp:spPr>
        <a:xfrm>
          <a:off x="2178703" y="948710"/>
          <a:ext cx="419024" cy="49017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a:off x="2178703" y="1046746"/>
        <a:ext cx="293317" cy="294107"/>
      </dsp:txXfrm>
    </dsp:sp>
    <dsp:sp modelId="{1EB9CE48-9BA4-4EB7-BA58-AFF573392532}">
      <dsp:nvSpPr>
        <dsp:cNvPr id="0" name=""/>
        <dsp:cNvSpPr/>
      </dsp:nvSpPr>
      <dsp:spPr>
        <a:xfrm>
          <a:off x="2771662" y="489661"/>
          <a:ext cx="1976530" cy="14082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kern="1200" dirty="0"/>
            <a:t>Estimate weights using BBSE/MLLS</a:t>
          </a:r>
          <a:endParaRPr lang="zh-CN" altLang="en-US" sz="1800" kern="1200" dirty="0"/>
        </a:p>
      </dsp:txBody>
      <dsp:txXfrm>
        <a:off x="2812909" y="530908"/>
        <a:ext cx="1894036" cy="1325783"/>
      </dsp:txXfrm>
    </dsp:sp>
    <dsp:sp modelId="{110E4363-7587-467C-BA08-4F3C134D62DF}">
      <dsp:nvSpPr>
        <dsp:cNvPr id="0" name=""/>
        <dsp:cNvSpPr/>
      </dsp:nvSpPr>
      <dsp:spPr>
        <a:xfrm>
          <a:off x="4945845" y="948710"/>
          <a:ext cx="419024" cy="49017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a:off x="4945845" y="1046746"/>
        <a:ext cx="293317" cy="294107"/>
      </dsp:txXfrm>
    </dsp:sp>
    <dsp:sp modelId="{E6114335-BDCE-4C63-9591-05892C01A931}">
      <dsp:nvSpPr>
        <dsp:cNvPr id="0" name=""/>
        <dsp:cNvSpPr/>
      </dsp:nvSpPr>
      <dsp:spPr>
        <a:xfrm>
          <a:off x="5538805" y="489661"/>
          <a:ext cx="1976530" cy="14082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kern="1200" dirty="0"/>
            <a:t>Resample the source data with replacement using estimated weights</a:t>
          </a:r>
          <a:endParaRPr lang="zh-CN" altLang="en-US" sz="1800" kern="1200" dirty="0"/>
        </a:p>
      </dsp:txBody>
      <dsp:txXfrm>
        <a:off x="5580052" y="530908"/>
        <a:ext cx="1894036" cy="1325783"/>
      </dsp:txXfrm>
    </dsp:sp>
    <dsp:sp modelId="{68908B83-9116-4123-BB83-90E67054CC46}">
      <dsp:nvSpPr>
        <dsp:cNvPr id="0" name=""/>
        <dsp:cNvSpPr/>
      </dsp:nvSpPr>
      <dsp:spPr>
        <a:xfrm>
          <a:off x="7712988" y="948710"/>
          <a:ext cx="419024" cy="49017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a:off x="7712988" y="1046746"/>
        <a:ext cx="293317" cy="294107"/>
      </dsp:txXfrm>
    </dsp:sp>
    <dsp:sp modelId="{F39E6B25-904C-4EDE-8BD9-C12FC7CADFAA}">
      <dsp:nvSpPr>
        <dsp:cNvPr id="0" name=""/>
        <dsp:cNvSpPr/>
      </dsp:nvSpPr>
      <dsp:spPr>
        <a:xfrm>
          <a:off x="8305947" y="489661"/>
          <a:ext cx="1976530" cy="14082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kern="1200" dirty="0"/>
            <a:t>Compute </a:t>
          </a:r>
          <a:r>
            <a:rPr lang="en-US" sz="1800" kern="1200" dirty="0"/>
            <a:t>Wasserstein Distance </a:t>
          </a:r>
          <a14:m xmlns:a14="http://schemas.microsoft.com/office/drawing/2010/main">
            <m:oMath xmlns:m="http://schemas.openxmlformats.org/officeDocument/2006/math">
              <m:sSub>
                <m:sSubPr>
                  <m:ctrlPr>
                    <a:rPr lang="en-US" altLang="zh-CN" sz="1800" i="1" kern="1200" dirty="0" smtClean="0">
                      <a:latin typeface="Cambria Math" panose="02040503050406030204" pitchFamily="18" charset="0"/>
                      <a:cs typeface="Times New Roman" panose="02020603050405020304" pitchFamily="18" charset="0"/>
                    </a:rPr>
                  </m:ctrlPr>
                </m:sSubPr>
                <m:e>
                  <m:r>
                    <a:rPr lang="en-US" altLang="zh-CN" sz="1800" kern="1200" dirty="0">
                      <a:latin typeface="Cambria Math" panose="02040503050406030204" pitchFamily="18" charset="0"/>
                      <a:cs typeface="Times New Roman" panose="02020603050405020304" pitchFamily="18" charset="0"/>
                    </a:rPr>
                    <m:t>𝑊</m:t>
                  </m:r>
                </m:e>
                <m:sub>
                  <m:r>
                    <a:rPr lang="en-US" altLang="zh-CN" sz="1800" kern="1200" dirty="0">
                      <a:latin typeface="Cambria Math" panose="02040503050406030204" pitchFamily="18" charset="0"/>
                      <a:cs typeface="Times New Roman" panose="02020603050405020304" pitchFamily="18" charset="0"/>
                    </a:rPr>
                    <m:t>1</m:t>
                  </m:r>
                </m:sub>
              </m:sSub>
              <m:d>
                <m:dPr>
                  <m:ctrlPr>
                    <a:rPr lang="en-US" altLang="zh-CN" sz="1800" i="1" kern="1200" dirty="0">
                      <a:latin typeface="Cambria Math" panose="02040503050406030204" pitchFamily="18" charset="0"/>
                      <a:cs typeface="Times New Roman" panose="02020603050405020304" pitchFamily="18" charset="0"/>
                    </a:rPr>
                  </m:ctrlPr>
                </m:dPr>
                <m:e>
                  <m:sSup>
                    <m:sSupPr>
                      <m:ctrlPr>
                        <a:rPr lang="en-US" altLang="zh-CN" sz="1800" i="1" kern="1200" dirty="0">
                          <a:latin typeface="Cambria Math" panose="02040503050406030204" pitchFamily="18" charset="0"/>
                          <a:cs typeface="Times New Roman" panose="02020603050405020304" pitchFamily="18" charset="0"/>
                        </a:rPr>
                      </m:ctrlPr>
                    </m:sSupPr>
                    <m:e>
                      <m:r>
                        <a:rPr lang="en-US" altLang="zh-CN" sz="1800" kern="1200" dirty="0">
                          <a:latin typeface="Cambria Math" panose="02040503050406030204" pitchFamily="18" charset="0"/>
                          <a:cs typeface="Times New Roman" panose="02020603050405020304" pitchFamily="18" charset="0"/>
                        </a:rPr>
                        <m:t>𝑝</m:t>
                      </m:r>
                    </m:e>
                    <m:sup>
                      <m:r>
                        <a:rPr lang="en-US" altLang="zh-CN" sz="1800" kern="1200" dirty="0">
                          <a:latin typeface="Cambria Math" panose="02040503050406030204" pitchFamily="18" charset="0"/>
                          <a:cs typeface="Times New Roman" panose="02020603050405020304" pitchFamily="18" charset="0"/>
                        </a:rPr>
                        <m:t>∗</m:t>
                      </m:r>
                    </m:sup>
                  </m:sSup>
                  <m:d>
                    <m:dPr>
                      <m:ctrlPr>
                        <a:rPr lang="en-US" altLang="zh-CN" sz="1800" i="1" kern="1200" dirty="0">
                          <a:latin typeface="Cambria Math" panose="02040503050406030204" pitchFamily="18" charset="0"/>
                          <a:cs typeface="Times New Roman" panose="02020603050405020304" pitchFamily="18" charset="0"/>
                        </a:rPr>
                      </m:ctrlPr>
                    </m:dPr>
                    <m:e>
                      <m:acc>
                        <m:accPr>
                          <m:chr m:val="̂"/>
                          <m:ctrlPr>
                            <a:rPr lang="en-US" altLang="zh-CN" sz="1800" i="1" kern="1200" dirty="0">
                              <a:latin typeface="Cambria Math" panose="02040503050406030204" pitchFamily="18" charset="0"/>
                              <a:cs typeface="Times New Roman" panose="02020603050405020304" pitchFamily="18" charset="0"/>
                            </a:rPr>
                          </m:ctrlPr>
                        </m:accPr>
                        <m:e>
                          <m:r>
                            <a:rPr lang="en-US" altLang="zh-CN" sz="1800" kern="1200" dirty="0">
                              <a:latin typeface="Cambria Math" panose="02040503050406030204" pitchFamily="18" charset="0"/>
                              <a:cs typeface="Times New Roman" panose="02020603050405020304" pitchFamily="18" charset="0"/>
                            </a:rPr>
                            <m:t>𝑦</m:t>
                          </m:r>
                        </m:e>
                      </m:acc>
                    </m:e>
                  </m:d>
                  <m:r>
                    <a:rPr lang="en-US" altLang="zh-CN" sz="1800" kern="1200" dirty="0">
                      <a:latin typeface="Cambria Math" panose="02040503050406030204" pitchFamily="18" charset="0"/>
                      <a:cs typeface="Times New Roman" panose="02020603050405020304" pitchFamily="18" charset="0"/>
                    </a:rPr>
                    <m:t>,</m:t>
                  </m:r>
                  <m:r>
                    <a:rPr lang="en-US" altLang="zh-CN" sz="1800" kern="1200" dirty="0">
                      <a:latin typeface="Cambria Math" panose="02040503050406030204" pitchFamily="18" charset="0"/>
                      <a:cs typeface="Times New Roman" panose="02020603050405020304" pitchFamily="18" charset="0"/>
                    </a:rPr>
                    <m:t>𝑞</m:t>
                  </m:r>
                  <m:d>
                    <m:dPr>
                      <m:ctrlPr>
                        <a:rPr lang="en-US" altLang="zh-CN" sz="1800" i="1" kern="1200" dirty="0">
                          <a:latin typeface="Cambria Math" panose="02040503050406030204" pitchFamily="18" charset="0"/>
                          <a:cs typeface="Times New Roman" panose="02020603050405020304" pitchFamily="18" charset="0"/>
                        </a:rPr>
                      </m:ctrlPr>
                    </m:dPr>
                    <m:e>
                      <m:acc>
                        <m:accPr>
                          <m:chr m:val="̂"/>
                          <m:ctrlPr>
                            <a:rPr lang="en-US" altLang="zh-CN" sz="1800" i="1" kern="1200" dirty="0">
                              <a:latin typeface="Cambria Math" panose="02040503050406030204" pitchFamily="18" charset="0"/>
                              <a:cs typeface="Times New Roman" panose="02020603050405020304" pitchFamily="18" charset="0"/>
                            </a:rPr>
                          </m:ctrlPr>
                        </m:accPr>
                        <m:e>
                          <m:r>
                            <a:rPr lang="en-US" altLang="zh-CN" sz="1800" kern="1200" dirty="0">
                              <a:latin typeface="Cambria Math" panose="02040503050406030204" pitchFamily="18" charset="0"/>
                              <a:cs typeface="Times New Roman" panose="02020603050405020304" pitchFamily="18" charset="0"/>
                            </a:rPr>
                            <m:t>𝑦</m:t>
                          </m:r>
                        </m:e>
                      </m:acc>
                    </m:e>
                  </m:d>
                </m:e>
              </m:d>
            </m:oMath>
          </a14:m>
          <a:endParaRPr lang="zh-CN" altLang="en-US" sz="1800" kern="1200" dirty="0"/>
        </a:p>
      </dsp:txBody>
      <dsp:txXfrm>
        <a:off x="8347194" y="530908"/>
        <a:ext cx="1894036" cy="1325783"/>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48" name="Google Shape;4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55" name="Google Shape;5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d44f2775a5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When Data shift occurs, what can we do with it? We need some assumptions. There are some existing assumptions about that. </a:t>
            </a:r>
            <a:endParaRPr dirty="0"/>
          </a:p>
        </p:txBody>
      </p:sp>
      <p:sp>
        <p:nvSpPr>
          <p:cNvPr id="61" name="Google Shape;61;g3d44f2775a5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d44f2775a5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Works had done for covariate shift. Simulated example, imagine we simulated a data. Talk more about what does the calibration plot mean here. On points</a:t>
            </a:r>
            <a:endParaRPr dirty="0"/>
          </a:p>
        </p:txBody>
      </p:sp>
      <p:sp>
        <p:nvSpPr>
          <p:cNvPr id="73" name="Google Shape;73;g3d44f2775a5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d44f2775a5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citations and footnote here. Make clear method in the literature. </a:t>
            </a:r>
            <a:endParaRPr/>
          </a:p>
        </p:txBody>
      </p:sp>
      <p:sp>
        <p:nvSpPr>
          <p:cNvPr id="82" name="Google Shape;82;g3d44f2775a5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376CDC00-9439-C265-54B2-32BBD1A52233}"/>
            </a:ext>
          </a:extLst>
        </p:cNvPr>
        <p:cNvGrpSpPr/>
        <p:nvPr/>
      </p:nvGrpSpPr>
      <p:grpSpPr>
        <a:xfrm>
          <a:off x="0" y="0"/>
          <a:ext cx="0" cy="0"/>
          <a:chOff x="0" y="0"/>
          <a:chExt cx="0" cy="0"/>
        </a:xfrm>
      </p:grpSpPr>
      <p:sp>
        <p:nvSpPr>
          <p:cNvPr id="87" name="Google Shape;87;g3d44f2775a5_0_36:notes">
            <a:extLst>
              <a:ext uri="{FF2B5EF4-FFF2-40B4-BE49-F238E27FC236}">
                <a16:creationId xmlns:a16="http://schemas.microsoft.com/office/drawing/2014/main" id="{6F1A506A-AAAC-BB6D-A462-917BCC817AF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Add</a:t>
            </a:r>
            <a:r>
              <a:rPr lang="zh-CN" altLang="en-US" dirty="0"/>
              <a:t> </a:t>
            </a:r>
            <a:r>
              <a:rPr lang="en-US" altLang="zh-CN" dirty="0"/>
              <a:t>w</a:t>
            </a:r>
            <a:r>
              <a:rPr lang="zh-CN" altLang="en-US" dirty="0"/>
              <a:t> </a:t>
            </a:r>
            <a:r>
              <a:rPr lang="en-US" altLang="zh-CN" dirty="0"/>
              <a:t>definitions and skip the proof of math here. </a:t>
            </a:r>
            <a:endParaRPr dirty="0"/>
          </a:p>
        </p:txBody>
      </p:sp>
      <p:sp>
        <p:nvSpPr>
          <p:cNvPr id="88" name="Google Shape;88;g3d44f2775a5_0_36:notes">
            <a:extLst>
              <a:ext uri="{FF2B5EF4-FFF2-40B4-BE49-F238E27FC236}">
                <a16:creationId xmlns:a16="http://schemas.microsoft.com/office/drawing/2014/main" id="{C3D5BE1E-F196-B2ED-6FAC-0D80D6DD65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723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d5515e180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d5515e1802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Talk about the weights, also the order of the functions</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d44f2775a5_0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2 more foot notes: </a:t>
            </a:r>
            <a:r>
              <a:rPr lang="en-US" dirty="0" err="1"/>
              <a:t>Orinigal</a:t>
            </a:r>
            <a:r>
              <a:rPr lang="en-US" dirty="0"/>
              <a:t> EM paper in MLLS case; General EM algorithm paper.  </a:t>
            </a:r>
            <a:endParaRPr dirty="0"/>
          </a:p>
        </p:txBody>
      </p:sp>
      <p:sp>
        <p:nvSpPr>
          <p:cNvPr id="111" name="Google Shape;111;g3d44f2775a5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d44f2775a5_0_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Order of animation</a:t>
            </a:r>
            <a:endParaRPr dirty="0"/>
          </a:p>
        </p:txBody>
      </p:sp>
      <p:sp>
        <p:nvSpPr>
          <p:cNvPr id="195" name="Google Shape;195;g3d44f2775a5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d44f2775a5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But the correction equation on the left top, saying by bayes.</a:t>
            </a:r>
          </a:p>
          <a:p>
            <a:pPr marL="0" lvl="0" indent="0" algn="l" rtl="0">
              <a:lnSpc>
                <a:spcPct val="100000"/>
              </a:lnSpc>
              <a:spcBef>
                <a:spcPts val="0"/>
              </a:spcBef>
              <a:spcAft>
                <a:spcPts val="0"/>
              </a:spcAft>
              <a:buSzPts val="1100"/>
              <a:buNone/>
            </a:pPr>
            <a:endParaRPr dirty="0"/>
          </a:p>
        </p:txBody>
      </p:sp>
      <p:sp>
        <p:nvSpPr>
          <p:cNvPr id="136" name="Google Shape;136;g3d44f2775a5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d44f2775a5_0_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Labels are small, and consistent with source and target</a:t>
            </a:r>
            <a:endParaRPr dirty="0"/>
          </a:p>
        </p:txBody>
      </p:sp>
      <p:sp>
        <p:nvSpPr>
          <p:cNvPr id="145" name="Google Shape;145;g3d44f2775a5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12724F96-81B3-75B3-BC83-19A277CF913B}"/>
            </a:ext>
          </a:extLst>
        </p:cNvPr>
        <p:cNvGrpSpPr/>
        <p:nvPr/>
      </p:nvGrpSpPr>
      <p:grpSpPr>
        <a:xfrm>
          <a:off x="0" y="0"/>
          <a:ext cx="0" cy="0"/>
          <a:chOff x="0" y="0"/>
          <a:chExt cx="0" cy="0"/>
        </a:xfrm>
      </p:grpSpPr>
      <p:sp>
        <p:nvSpPr>
          <p:cNvPr id="144" name="Google Shape;144;g3d44f2775a5_0_66:notes">
            <a:extLst>
              <a:ext uri="{FF2B5EF4-FFF2-40B4-BE49-F238E27FC236}">
                <a16:creationId xmlns:a16="http://schemas.microsoft.com/office/drawing/2014/main" id="{9DCA6D69-F4F1-6AA0-E14A-38C9E6A79F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g3d44f2775a5_0_66:notes">
            <a:extLst>
              <a:ext uri="{FF2B5EF4-FFF2-40B4-BE49-F238E27FC236}">
                <a16:creationId xmlns:a16="http://schemas.microsoft.com/office/drawing/2014/main" id="{FDA8D9F9-12C5-E33A-BBC0-47E9B1569A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99842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d44f2775a5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d44f2775a5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Introduce wassertein distance, heat maps and density plots; introduce marginal stable, and show how wassertein distance can not reflect that in 2D</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d44f2775a5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d44f2775a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Resampling process; extra slides for that. 1</a:t>
            </a:r>
            <a:r>
              <a:rPr lang="en-US" baseline="30000" dirty="0"/>
              <a:t>st</a:t>
            </a:r>
            <a:r>
              <a:rPr lang="en-US" dirty="0"/>
              <a:t> one talk about measuring distance between distribution of predicted scores, with the definition of </a:t>
            </a:r>
            <a:r>
              <a:rPr lang="en-US" dirty="0" err="1"/>
              <a:t>wassertein</a:t>
            </a:r>
            <a:r>
              <a:rPr lang="en-US" dirty="0"/>
              <a:t> distance and how we can estimate it. Then the plots, the distance for stable and unstable features. Here we do not have true labels in real life, so how can we use the resampling procedures to do that? 2</a:t>
            </a:r>
            <a:r>
              <a:rPr lang="en-US" baseline="30000" dirty="0"/>
              <a:t>nd</a:t>
            </a:r>
            <a:r>
              <a:rPr lang="en-US" dirty="0"/>
              <a:t> slide resampling process.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d44f2775a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d44f2775a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158750" indent="0">
              <a:buNone/>
            </a:pPr>
            <a:endParaRPr lang="zh-CN" altLang="en-US" dirty="0"/>
          </a:p>
        </p:txBody>
      </p:sp>
    </p:spTree>
    <p:extLst>
      <p:ext uri="{BB962C8B-B14F-4D97-AF65-F5344CB8AC3E}">
        <p14:creationId xmlns:p14="http://schemas.microsoft.com/office/powerpoint/2010/main" val="37894413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d44f2775a5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d44f2775a5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NLL is on source.</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d44f2775a5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d44f2775a5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d44f2775a5_0_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ltLang="zh-CN" dirty="0"/>
              <a:t>Potential Questions</a:t>
            </a:r>
          </a:p>
          <a:p>
            <a:pPr marL="0" lvl="0" indent="0" algn="l" rtl="0">
              <a:lnSpc>
                <a:spcPct val="100000"/>
              </a:lnSpc>
              <a:spcBef>
                <a:spcPts val="0"/>
              </a:spcBef>
              <a:spcAft>
                <a:spcPts val="0"/>
              </a:spcAft>
              <a:buSzPts val="1100"/>
              <a:buNone/>
            </a:pPr>
            <a:r>
              <a:rPr lang="en-US" dirty="0"/>
              <a:t>1. Why we measure the WD for the prediction not just the features</a:t>
            </a:r>
          </a:p>
          <a:p>
            <a:pPr marL="0" lvl="0" indent="0" algn="l" rtl="0">
              <a:lnSpc>
                <a:spcPct val="100000"/>
              </a:lnSpc>
              <a:spcBef>
                <a:spcPts val="0"/>
              </a:spcBef>
              <a:spcAft>
                <a:spcPts val="0"/>
              </a:spcAft>
              <a:buSzPts val="1100"/>
              <a:buNone/>
            </a:pPr>
            <a:r>
              <a:rPr lang="en-US" dirty="0"/>
              <a:t>1 D easy, harder in muti dimension; we will miss the marginally stable ones</a:t>
            </a:r>
          </a:p>
          <a:p>
            <a:pPr marL="0" lvl="0" indent="0" algn="l" rtl="0">
              <a:lnSpc>
                <a:spcPct val="100000"/>
              </a:lnSpc>
              <a:spcBef>
                <a:spcPts val="0"/>
              </a:spcBef>
              <a:spcAft>
                <a:spcPts val="0"/>
              </a:spcAft>
              <a:buSzPts val="1100"/>
              <a:buNone/>
            </a:pPr>
            <a:r>
              <a:rPr lang="en-US" dirty="0"/>
              <a:t>2. Why WD?</a:t>
            </a:r>
          </a:p>
          <a:p>
            <a:pPr marL="0" lvl="0" indent="0" algn="l" rtl="0">
              <a:lnSpc>
                <a:spcPct val="100000"/>
              </a:lnSpc>
              <a:spcBef>
                <a:spcPts val="0"/>
              </a:spcBef>
              <a:spcAft>
                <a:spcPts val="0"/>
              </a:spcAft>
              <a:buSzPts val="1100"/>
              <a:buNone/>
            </a:pPr>
            <a:r>
              <a:rPr lang="en-US" dirty="0"/>
              <a:t>Easy on 1D; Used before in literature; Average instead of the worst case(KL Divergence)</a:t>
            </a:r>
          </a:p>
          <a:p>
            <a:pPr marL="0" lvl="0" indent="0" algn="l" rtl="0">
              <a:lnSpc>
                <a:spcPct val="100000"/>
              </a:lnSpc>
              <a:spcBef>
                <a:spcPts val="0"/>
              </a:spcBef>
              <a:spcAft>
                <a:spcPts val="0"/>
              </a:spcAft>
              <a:buSzPts val="1100"/>
              <a:buNone/>
            </a:pPr>
            <a:r>
              <a:rPr lang="en-US" dirty="0"/>
              <a:t>3. Why use the line chart?</a:t>
            </a:r>
          </a:p>
          <a:p>
            <a:pPr marL="0" lvl="0" indent="0" algn="l" rtl="0">
              <a:lnSpc>
                <a:spcPct val="100000"/>
              </a:lnSpc>
              <a:spcBef>
                <a:spcPts val="0"/>
              </a:spcBef>
              <a:spcAft>
                <a:spcPts val="0"/>
              </a:spcAft>
              <a:buSzPts val="1100"/>
              <a:buNone/>
            </a:pPr>
            <a:r>
              <a:rPr lang="en-US" dirty="0"/>
              <a:t>Better visualization</a:t>
            </a:r>
          </a:p>
          <a:p>
            <a:pPr marL="0" lvl="0" indent="0" algn="l" rtl="0">
              <a:lnSpc>
                <a:spcPct val="100000"/>
              </a:lnSpc>
              <a:spcBef>
                <a:spcPts val="0"/>
              </a:spcBef>
              <a:spcAft>
                <a:spcPts val="0"/>
              </a:spcAft>
              <a:buSzPts val="1100"/>
              <a:buNone/>
            </a:pPr>
            <a:r>
              <a:rPr lang="en-US" dirty="0"/>
              <a:t>4. Why we care about calibration not predictions alone</a:t>
            </a:r>
          </a:p>
          <a:p>
            <a:pPr marL="0" lvl="0" indent="0" algn="l" rtl="0">
              <a:lnSpc>
                <a:spcPct val="100000"/>
              </a:lnSpc>
              <a:spcBef>
                <a:spcPts val="0"/>
              </a:spcBef>
              <a:spcAft>
                <a:spcPts val="0"/>
              </a:spcAft>
              <a:buSzPts val="1100"/>
              <a:buNone/>
            </a:pPr>
            <a:r>
              <a:rPr lang="en-US" dirty="0"/>
              <a:t>We don’t know the true, so predictions</a:t>
            </a:r>
            <a:endParaRPr dirty="0"/>
          </a:p>
        </p:txBody>
      </p:sp>
      <p:sp>
        <p:nvSpPr>
          <p:cNvPr id="190" name="Google Shape;190;g3d44f2775a5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d44f2775a5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focus on numerical examples</a:t>
            </a:r>
            <a:endParaRPr/>
          </a:p>
        </p:txBody>
      </p:sp>
      <p:sp>
        <p:nvSpPr>
          <p:cNvPr id="88" name="Google Shape;88;g3d44f2775a5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d44f2775a5_0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17" name="Google Shape;117;g3d44f2775a5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d44f2775a5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Bulletin by bulletin</a:t>
            </a:r>
            <a:endParaRPr dirty="0"/>
          </a:p>
        </p:txBody>
      </p:sp>
      <p:sp>
        <p:nvSpPr>
          <p:cNvPr id="123" name="Google Shape;123;g3d44f2775a5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Main Title">
  <p:cSld name="1_Main Title">
    <p:spTree>
      <p:nvGrpSpPr>
        <p:cNvPr id="1" name="Shape 7"/>
        <p:cNvGrpSpPr/>
        <p:nvPr/>
      </p:nvGrpSpPr>
      <p:grpSpPr>
        <a:xfrm>
          <a:off x="0" y="0"/>
          <a:ext cx="0" cy="0"/>
          <a:chOff x="0" y="0"/>
          <a:chExt cx="0" cy="0"/>
        </a:xfrm>
      </p:grpSpPr>
      <p:pic>
        <p:nvPicPr>
          <p:cNvPr id="8" name="Google Shape;8;p4"/>
          <p:cNvPicPr preferRelativeResize="0"/>
          <p:nvPr/>
        </p:nvPicPr>
        <p:blipFill rotWithShape="1">
          <a:blip r:embed="rId2">
            <a:alphaModFix/>
          </a:blip>
          <a:srcRect/>
          <a:stretch/>
        </p:blipFill>
        <p:spPr>
          <a:xfrm>
            <a:off x="4670257" y="6394784"/>
            <a:ext cx="2851484" cy="213861"/>
          </a:xfrm>
          <a:prstGeom prst="rect">
            <a:avLst/>
          </a:prstGeom>
          <a:noFill/>
          <a:ln>
            <a:noFill/>
          </a:ln>
        </p:spPr>
      </p:pic>
      <p:cxnSp>
        <p:nvCxnSpPr>
          <p:cNvPr id="9" name="Google Shape;9;p4"/>
          <p:cNvCxnSpPr/>
          <p:nvPr/>
        </p:nvCxnSpPr>
        <p:spPr>
          <a:xfrm>
            <a:off x="4146884" y="3777915"/>
            <a:ext cx="3898232" cy="0"/>
          </a:xfrm>
          <a:prstGeom prst="straightConnector1">
            <a:avLst/>
          </a:prstGeom>
          <a:noFill/>
          <a:ln w="19050" cap="flat" cmpd="sng">
            <a:solidFill>
              <a:srgbClr val="93773A"/>
            </a:solidFill>
            <a:prstDash val="solid"/>
            <a:miter lim="800000"/>
            <a:headEnd type="none" w="sm" len="sm"/>
            <a:tailEnd type="none" w="sm" len="sm"/>
          </a:ln>
        </p:spPr>
      </p:cxnSp>
      <p:sp>
        <p:nvSpPr>
          <p:cNvPr id="10" name="Google Shape;10;p4"/>
          <p:cNvSpPr txBox="1">
            <a:spLocks noGrp="1"/>
          </p:cNvSpPr>
          <p:nvPr>
            <p:ph type="title"/>
          </p:nvPr>
        </p:nvSpPr>
        <p:spPr>
          <a:xfrm>
            <a:off x="3086099" y="467139"/>
            <a:ext cx="6019800" cy="2872806"/>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rgbClr val="93773A"/>
              </a:buClr>
              <a:buSzPts val="6000"/>
              <a:buFont typeface="Calibri"/>
              <a:buNone/>
              <a:defRPr sz="6000" b="0" i="0" u="none" strike="noStrike" cap="none">
                <a:solidFill>
                  <a:srgbClr val="93773A"/>
                </a:solidFill>
                <a:latin typeface="Cormorant"/>
                <a:ea typeface="Cormorant"/>
                <a:cs typeface="Cormorant"/>
                <a:sym typeface="Cormoran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2990850" y="4175125"/>
            <a:ext cx="6210300" cy="4064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93773A"/>
              </a:buClr>
              <a:buSzPts val="1600"/>
              <a:buFont typeface="Arial"/>
              <a:buNone/>
              <a:defRPr sz="1600" b="0" i="0" u="none" strike="noStrike" cap="none">
                <a:solidFill>
                  <a:srgbClr val="93773A"/>
                </a:solidFill>
                <a:latin typeface="Nunito Sans"/>
                <a:ea typeface="Nunito Sans"/>
                <a:cs typeface="Nunito Sans"/>
                <a:sym typeface="Nunito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
          <p:cNvSpPr txBox="1">
            <a:spLocks noGrp="1"/>
          </p:cNvSpPr>
          <p:nvPr>
            <p:ph type="body" idx="2"/>
          </p:nvPr>
        </p:nvSpPr>
        <p:spPr>
          <a:xfrm>
            <a:off x="2990850" y="4701279"/>
            <a:ext cx="6210300" cy="37782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93773A"/>
              </a:buClr>
              <a:buSzPts val="1800"/>
              <a:buFont typeface="Arial"/>
              <a:buNone/>
              <a:defRPr sz="1800" b="0" i="1" u="none" strike="noStrike" cap="none">
                <a:solidFill>
                  <a:srgbClr val="93773A"/>
                </a:solidFill>
                <a:latin typeface="Cormorant"/>
                <a:ea typeface="Cormorant"/>
                <a:cs typeface="Cormorant"/>
                <a:sym typeface="Cormoran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6"/>
          <p:cNvSpPr txBox="1">
            <a:spLocks noGrp="1"/>
          </p:cNvSpPr>
          <p:nvPr>
            <p:ph type="title"/>
          </p:nvPr>
        </p:nvSpPr>
        <p:spPr>
          <a:xfrm>
            <a:off x="1461050" y="344764"/>
            <a:ext cx="9892748" cy="87726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8C6D2C"/>
              </a:buClr>
              <a:buSzPts val="1800"/>
              <a:buNone/>
              <a:defRPr>
                <a:solidFill>
                  <a:srgbClr val="8C6D2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6"/>
          <p:cNvSpPr txBox="1">
            <a:spLocks noGrp="1"/>
          </p:cNvSpPr>
          <p:nvPr>
            <p:ph type="body" idx="1"/>
          </p:nvPr>
        </p:nvSpPr>
        <p:spPr>
          <a:xfrm>
            <a:off x="1461050" y="1401417"/>
            <a:ext cx="9892800" cy="4775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2"/>
              </a:buClr>
              <a:buSzPts val="1800"/>
              <a:buChar char="•"/>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Clr>
                <a:schemeClr val="dk2"/>
              </a:buClr>
              <a:buSzPts val="1800"/>
              <a:buChar char="•"/>
              <a:defRPr/>
            </a:lvl4pPr>
            <a:lvl5pPr marL="2286000" lvl="4" indent="-342900" algn="l">
              <a:lnSpc>
                <a:spcPct val="90000"/>
              </a:lnSpc>
              <a:spcBef>
                <a:spcPts val="500"/>
              </a:spcBef>
              <a:spcAft>
                <a:spcPts val="0"/>
              </a:spcAft>
              <a:buClr>
                <a:schemeClr val="dk2"/>
              </a:buClr>
              <a:buSzPts val="1800"/>
              <a:buChar char="•"/>
              <a:defRPr/>
            </a:lvl5pPr>
            <a:lvl6pPr marL="2743200" lvl="5" indent="-342900" algn="l">
              <a:lnSpc>
                <a:spcPct val="90000"/>
              </a:lnSpc>
              <a:spcBef>
                <a:spcPts val="500"/>
              </a:spcBef>
              <a:spcAft>
                <a:spcPts val="0"/>
              </a:spcAft>
              <a:buClr>
                <a:srgbClr val="8C6D2C"/>
              </a:buClr>
              <a:buSzPts val="1800"/>
              <a:buChar char="•"/>
              <a:defRPr>
                <a:solidFill>
                  <a:srgbClr val="8C6D2C"/>
                </a:solidFill>
              </a:defRPr>
            </a:lvl6pPr>
            <a:lvl7pPr marL="3200400" lvl="6" indent="-342900" algn="l">
              <a:lnSpc>
                <a:spcPct val="90000"/>
              </a:lnSpc>
              <a:spcBef>
                <a:spcPts val="500"/>
              </a:spcBef>
              <a:spcAft>
                <a:spcPts val="0"/>
              </a:spcAft>
              <a:buClr>
                <a:srgbClr val="8C6D2C"/>
              </a:buClr>
              <a:buSzPts val="1800"/>
              <a:buChar char="•"/>
              <a:defRPr>
                <a:solidFill>
                  <a:srgbClr val="8C6D2C"/>
                </a:solidFill>
              </a:defRPr>
            </a:lvl7pPr>
            <a:lvl8pPr marL="3657600" lvl="7" indent="-342900" algn="l">
              <a:lnSpc>
                <a:spcPct val="90000"/>
              </a:lnSpc>
              <a:spcBef>
                <a:spcPts val="500"/>
              </a:spcBef>
              <a:spcAft>
                <a:spcPts val="0"/>
              </a:spcAft>
              <a:buClr>
                <a:srgbClr val="8C6D2C"/>
              </a:buClr>
              <a:buSzPts val="1800"/>
              <a:buChar char="•"/>
              <a:defRPr>
                <a:solidFill>
                  <a:srgbClr val="8C6D2C"/>
                </a:solidFill>
              </a:defRPr>
            </a:lvl8pPr>
            <a:lvl9pPr marL="4114800" lvl="8" indent="-342900" algn="l">
              <a:lnSpc>
                <a:spcPct val="90000"/>
              </a:lnSpc>
              <a:spcBef>
                <a:spcPts val="500"/>
              </a:spcBef>
              <a:spcAft>
                <a:spcPts val="0"/>
              </a:spcAft>
              <a:buClr>
                <a:srgbClr val="8C6D2C"/>
              </a:buClr>
              <a:buSzPts val="1800"/>
              <a:buChar char="•"/>
              <a:defRPr>
                <a:solidFill>
                  <a:srgbClr val="8C6D2C"/>
                </a:solidFill>
              </a:defRPr>
            </a:lvl9pPr>
          </a:lstStyle>
          <a:p>
            <a:endParaRPr/>
          </a:p>
        </p:txBody>
      </p:sp>
      <p:sp>
        <p:nvSpPr>
          <p:cNvPr id="22" name="Google Shape;22;p6"/>
          <p:cNvSpPr txBox="1">
            <a:spLocks noGrp="1"/>
          </p:cNvSpPr>
          <p:nvPr>
            <p:ph type="sldNum" idx="12"/>
          </p:nvPr>
        </p:nvSpPr>
        <p:spPr>
          <a:xfrm>
            <a:off x="9236575"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9"/>
          <p:cNvSpPr txBox="1">
            <a:spLocks noGrp="1"/>
          </p:cNvSpPr>
          <p:nvPr>
            <p:ph type="title"/>
          </p:nvPr>
        </p:nvSpPr>
        <p:spPr>
          <a:xfrm>
            <a:off x="1461050" y="344764"/>
            <a:ext cx="9892748" cy="87726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body" idx="1"/>
          </p:nvPr>
        </p:nvSpPr>
        <p:spPr>
          <a:xfrm>
            <a:off x="1477317" y="1825625"/>
            <a:ext cx="4913209"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2"/>
              </a:buClr>
              <a:buSzPts val="1800"/>
              <a:buChar char="•"/>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Clr>
                <a:schemeClr val="dk2"/>
              </a:buClr>
              <a:buSzPts val="1800"/>
              <a:buChar char="•"/>
              <a:defRPr/>
            </a:lvl4pPr>
            <a:lvl5pPr marL="2286000" lvl="4" indent="-342900" algn="l">
              <a:lnSpc>
                <a:spcPct val="90000"/>
              </a:lnSpc>
              <a:spcBef>
                <a:spcPts val="500"/>
              </a:spcBef>
              <a:spcAft>
                <a:spcPts val="0"/>
              </a:spcAft>
              <a:buClr>
                <a:schemeClr val="dk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9"/>
          <p:cNvSpPr txBox="1">
            <a:spLocks noGrp="1"/>
          </p:cNvSpPr>
          <p:nvPr>
            <p:ph type="body" idx="2"/>
          </p:nvPr>
        </p:nvSpPr>
        <p:spPr>
          <a:xfrm>
            <a:off x="6678202" y="1825625"/>
            <a:ext cx="4675598"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2"/>
              </a:buClr>
              <a:buSzPts val="1800"/>
              <a:buChar char="•"/>
              <a:defRPr/>
            </a:lvl1pPr>
            <a:lvl2pPr marL="914400" lvl="1" indent="-342900" algn="l">
              <a:lnSpc>
                <a:spcPct val="90000"/>
              </a:lnSpc>
              <a:spcBef>
                <a:spcPts val="500"/>
              </a:spcBef>
              <a:spcAft>
                <a:spcPts val="0"/>
              </a:spcAft>
              <a:buClr>
                <a:schemeClr val="dk2"/>
              </a:buClr>
              <a:buSzPts val="1800"/>
              <a:buChar char="•"/>
              <a:defRPr/>
            </a:lvl2pPr>
            <a:lvl3pPr marL="1371600" lvl="2" indent="-342900" algn="l">
              <a:lnSpc>
                <a:spcPct val="90000"/>
              </a:lnSpc>
              <a:spcBef>
                <a:spcPts val="500"/>
              </a:spcBef>
              <a:spcAft>
                <a:spcPts val="0"/>
              </a:spcAft>
              <a:buClr>
                <a:schemeClr val="dk2"/>
              </a:buClr>
              <a:buSzPts val="1800"/>
              <a:buChar char="•"/>
              <a:defRPr/>
            </a:lvl3pPr>
            <a:lvl4pPr marL="1828800" lvl="3" indent="-342900" algn="l">
              <a:lnSpc>
                <a:spcPct val="90000"/>
              </a:lnSpc>
              <a:spcBef>
                <a:spcPts val="500"/>
              </a:spcBef>
              <a:spcAft>
                <a:spcPts val="0"/>
              </a:spcAft>
              <a:buClr>
                <a:schemeClr val="dk2"/>
              </a:buClr>
              <a:buSzPts val="1800"/>
              <a:buChar char="•"/>
              <a:defRPr/>
            </a:lvl4pPr>
            <a:lvl5pPr marL="2286000" lvl="4" indent="-342900" algn="l">
              <a:lnSpc>
                <a:spcPct val="90000"/>
              </a:lnSpc>
              <a:spcBef>
                <a:spcPts val="500"/>
              </a:spcBef>
              <a:spcAft>
                <a:spcPts val="0"/>
              </a:spcAft>
              <a:buClr>
                <a:schemeClr val="dk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9"/>
          <p:cNvSpPr txBox="1">
            <a:spLocks noGrp="1"/>
          </p:cNvSpPr>
          <p:nvPr>
            <p:ph type="dt" idx="10"/>
          </p:nvPr>
        </p:nvSpPr>
        <p:spPr>
          <a:xfrm>
            <a:off x="1461050" y="6356350"/>
            <a:ext cx="212035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 name="Google Shape;3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10"/>
          <p:cNvSpPr txBox="1">
            <a:spLocks noGrp="1"/>
          </p:cNvSpPr>
          <p:nvPr>
            <p:ph type="title"/>
          </p:nvPr>
        </p:nvSpPr>
        <p:spPr>
          <a:xfrm>
            <a:off x="1461050" y="344764"/>
            <a:ext cx="9892748" cy="87726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dt" idx="10"/>
          </p:nvPr>
        </p:nvSpPr>
        <p:spPr>
          <a:xfrm>
            <a:off x="1461050" y="6356350"/>
            <a:ext cx="212035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9" name="Google Shape;3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0" name="Google Shape;4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1"/>
        <p:cNvGrpSpPr/>
        <p:nvPr/>
      </p:nvGrpSpPr>
      <p:grpSpPr>
        <a:xfrm>
          <a:off x="0" y="0"/>
          <a:ext cx="0" cy="0"/>
          <a:chOff x="0" y="0"/>
          <a:chExt cx="0" cy="0"/>
        </a:xfrm>
      </p:grpSpPr>
      <p:sp>
        <p:nvSpPr>
          <p:cNvPr id="42" name="Google Shape;42;p11"/>
          <p:cNvSpPr txBox="1">
            <a:spLocks noGrp="1"/>
          </p:cNvSpPr>
          <p:nvPr>
            <p:ph type="dt" idx="10"/>
          </p:nvPr>
        </p:nvSpPr>
        <p:spPr>
          <a:xfrm>
            <a:off x="1461050" y="6356350"/>
            <a:ext cx="212035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3" name="Google Shape;4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no footer">
  <p:cSld name="Blank no footer">
    <p:spTree>
      <p:nvGrpSpPr>
        <p:cNvPr id="1" name="Shape 4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3.jp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
        <p:cNvGrpSpPr/>
        <p:nvPr/>
      </p:nvGrpSpPr>
      <p:grpSpPr>
        <a:xfrm>
          <a:off x="0" y="0"/>
          <a:ext cx="0" cy="0"/>
          <a:chOff x="0" y="0"/>
          <a:chExt cx="0" cy="0"/>
        </a:xfrm>
      </p:grpSpPr>
      <p:sp>
        <p:nvSpPr>
          <p:cNvPr id="6" name="Google Shape;6;p3"/>
          <p:cNvSpPr/>
          <p:nvPr/>
        </p:nvSpPr>
        <p:spPr>
          <a:xfrm>
            <a:off x="2701090" y="0"/>
            <a:ext cx="6789821" cy="684180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7">
            <a:alphaModFix/>
          </a:blip>
          <a:stretch>
            <a:fillRect/>
          </a:stretch>
        </a:blipFill>
        <a:effectLst/>
      </p:bgPr>
    </p:bg>
    <p:spTree>
      <p:nvGrpSpPr>
        <p:cNvPr id="1" name="Shape 14"/>
        <p:cNvGrpSpPr/>
        <p:nvPr/>
      </p:nvGrpSpPr>
      <p:grpSpPr>
        <a:xfrm>
          <a:off x="0" y="0"/>
          <a:ext cx="0" cy="0"/>
          <a:chOff x="0" y="0"/>
          <a:chExt cx="0" cy="0"/>
        </a:xfrm>
      </p:grpSpPr>
      <p:sp>
        <p:nvSpPr>
          <p:cNvPr id="15" name="Google Shape;15;p5"/>
          <p:cNvSpPr/>
          <p:nvPr/>
        </p:nvSpPr>
        <p:spPr>
          <a:xfrm>
            <a:off x="1155032" y="0"/>
            <a:ext cx="11036968"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 name="Google Shape;16;p5"/>
          <p:cNvSpPr txBox="1">
            <a:spLocks noGrp="1"/>
          </p:cNvSpPr>
          <p:nvPr>
            <p:ph type="title"/>
          </p:nvPr>
        </p:nvSpPr>
        <p:spPr>
          <a:xfrm>
            <a:off x="1461050" y="344764"/>
            <a:ext cx="9892748" cy="87726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8C6D2C"/>
              </a:buClr>
              <a:buSzPts val="5200"/>
              <a:buFont typeface="Cormorant"/>
              <a:buNone/>
              <a:defRPr sz="5200" b="0" i="0" u="none" strike="noStrike" cap="none">
                <a:solidFill>
                  <a:srgbClr val="8C6D2C"/>
                </a:solidFill>
                <a:latin typeface="Cormorant"/>
                <a:ea typeface="Cormorant"/>
                <a:cs typeface="Cormorant"/>
                <a:sym typeface="Cormoran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 name="Google Shape;17;p5"/>
          <p:cNvSpPr txBox="1">
            <a:spLocks noGrp="1"/>
          </p:cNvSpPr>
          <p:nvPr>
            <p:ph type="body" idx="1"/>
          </p:nvPr>
        </p:nvSpPr>
        <p:spPr>
          <a:xfrm>
            <a:off x="1461050" y="1401417"/>
            <a:ext cx="9892800" cy="47754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Nunito Sans"/>
                <a:ea typeface="Nunito Sans"/>
                <a:cs typeface="Nunito Sans"/>
                <a:sym typeface="Nunito Sans"/>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Nunito Sans"/>
                <a:ea typeface="Nunito Sans"/>
                <a:cs typeface="Nunito Sans"/>
                <a:sym typeface="Nunito Sans"/>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Nunito Sans"/>
                <a:ea typeface="Nunito Sans"/>
                <a:cs typeface="Nunito Sans"/>
                <a:sym typeface="Nunito Sans"/>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Nunito Sans"/>
                <a:ea typeface="Nunito Sans"/>
                <a:cs typeface="Nunito Sans"/>
                <a:sym typeface="Nunito Sans"/>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Nunito Sans"/>
                <a:ea typeface="Nunito Sans"/>
                <a:cs typeface="Nunito Sans"/>
                <a:sym typeface="Nunito Sans"/>
              </a:defRPr>
            </a:lvl5pPr>
            <a:lvl6pPr marL="2743200" marR="0" lvl="5" indent="-342900" algn="l" rtl="0">
              <a:lnSpc>
                <a:spcPct val="90000"/>
              </a:lnSpc>
              <a:spcBef>
                <a:spcPts val="500"/>
              </a:spcBef>
              <a:spcAft>
                <a:spcPts val="0"/>
              </a:spcAft>
              <a:buClr>
                <a:srgbClr val="8C6D2C"/>
              </a:buClr>
              <a:buSzPts val="1800"/>
              <a:buFont typeface="Arial"/>
              <a:buChar char="•"/>
              <a:defRPr sz="1800" b="0" i="0" u="none" strike="noStrike" cap="none">
                <a:solidFill>
                  <a:srgbClr val="8C6D2C"/>
                </a:solidFill>
                <a:latin typeface="Calibri"/>
                <a:ea typeface="Calibri"/>
                <a:cs typeface="Calibri"/>
                <a:sym typeface="Calibri"/>
              </a:defRPr>
            </a:lvl6pPr>
            <a:lvl7pPr marL="3200400" marR="0" lvl="6" indent="-342900" algn="l" rtl="0">
              <a:lnSpc>
                <a:spcPct val="90000"/>
              </a:lnSpc>
              <a:spcBef>
                <a:spcPts val="500"/>
              </a:spcBef>
              <a:spcAft>
                <a:spcPts val="0"/>
              </a:spcAft>
              <a:buClr>
                <a:srgbClr val="8C6D2C"/>
              </a:buClr>
              <a:buSzPts val="1800"/>
              <a:buFont typeface="Arial"/>
              <a:buChar char="•"/>
              <a:defRPr sz="1800" b="0" i="0" u="none" strike="noStrike" cap="none">
                <a:solidFill>
                  <a:srgbClr val="8C6D2C"/>
                </a:solidFill>
                <a:latin typeface="Calibri"/>
                <a:ea typeface="Calibri"/>
                <a:cs typeface="Calibri"/>
                <a:sym typeface="Calibri"/>
              </a:defRPr>
            </a:lvl7pPr>
            <a:lvl8pPr marL="3657600" marR="0" lvl="7" indent="-342900" algn="l" rtl="0">
              <a:lnSpc>
                <a:spcPct val="90000"/>
              </a:lnSpc>
              <a:spcBef>
                <a:spcPts val="500"/>
              </a:spcBef>
              <a:spcAft>
                <a:spcPts val="0"/>
              </a:spcAft>
              <a:buClr>
                <a:srgbClr val="8C6D2C"/>
              </a:buClr>
              <a:buSzPts val="1800"/>
              <a:buFont typeface="Arial"/>
              <a:buChar char="•"/>
              <a:defRPr sz="1800" b="0" i="0" u="none" strike="noStrike" cap="none">
                <a:solidFill>
                  <a:srgbClr val="8C6D2C"/>
                </a:solidFill>
                <a:latin typeface="Calibri"/>
                <a:ea typeface="Calibri"/>
                <a:cs typeface="Calibri"/>
                <a:sym typeface="Calibri"/>
              </a:defRPr>
            </a:lvl8pPr>
            <a:lvl9pPr marL="4114800" marR="0" lvl="8" indent="-342900" algn="l" rtl="0">
              <a:lnSpc>
                <a:spcPct val="90000"/>
              </a:lnSpc>
              <a:spcBef>
                <a:spcPts val="500"/>
              </a:spcBef>
              <a:spcAft>
                <a:spcPts val="0"/>
              </a:spcAft>
              <a:buClr>
                <a:srgbClr val="8C6D2C"/>
              </a:buClr>
              <a:buSzPts val="1800"/>
              <a:buFont typeface="Arial"/>
              <a:buChar char="•"/>
              <a:defRPr sz="1800" b="0" i="0" u="none" strike="noStrike" cap="none">
                <a:solidFill>
                  <a:srgbClr val="8C6D2C"/>
                </a:solidFill>
                <a:latin typeface="Calibri"/>
                <a:ea typeface="Calibri"/>
                <a:cs typeface="Calibri"/>
                <a:sym typeface="Calibri"/>
              </a:defRPr>
            </a:lvl9pPr>
          </a:lstStyle>
          <a:p>
            <a:endParaRPr/>
          </a:p>
        </p:txBody>
      </p:sp>
      <p:sp>
        <p:nvSpPr>
          <p:cNvPr id="18" name="Google Shape;1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BFAD91"/>
                </a:solidFill>
                <a:latin typeface="Cormorant"/>
                <a:ea typeface="Cormorant"/>
                <a:cs typeface="Cormorant"/>
                <a:sym typeface="Cormorant"/>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2" r:id="rId1"/>
    <p:sldLayoutId id="2147483654" r:id="rId2"/>
    <p:sldLayoutId id="2147483655" r:id="rId3"/>
    <p:sldLayoutId id="2147483656" r:id="rId4"/>
    <p:sldLayoutId id="214748365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hyperlink" Target="http://arxiv.org/abs/2003.07554"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15.png"/><Relationship Id="rId10" Type="http://schemas.openxmlformats.org/officeDocument/2006/relationships/image" Target="../media/image17.png"/><Relationship Id="rId4" Type="http://schemas.openxmlformats.org/officeDocument/2006/relationships/image" Target="../media/image23.png"/><Relationship Id="rId9"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7.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4.png"/><Relationship Id="rId1" Type="http://schemas.openxmlformats.org/officeDocument/2006/relationships/slideLayout" Target="../slideLayouts/slideLayout3.xml"/><Relationship Id="rId6" Type="http://schemas.openxmlformats.org/officeDocument/2006/relationships/diagramColors" Target="../diagrams/colors1.xml"/><Relationship Id="rId11"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80.png"/><Relationship Id="rId7" Type="http://schemas.openxmlformats.org/officeDocument/2006/relationships/image" Target="../media/image12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10.png"/><Relationship Id="rId11" Type="http://schemas.openxmlformats.org/officeDocument/2006/relationships/image" Target="../media/image160.png"/><Relationship Id="rId5" Type="http://schemas.openxmlformats.org/officeDocument/2006/relationships/image" Target="../media/image100.png"/><Relationship Id="rId10" Type="http://schemas.openxmlformats.org/officeDocument/2006/relationships/image" Target="../media/image150.png"/><Relationship Id="rId4" Type="http://schemas.openxmlformats.org/officeDocument/2006/relationships/image" Target="../media/image90.png"/><Relationship Id="rId9" Type="http://schemas.openxmlformats.org/officeDocument/2006/relationships/image" Target="../media/image14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1"/>
          <p:cNvSpPr txBox="1">
            <a:spLocks noGrp="1"/>
          </p:cNvSpPr>
          <p:nvPr>
            <p:ph type="title"/>
          </p:nvPr>
        </p:nvSpPr>
        <p:spPr>
          <a:xfrm>
            <a:off x="3086099" y="848139"/>
            <a:ext cx="6019800" cy="2872800"/>
          </a:xfrm>
          <a:prstGeom prst="rect">
            <a:avLst/>
          </a:prstGeom>
          <a:noFill/>
          <a:ln>
            <a:noFill/>
          </a:ln>
        </p:spPr>
        <p:txBody>
          <a:bodyPr spcFirstLastPara="1" wrap="square" lIns="91425" tIns="45700" rIns="91425" bIns="45700" anchor="b" anchorCtr="0">
            <a:noAutofit/>
          </a:bodyPr>
          <a:lstStyle/>
          <a:p>
            <a:pPr lvl="0"/>
            <a:r>
              <a:rPr lang="en-US" altLang="zh-CN" sz="4000" dirty="0"/>
              <a:t>A Framework for Generalizable Classification Under Label Shift</a:t>
            </a:r>
            <a:endParaRPr sz="4000" dirty="0">
              <a:solidFill>
                <a:srgbClr val="8C6D2C"/>
              </a:solidFill>
              <a:latin typeface="Cormorant"/>
              <a:ea typeface="Cormorant"/>
              <a:cs typeface="Cormorant"/>
              <a:sym typeface="Cormorant"/>
            </a:endParaRPr>
          </a:p>
        </p:txBody>
      </p:sp>
      <p:sp>
        <p:nvSpPr>
          <p:cNvPr id="51" name="Google Shape;51;p1"/>
          <p:cNvSpPr txBox="1">
            <a:spLocks noGrp="1"/>
          </p:cNvSpPr>
          <p:nvPr>
            <p:ph type="body" idx="1"/>
          </p:nvPr>
        </p:nvSpPr>
        <p:spPr>
          <a:xfrm>
            <a:off x="2990850" y="4175125"/>
            <a:ext cx="6210300" cy="406400"/>
          </a:xfrm>
          <a:prstGeom prst="rect">
            <a:avLst/>
          </a:prstGeom>
          <a:noFill/>
          <a:ln>
            <a:noFill/>
          </a:ln>
        </p:spPr>
        <p:txBody>
          <a:bodyPr spcFirstLastPara="1" wrap="square" lIns="91425" tIns="45700" rIns="91425" bIns="45700" anchor="ctr" anchorCtr="0">
            <a:noAutofit/>
          </a:bodyPr>
          <a:lstStyle/>
          <a:p>
            <a:pPr marL="228600" marR="0" lvl="0" indent="-228600" algn="ctr" rtl="0">
              <a:lnSpc>
                <a:spcPct val="90000"/>
              </a:lnSpc>
              <a:spcBef>
                <a:spcPts val="0"/>
              </a:spcBef>
              <a:spcAft>
                <a:spcPts val="0"/>
              </a:spcAft>
              <a:buClr>
                <a:srgbClr val="93773A"/>
              </a:buClr>
              <a:buSzPts val="1600"/>
              <a:buFont typeface="Arial"/>
              <a:buNone/>
            </a:pPr>
            <a:r>
              <a:rPr lang="en-US">
                <a:solidFill>
                  <a:srgbClr val="8C6D2C"/>
                </a:solidFill>
              </a:rPr>
              <a:t>Ives Xue</a:t>
            </a:r>
            <a:endParaRPr>
              <a:solidFill>
                <a:srgbClr val="8C6D2C"/>
              </a:solidFill>
            </a:endParaRPr>
          </a:p>
        </p:txBody>
      </p:sp>
      <p:sp>
        <p:nvSpPr>
          <p:cNvPr id="52" name="Google Shape;52;p1"/>
          <p:cNvSpPr txBox="1">
            <a:spLocks noGrp="1"/>
          </p:cNvSpPr>
          <p:nvPr>
            <p:ph type="body" idx="2"/>
          </p:nvPr>
        </p:nvSpPr>
        <p:spPr>
          <a:xfrm>
            <a:off x="2990850" y="4701279"/>
            <a:ext cx="6210300" cy="377825"/>
          </a:xfrm>
          <a:prstGeom prst="rect">
            <a:avLst/>
          </a:prstGeom>
          <a:noFill/>
          <a:ln>
            <a:noFill/>
          </a:ln>
        </p:spPr>
        <p:txBody>
          <a:bodyPr spcFirstLastPara="1" wrap="square" lIns="91425" tIns="45700" rIns="91425" bIns="45700" anchor="t" anchorCtr="0">
            <a:noAutofit/>
          </a:bodyPr>
          <a:lstStyle/>
          <a:p>
            <a:pPr marL="228600" lvl="0" indent="-228600" algn="ctr" rtl="0">
              <a:lnSpc>
                <a:spcPct val="90000"/>
              </a:lnSpc>
              <a:spcBef>
                <a:spcPts val="0"/>
              </a:spcBef>
              <a:spcAft>
                <a:spcPts val="0"/>
              </a:spcAft>
              <a:buClr>
                <a:srgbClr val="93773A"/>
              </a:buClr>
              <a:buSzPts val="1800"/>
              <a:buNone/>
            </a:pPr>
            <a:r>
              <a:rPr lang="en-US" dirty="0">
                <a:solidFill>
                  <a:srgbClr val="8C6D2C"/>
                </a:solidFill>
              </a:rPr>
              <a:t>Mentor: Prof. Ciaran Evans</a:t>
            </a:r>
            <a:endParaRPr dirty="0">
              <a:solidFill>
                <a:srgbClr val="8C6D2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2"/>
          <p:cNvSpPr txBox="1">
            <a:spLocks noGrp="1"/>
          </p:cNvSpPr>
          <p:nvPr>
            <p:ph type="title"/>
          </p:nvPr>
        </p:nvSpPr>
        <p:spPr>
          <a:xfrm>
            <a:off x="1461050" y="344764"/>
            <a:ext cx="9892748" cy="87726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200"/>
              <a:buFont typeface="Cormorant"/>
              <a:buNone/>
            </a:pPr>
            <a:r>
              <a:rPr lang="en-US" dirty="0"/>
              <a:t>Background</a:t>
            </a:r>
            <a:endParaRPr dirty="0">
              <a:solidFill>
                <a:srgbClr val="8C6D2C"/>
              </a:solidFill>
            </a:endParaRPr>
          </a:p>
        </p:txBody>
      </p:sp>
      <p:sp>
        <p:nvSpPr>
          <p:cNvPr id="58" name="Google Shape;58;p2"/>
          <p:cNvSpPr txBox="1">
            <a:spLocks noGrp="1"/>
          </p:cNvSpPr>
          <p:nvPr>
            <p:ph type="body" idx="1"/>
          </p:nvPr>
        </p:nvSpPr>
        <p:spPr>
          <a:xfrm>
            <a:off x="1048215" y="1427116"/>
            <a:ext cx="11143785" cy="4775400"/>
          </a:xfrm>
          <a:prstGeom prst="rect">
            <a:avLst/>
          </a:prstGeom>
          <a:noFill/>
          <a:ln>
            <a:noFill/>
          </a:ln>
        </p:spPr>
        <p:txBody>
          <a:bodyPr spcFirstLastPara="1" wrap="square" lIns="91425" tIns="45700" rIns="91425" bIns="45700" anchor="t" anchorCtr="0">
            <a:normAutofit/>
          </a:bodyPr>
          <a:lstStyle/>
          <a:p>
            <a:pPr marL="457200" lvl="0" indent="-387350" algn="l" rtl="0">
              <a:lnSpc>
                <a:spcPct val="14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Classification learns a rule to predict labels from features.</a:t>
            </a:r>
            <a:endParaRPr sz="2500" dirty="0">
              <a:latin typeface="Times New Roman"/>
              <a:ea typeface="Times New Roman"/>
              <a:cs typeface="Times New Roman"/>
              <a:sym typeface="Times New Roman"/>
            </a:endParaRPr>
          </a:p>
          <a:p>
            <a:pPr marL="457200" lvl="0" indent="-387350" algn="l" rtl="0">
              <a:lnSpc>
                <a:spcPct val="14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Standard methods assume </a:t>
            </a:r>
            <a:r>
              <a:rPr lang="en-US" altLang="zh-CN" sz="2500" dirty="0">
                <a:latin typeface="Times New Roman"/>
                <a:ea typeface="Times New Roman"/>
                <a:cs typeface="Times New Roman"/>
                <a:sym typeface="Times New Roman"/>
              </a:rPr>
              <a:t>source</a:t>
            </a:r>
            <a:r>
              <a:rPr lang="en-US" sz="2500" dirty="0">
                <a:latin typeface="Times New Roman"/>
                <a:ea typeface="Times New Roman"/>
                <a:cs typeface="Times New Roman"/>
                <a:sym typeface="Times New Roman"/>
              </a:rPr>
              <a:t> and target data come from the same distribution.</a:t>
            </a:r>
            <a:endParaRPr sz="2500" dirty="0">
              <a:latin typeface="Times New Roman"/>
              <a:ea typeface="Times New Roman"/>
              <a:cs typeface="Times New Roman"/>
              <a:sym typeface="Times New Roman"/>
            </a:endParaRPr>
          </a:p>
          <a:p>
            <a:pPr marL="457200" lvl="0" indent="-387350" algn="l" rtl="0">
              <a:lnSpc>
                <a:spcPct val="14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In reality, future data often change across time or populations. This is called </a:t>
            </a:r>
            <a:r>
              <a:rPr lang="en-US" sz="2500" b="1" dirty="0">
                <a:latin typeface="Times New Roman"/>
                <a:ea typeface="Times New Roman"/>
                <a:cs typeface="Times New Roman"/>
                <a:sym typeface="Times New Roman"/>
              </a:rPr>
              <a:t>dataset shift</a:t>
            </a:r>
            <a:r>
              <a:rPr lang="en-US" sz="2500" dirty="0">
                <a:latin typeface="Times New Roman"/>
                <a:ea typeface="Times New Roman"/>
                <a:cs typeface="Times New Roman"/>
                <a:sym typeface="Times New Roman"/>
              </a:rPr>
              <a:t>.</a:t>
            </a:r>
            <a:endParaRPr sz="2500" dirty="0">
              <a:latin typeface="Times New Roman"/>
              <a:ea typeface="Times New Roman"/>
              <a:cs typeface="Times New Roman"/>
              <a:sym typeface="Times New Roman"/>
            </a:endParaRPr>
          </a:p>
          <a:p>
            <a:pPr marL="457200" lvl="0" indent="-387350" algn="l" rtl="0">
              <a:lnSpc>
                <a:spcPct val="14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Dataset shift matters because it can reduce both </a:t>
            </a:r>
            <a:r>
              <a:rPr lang="en-US" sz="2500" b="1" dirty="0">
                <a:latin typeface="Times New Roman"/>
                <a:ea typeface="Times New Roman"/>
                <a:cs typeface="Times New Roman"/>
                <a:sym typeface="Times New Roman"/>
              </a:rPr>
              <a:t>accuracy</a:t>
            </a:r>
            <a:r>
              <a:rPr lang="en-US" sz="2500" dirty="0">
                <a:latin typeface="Times New Roman"/>
                <a:ea typeface="Times New Roman"/>
                <a:cs typeface="Times New Roman"/>
                <a:sym typeface="Times New Roman"/>
              </a:rPr>
              <a:t> and </a:t>
            </a:r>
            <a:r>
              <a:rPr lang="en-US" sz="2500" b="1" dirty="0">
                <a:latin typeface="Times New Roman"/>
                <a:ea typeface="Times New Roman"/>
                <a:cs typeface="Times New Roman"/>
                <a:sym typeface="Times New Roman"/>
              </a:rPr>
              <a:t>probability calibration</a:t>
            </a:r>
            <a:r>
              <a:rPr lang="en-US" sz="2500" dirty="0">
                <a:latin typeface="Times New Roman"/>
                <a:ea typeface="Times New Roman"/>
                <a:cs typeface="Times New Roman"/>
                <a:sym typeface="Times New Roman"/>
              </a:rPr>
              <a:t>.</a:t>
            </a:r>
            <a:endParaRPr sz="2500" dirty="0">
              <a:latin typeface="Times New Roman"/>
              <a:ea typeface="Times New Roman"/>
              <a:cs typeface="Times New Roman"/>
              <a:sym typeface="Times New Roman"/>
            </a:endParaRPr>
          </a:p>
          <a:p>
            <a:pPr marL="457200" lvl="0" indent="-387350" algn="l" rtl="0">
              <a:lnSpc>
                <a:spcPct val="140000"/>
              </a:lnSpc>
              <a:spcBef>
                <a:spcPts val="0"/>
              </a:spcBef>
              <a:spcAft>
                <a:spcPts val="0"/>
              </a:spcAft>
              <a:buSzPts val="2500"/>
              <a:buFont typeface="Times New Roman"/>
              <a:buChar char="●"/>
            </a:pPr>
            <a:r>
              <a:rPr lang="en-US" sz="2500" b="1" dirty="0">
                <a:latin typeface="Times New Roman"/>
                <a:ea typeface="Times New Roman"/>
                <a:cs typeface="Times New Roman"/>
                <a:sym typeface="Times New Roman"/>
              </a:rPr>
              <a:t>Calibration </a:t>
            </a:r>
            <a:r>
              <a:rPr lang="en-US" sz="2500" dirty="0">
                <a:latin typeface="Times New Roman"/>
                <a:ea typeface="Times New Roman"/>
                <a:cs typeface="Times New Roman"/>
                <a:sym typeface="Times New Roman"/>
              </a:rPr>
              <a:t>refers to how well predicted probabilities agree with actual outcome frequencies.</a:t>
            </a:r>
            <a:endParaRPr sz="2500" dirty="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g3d44f2775a5_0_21"/>
          <p:cNvSpPr txBox="1">
            <a:spLocks noGrp="1"/>
          </p:cNvSpPr>
          <p:nvPr>
            <p:ph type="title"/>
          </p:nvPr>
        </p:nvSpPr>
        <p:spPr>
          <a:xfrm>
            <a:off x="1461050" y="344764"/>
            <a:ext cx="9892800" cy="877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200"/>
              <a:buFont typeface="Cormorant"/>
              <a:buNone/>
            </a:pPr>
            <a:r>
              <a:rPr lang="en-US"/>
              <a:t>Data Set Shift</a:t>
            </a:r>
            <a:endParaRPr>
              <a:solidFill>
                <a:srgbClr val="8C6D2C"/>
              </a:solidFill>
            </a:endParaRPr>
          </a:p>
        </p:txBody>
      </p:sp>
      <p:sp>
        <p:nvSpPr>
          <p:cNvPr id="64" name="Google Shape;64;g3d44f2775a5_0_21"/>
          <p:cNvSpPr txBox="1">
            <a:spLocks noGrp="1"/>
          </p:cNvSpPr>
          <p:nvPr>
            <p:ph type="body" idx="1"/>
          </p:nvPr>
        </p:nvSpPr>
        <p:spPr>
          <a:xfrm>
            <a:off x="1461050" y="1401426"/>
            <a:ext cx="9892800" cy="5339400"/>
          </a:xfrm>
          <a:prstGeom prst="rect">
            <a:avLst/>
          </a:prstGeom>
          <a:noFill/>
          <a:ln>
            <a:noFill/>
          </a:ln>
        </p:spPr>
        <p:txBody>
          <a:bodyPr spcFirstLastPara="1" wrap="square" lIns="91425" tIns="45700" rIns="91425" bIns="45700" anchor="t" anchorCtr="0">
            <a:normAutofit/>
          </a:bodyPr>
          <a:lstStyle/>
          <a:p>
            <a:pPr marL="457200" lvl="0" indent="-387350" algn="l" rtl="0">
              <a:lnSpc>
                <a:spcPct val="15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Need: Assumptions about how distribution changes</a:t>
            </a:r>
            <a:endParaRPr sz="2500" dirty="0">
              <a:latin typeface="Times New Roman"/>
              <a:ea typeface="Times New Roman"/>
              <a:cs typeface="Times New Roman"/>
              <a:sym typeface="Times New Roman"/>
            </a:endParaRPr>
          </a:p>
          <a:p>
            <a:pPr marL="457200" marR="0" lvl="0" indent="-387350" algn="l" rtl="0">
              <a:lnSpc>
                <a:spcPct val="15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Data: </a:t>
            </a:r>
            <a:r>
              <a:rPr lang="en-US" altLang="zh-CN" sz="2500" dirty="0">
                <a:latin typeface="Times New Roman"/>
                <a:ea typeface="Times New Roman"/>
                <a:cs typeface="Times New Roman"/>
                <a:sym typeface="Times New Roman"/>
              </a:rPr>
              <a:t>X</a:t>
            </a:r>
            <a:r>
              <a:rPr lang="en-US" sz="2500" dirty="0">
                <a:latin typeface="Times New Roman"/>
                <a:ea typeface="Times New Roman"/>
                <a:cs typeface="Times New Roman"/>
                <a:sym typeface="Times New Roman"/>
              </a:rPr>
              <a:t> (features); </a:t>
            </a:r>
            <a:r>
              <a:rPr lang="en-US" altLang="zh-CN" sz="2500" dirty="0">
                <a:latin typeface="Times New Roman"/>
                <a:ea typeface="Times New Roman"/>
                <a:cs typeface="Times New Roman"/>
                <a:sym typeface="Times New Roman"/>
              </a:rPr>
              <a:t>Y</a:t>
            </a:r>
            <a:r>
              <a:rPr lang="en-US" sz="2500" dirty="0">
                <a:latin typeface="Times New Roman"/>
                <a:ea typeface="Times New Roman"/>
                <a:cs typeface="Times New Roman"/>
                <a:sym typeface="Times New Roman"/>
              </a:rPr>
              <a:t> (labels)</a:t>
            </a:r>
            <a:r>
              <a:rPr lang="zh-CN" altLang="en-US" sz="2500" dirty="0">
                <a:latin typeface="Times New Roman"/>
                <a:ea typeface="Times New Roman"/>
                <a:cs typeface="Times New Roman"/>
                <a:sym typeface="Times New Roman"/>
              </a:rPr>
              <a:t>；</a:t>
            </a:r>
            <a:r>
              <a:rPr lang="en-US" altLang="zh-CN" sz="2500" dirty="0">
                <a:latin typeface="Times New Roman"/>
                <a:ea typeface="Times New Roman"/>
                <a:cs typeface="Times New Roman"/>
                <a:sym typeface="Times New Roman"/>
              </a:rPr>
              <a:t>P (Source); Q (Target)</a:t>
            </a:r>
            <a:endParaRPr sz="2500" dirty="0">
              <a:latin typeface="Times New Roman"/>
              <a:ea typeface="Times New Roman"/>
              <a:cs typeface="Times New Roman"/>
              <a:sym typeface="Times New Roman"/>
            </a:endParaRPr>
          </a:p>
          <a:p>
            <a:pPr marL="457200" marR="0" lvl="0" indent="-387350" algn="l" rtl="0">
              <a:lnSpc>
                <a:spcPct val="15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Covariate Shift Assumption:</a:t>
            </a:r>
            <a:endParaRPr sz="2500" dirty="0">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endParaRPr sz="2500" dirty="0">
              <a:latin typeface="Times New Roman"/>
              <a:ea typeface="Times New Roman"/>
              <a:cs typeface="Times New Roman"/>
              <a:sym typeface="Times New Roman"/>
            </a:endParaRPr>
          </a:p>
          <a:p>
            <a:pPr marL="457200" marR="0" lvl="0" indent="0" algn="l" rtl="0">
              <a:lnSpc>
                <a:spcPct val="150000"/>
              </a:lnSpc>
              <a:spcBef>
                <a:spcPts val="0"/>
              </a:spcBef>
              <a:spcAft>
                <a:spcPts val="0"/>
              </a:spcAft>
              <a:buNone/>
            </a:pPr>
            <a:r>
              <a:rPr lang="en-US" sz="2500" dirty="0">
                <a:latin typeface="Times New Roman"/>
                <a:ea typeface="Times New Roman"/>
                <a:cs typeface="Times New Roman"/>
                <a:sym typeface="Times New Roman"/>
              </a:rPr>
              <a:t>							</a:t>
            </a:r>
            <a:endParaRPr sz="2500" dirty="0">
              <a:latin typeface="Times New Roman"/>
              <a:ea typeface="Times New Roman"/>
              <a:cs typeface="Times New Roman"/>
              <a:sym typeface="Times New Roman"/>
            </a:endParaRPr>
          </a:p>
          <a:p>
            <a:pPr marL="457200" marR="0" lvl="0" indent="-387350" algn="l" rtl="0">
              <a:lnSpc>
                <a:spcPct val="15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Label Shift Assumption: </a:t>
            </a:r>
            <a:endParaRPr sz="2500" dirty="0">
              <a:latin typeface="Times New Roman"/>
              <a:ea typeface="Times New Roman"/>
              <a:cs typeface="Times New Roman"/>
              <a:sym typeface="Times New Roman"/>
            </a:endParaRPr>
          </a:p>
        </p:txBody>
      </p:sp>
      <p:pic>
        <p:nvPicPr>
          <p:cNvPr id="65" name="Google Shape;65;g3d44f2775a5_0_21"/>
          <p:cNvPicPr preferRelativeResize="0"/>
          <p:nvPr/>
        </p:nvPicPr>
        <p:blipFill>
          <a:blip r:embed="rId3">
            <a:alphaModFix/>
          </a:blip>
          <a:stretch>
            <a:fillRect/>
          </a:stretch>
        </p:blipFill>
        <p:spPr>
          <a:xfrm>
            <a:off x="5759300" y="2735028"/>
            <a:ext cx="5200650" cy="361950"/>
          </a:xfrm>
          <a:prstGeom prst="rect">
            <a:avLst/>
          </a:prstGeom>
          <a:noFill/>
          <a:ln>
            <a:noFill/>
          </a:ln>
        </p:spPr>
      </p:pic>
      <p:pic>
        <p:nvPicPr>
          <p:cNvPr id="66" name="Google Shape;66;g3d44f2775a5_0_21"/>
          <p:cNvPicPr preferRelativeResize="0"/>
          <p:nvPr/>
        </p:nvPicPr>
        <p:blipFill>
          <a:blip r:embed="rId4">
            <a:alphaModFix/>
          </a:blip>
          <a:stretch>
            <a:fillRect/>
          </a:stretch>
        </p:blipFill>
        <p:spPr>
          <a:xfrm>
            <a:off x="5191237" y="4443396"/>
            <a:ext cx="5172075" cy="361950"/>
          </a:xfrm>
          <a:prstGeom prst="rect">
            <a:avLst/>
          </a:prstGeom>
          <a:noFill/>
          <a:ln>
            <a:noFill/>
          </a:ln>
        </p:spPr>
      </p:pic>
      <p:sp>
        <p:nvSpPr>
          <p:cNvPr id="67" name="Google Shape;67;g3d44f2775a5_0_21"/>
          <p:cNvSpPr/>
          <p:nvPr/>
        </p:nvSpPr>
        <p:spPr>
          <a:xfrm rot="-3334726">
            <a:off x="5422592" y="3254287"/>
            <a:ext cx="456417" cy="142209"/>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Sans"/>
              <a:ea typeface="Nunito Sans"/>
              <a:cs typeface="Nunito Sans"/>
              <a:sym typeface="Nunito Sans"/>
            </a:endParaRPr>
          </a:p>
        </p:txBody>
      </p:sp>
      <p:sp>
        <p:nvSpPr>
          <p:cNvPr id="68" name="Google Shape;68;g3d44f2775a5_0_21"/>
          <p:cNvSpPr txBox="1"/>
          <p:nvPr/>
        </p:nvSpPr>
        <p:spPr>
          <a:xfrm>
            <a:off x="4855900" y="3500915"/>
            <a:ext cx="1460400" cy="63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a:buNone/>
            </a:pPr>
            <a:r>
              <a:rPr lang="en-US" b="1" dirty="0">
                <a:solidFill>
                  <a:schemeClr val="dk2"/>
                </a:solidFill>
                <a:latin typeface="Nunito Sans"/>
                <a:ea typeface="Nunito Sans"/>
                <a:cs typeface="Nunito Sans"/>
                <a:sym typeface="Nunito Sans"/>
              </a:rPr>
              <a:t>Distribution of source data</a:t>
            </a:r>
            <a:endParaRPr b="1" dirty="0">
              <a:solidFill>
                <a:schemeClr val="dk2"/>
              </a:solidFill>
              <a:latin typeface="Nunito Sans"/>
              <a:ea typeface="Nunito Sans"/>
              <a:cs typeface="Nunito Sans"/>
              <a:sym typeface="Nunito Sans"/>
            </a:endParaRPr>
          </a:p>
        </p:txBody>
      </p:sp>
      <p:sp>
        <p:nvSpPr>
          <p:cNvPr id="69" name="Google Shape;69;g3d44f2775a5_0_21"/>
          <p:cNvSpPr/>
          <p:nvPr/>
        </p:nvSpPr>
        <p:spPr>
          <a:xfrm rot="-8100000">
            <a:off x="6901603" y="3218205"/>
            <a:ext cx="456508" cy="142128"/>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Sans"/>
              <a:ea typeface="Nunito Sans"/>
              <a:cs typeface="Nunito Sans"/>
              <a:sym typeface="Nunito Sans"/>
            </a:endParaRPr>
          </a:p>
        </p:txBody>
      </p:sp>
      <p:sp>
        <p:nvSpPr>
          <p:cNvPr id="70" name="Google Shape;70;g3d44f2775a5_0_21"/>
          <p:cNvSpPr txBox="1"/>
          <p:nvPr/>
        </p:nvSpPr>
        <p:spPr>
          <a:xfrm>
            <a:off x="6918200" y="3553840"/>
            <a:ext cx="1460400" cy="63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dirty="0">
                <a:solidFill>
                  <a:schemeClr val="dk2"/>
                </a:solidFill>
                <a:latin typeface="Nunito Sans"/>
                <a:ea typeface="Nunito Sans"/>
                <a:cs typeface="Nunito Sans"/>
                <a:sym typeface="Nunito Sans"/>
              </a:rPr>
              <a:t>Distribution of target data</a:t>
            </a:r>
            <a:endParaRPr b="1" dirty="0">
              <a:solidFill>
                <a:schemeClr val="dk2"/>
              </a:solidFill>
              <a:latin typeface="Nunito Sans"/>
              <a:ea typeface="Nunito Sans"/>
              <a:cs typeface="Nunito Sans"/>
              <a:sym typeface="Nunito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uiExpand="1" build="p"/>
      <p:bldP spid="67" grpId="0" animBg="1"/>
      <p:bldP spid="68" grpId="0"/>
      <p:bldP spid="69" grpId="0" animBg="1"/>
      <p:bldP spid="7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g3d44f2775a5_0_26"/>
          <p:cNvSpPr txBox="1">
            <a:spLocks noGrp="1"/>
          </p:cNvSpPr>
          <p:nvPr>
            <p:ph type="title"/>
          </p:nvPr>
        </p:nvSpPr>
        <p:spPr>
          <a:xfrm>
            <a:off x="1461050" y="344764"/>
            <a:ext cx="9892800" cy="877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200"/>
              <a:buFont typeface="Cormorant"/>
              <a:buNone/>
            </a:pPr>
            <a:r>
              <a:rPr lang="en-US"/>
              <a:t>Label Shift</a:t>
            </a:r>
            <a:endParaRPr>
              <a:solidFill>
                <a:srgbClr val="8C6D2C"/>
              </a:solidFill>
            </a:endParaRPr>
          </a:p>
        </p:txBody>
      </p:sp>
      <p:sp>
        <p:nvSpPr>
          <p:cNvPr id="76" name="Google Shape;76;g3d44f2775a5_0_26"/>
          <p:cNvSpPr txBox="1">
            <a:spLocks noGrp="1"/>
          </p:cNvSpPr>
          <p:nvPr>
            <p:ph type="body" idx="1"/>
          </p:nvPr>
        </p:nvSpPr>
        <p:spPr>
          <a:xfrm>
            <a:off x="1461050" y="1221975"/>
            <a:ext cx="9892800" cy="24312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SzPts val="1530"/>
              <a:buNone/>
            </a:pPr>
            <a:r>
              <a:rPr lang="en-US" sz="1530" b="1" dirty="0">
                <a:latin typeface="Times New Roman"/>
                <a:ea typeface="Times New Roman"/>
                <a:cs typeface="Times New Roman"/>
                <a:sym typeface="Times New Roman"/>
              </a:rPr>
              <a:t>Our Goal:</a:t>
            </a:r>
            <a:r>
              <a:rPr lang="en-US" sz="1530" dirty="0">
                <a:latin typeface="Times New Roman"/>
                <a:ea typeface="Times New Roman"/>
                <a:cs typeface="Times New Roman"/>
                <a:sym typeface="Times New Roman"/>
              </a:rPr>
              <a:t> Creating generalizable classification model by selecting stable features that remain reliable under label shift.</a:t>
            </a:r>
            <a:endParaRPr sz="1530" dirty="0">
              <a:latin typeface="Times New Roman"/>
              <a:ea typeface="Times New Roman"/>
              <a:cs typeface="Times New Roman"/>
              <a:sym typeface="Times New Roman"/>
            </a:endParaRPr>
          </a:p>
          <a:p>
            <a:pPr marL="0" lvl="0" indent="0" algn="l" rtl="0">
              <a:lnSpc>
                <a:spcPct val="150000"/>
              </a:lnSpc>
              <a:spcBef>
                <a:spcPts val="0"/>
              </a:spcBef>
              <a:spcAft>
                <a:spcPts val="0"/>
              </a:spcAft>
              <a:buSzPts val="1530"/>
              <a:buNone/>
            </a:pPr>
            <a:r>
              <a:rPr lang="en-US" sz="1530" b="1" dirty="0">
                <a:latin typeface="Times New Roman"/>
                <a:ea typeface="Times New Roman"/>
                <a:cs typeface="Times New Roman"/>
                <a:sym typeface="Times New Roman"/>
              </a:rPr>
              <a:t>Why Label Shift:</a:t>
            </a:r>
            <a:r>
              <a:rPr lang="en-US" sz="1530" dirty="0">
                <a:latin typeface="Times New Roman"/>
                <a:ea typeface="Times New Roman"/>
                <a:cs typeface="Times New Roman"/>
                <a:sym typeface="Times New Roman"/>
              </a:rPr>
              <a:t> 1. Current works on data shift mostly focus on covariate shift, but few on label shift.</a:t>
            </a:r>
          </a:p>
          <a:p>
            <a:pPr marL="0" lvl="0" indent="0" algn="l" rtl="0">
              <a:lnSpc>
                <a:spcPct val="150000"/>
              </a:lnSpc>
              <a:spcBef>
                <a:spcPts val="0"/>
              </a:spcBef>
              <a:spcAft>
                <a:spcPts val="0"/>
              </a:spcAft>
              <a:buSzPts val="1530"/>
              <a:buNone/>
            </a:pPr>
            <a:r>
              <a:rPr lang="en-US" sz="1530" dirty="0">
                <a:latin typeface="Times New Roman"/>
                <a:ea typeface="Times New Roman"/>
                <a:cs typeface="Times New Roman"/>
                <a:sym typeface="Times New Roman"/>
              </a:rPr>
              <a:t>2. We have a lot of real-world settings where label shift assumption can be applied to.</a:t>
            </a:r>
          </a:p>
          <a:p>
            <a:pPr marL="0" lvl="0" indent="0" algn="l" rtl="0">
              <a:lnSpc>
                <a:spcPct val="150000"/>
              </a:lnSpc>
              <a:spcBef>
                <a:spcPts val="0"/>
              </a:spcBef>
              <a:spcAft>
                <a:spcPts val="0"/>
              </a:spcAft>
              <a:buSzPts val="1530"/>
              <a:buNone/>
            </a:pPr>
            <a:r>
              <a:rPr lang="en-US" sz="1530" dirty="0" err="1">
                <a:latin typeface="Times New Roman"/>
                <a:ea typeface="Times New Roman"/>
                <a:cs typeface="Times New Roman"/>
                <a:sym typeface="Times New Roman"/>
              </a:rPr>
              <a:t>Eg.</a:t>
            </a:r>
            <a:r>
              <a:rPr lang="en-US" sz="1530" dirty="0">
                <a:latin typeface="Times New Roman"/>
                <a:ea typeface="Times New Roman"/>
                <a:cs typeface="Times New Roman"/>
                <a:sym typeface="Times New Roman"/>
              </a:rPr>
              <a:t> Spam detection: patterns of words are similar, but spam rate is different.</a:t>
            </a:r>
          </a:p>
          <a:p>
            <a:pPr marL="0" lvl="0" indent="0" algn="l" rtl="0">
              <a:lnSpc>
                <a:spcPct val="150000"/>
              </a:lnSpc>
              <a:spcBef>
                <a:spcPts val="0"/>
              </a:spcBef>
              <a:spcAft>
                <a:spcPts val="0"/>
              </a:spcAft>
              <a:buSzPts val="1530"/>
              <a:buNone/>
            </a:pPr>
            <a:r>
              <a:rPr lang="en-US" sz="1530" b="1" dirty="0">
                <a:latin typeface="Times New Roman"/>
                <a:ea typeface="Times New Roman"/>
                <a:cs typeface="Times New Roman"/>
                <a:sym typeface="Times New Roman"/>
              </a:rPr>
              <a:t>Data Simulation:</a:t>
            </a:r>
          </a:p>
        </p:txBody>
      </p:sp>
      <p:pic>
        <p:nvPicPr>
          <p:cNvPr id="77" name="Google Shape;77;g3d44f2775a5_0_26"/>
          <p:cNvPicPr preferRelativeResize="0"/>
          <p:nvPr/>
        </p:nvPicPr>
        <p:blipFill>
          <a:blip r:embed="rId3">
            <a:alphaModFix/>
          </a:blip>
          <a:stretch>
            <a:fillRect/>
          </a:stretch>
        </p:blipFill>
        <p:spPr>
          <a:xfrm>
            <a:off x="6651713" y="538025"/>
            <a:ext cx="5172075" cy="361950"/>
          </a:xfrm>
          <a:prstGeom prst="rect">
            <a:avLst/>
          </a:prstGeom>
          <a:noFill/>
          <a:ln>
            <a:noFill/>
          </a:ln>
        </p:spPr>
      </p:pic>
      <p:pic>
        <p:nvPicPr>
          <p:cNvPr id="78" name="Google Shape;78;g3d44f2775a5_0_26"/>
          <p:cNvPicPr preferRelativeResize="0"/>
          <p:nvPr/>
        </p:nvPicPr>
        <p:blipFill>
          <a:blip r:embed="rId4">
            <a:alphaModFix/>
          </a:blip>
          <a:stretch>
            <a:fillRect/>
          </a:stretch>
        </p:blipFill>
        <p:spPr>
          <a:xfrm>
            <a:off x="1267400" y="3144294"/>
            <a:ext cx="5052076" cy="3266729"/>
          </a:xfrm>
          <a:prstGeom prst="rect">
            <a:avLst/>
          </a:prstGeom>
          <a:noFill/>
          <a:ln>
            <a:noFill/>
          </a:ln>
        </p:spPr>
      </p:pic>
      <p:pic>
        <p:nvPicPr>
          <p:cNvPr id="79" name="Google Shape;79;g3d44f2775a5_0_26"/>
          <p:cNvPicPr preferRelativeResize="0"/>
          <p:nvPr/>
        </p:nvPicPr>
        <p:blipFill>
          <a:blip r:embed="rId5">
            <a:alphaModFix/>
          </a:blip>
          <a:stretch>
            <a:fillRect/>
          </a:stretch>
        </p:blipFill>
        <p:spPr>
          <a:xfrm>
            <a:off x="6513126" y="3105473"/>
            <a:ext cx="5172075" cy="3344369"/>
          </a:xfrm>
          <a:prstGeom prst="rect">
            <a:avLst/>
          </a:prstGeom>
          <a:noFill/>
          <a:ln>
            <a:noFill/>
          </a:ln>
        </p:spPr>
      </p:pic>
      <p:sp>
        <p:nvSpPr>
          <p:cNvPr id="2" name="椭圆 1">
            <a:extLst>
              <a:ext uri="{FF2B5EF4-FFF2-40B4-BE49-F238E27FC236}">
                <a16:creationId xmlns:a16="http://schemas.microsoft.com/office/drawing/2014/main" id="{977C4553-5E6D-2FE9-6565-8556547EB56E}"/>
              </a:ext>
            </a:extLst>
          </p:cNvPr>
          <p:cNvSpPr/>
          <p:nvPr/>
        </p:nvSpPr>
        <p:spPr>
          <a:xfrm>
            <a:off x="9358132" y="5214395"/>
            <a:ext cx="277792" cy="24885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g3d44f2775a5_0_31"/>
          <p:cNvSpPr txBox="1">
            <a:spLocks noGrp="1"/>
          </p:cNvSpPr>
          <p:nvPr>
            <p:ph type="title"/>
          </p:nvPr>
        </p:nvSpPr>
        <p:spPr>
          <a:xfrm>
            <a:off x="1461050" y="344764"/>
            <a:ext cx="9892800" cy="877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200"/>
              <a:buFont typeface="Cormorant"/>
              <a:buNone/>
            </a:pPr>
            <a:r>
              <a:rPr lang="en-US" dirty="0"/>
              <a:t>Estimate Label Shift</a:t>
            </a:r>
            <a:endParaRPr dirty="0">
              <a:solidFill>
                <a:srgbClr val="8C6D2C"/>
              </a:solidFill>
            </a:endParaRPr>
          </a:p>
        </p:txBody>
      </p:sp>
      <p:sp>
        <p:nvSpPr>
          <p:cNvPr id="85" name="Google Shape;85;g3d44f2775a5_0_31"/>
          <p:cNvSpPr txBox="1">
            <a:spLocks noGrp="1"/>
          </p:cNvSpPr>
          <p:nvPr>
            <p:ph type="body" idx="1"/>
          </p:nvPr>
        </p:nvSpPr>
        <p:spPr>
          <a:xfrm>
            <a:off x="1461050" y="1401417"/>
            <a:ext cx="9892800" cy="47754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SzPts val="1800"/>
              <a:buNone/>
            </a:pPr>
            <a:r>
              <a:rPr lang="en-US" sz="2500" dirty="0">
                <a:latin typeface="Times New Roman"/>
                <a:ea typeface="Times New Roman"/>
                <a:cs typeface="Times New Roman"/>
                <a:sym typeface="Times New Roman"/>
              </a:rPr>
              <a:t>However, in practice, we can not observe labels in target data.</a:t>
            </a:r>
            <a:endParaRPr sz="2500" dirty="0">
              <a:latin typeface="Times New Roman"/>
              <a:ea typeface="Times New Roman"/>
              <a:cs typeface="Times New Roman"/>
              <a:sym typeface="Times New Roman"/>
            </a:endParaRPr>
          </a:p>
          <a:p>
            <a:pPr marL="0" lvl="0" indent="0" algn="l" rtl="0">
              <a:lnSpc>
                <a:spcPct val="150000"/>
              </a:lnSpc>
              <a:spcBef>
                <a:spcPts val="0"/>
              </a:spcBef>
              <a:spcAft>
                <a:spcPts val="0"/>
              </a:spcAft>
              <a:buSzPts val="1800"/>
              <a:buNone/>
            </a:pPr>
            <a:r>
              <a:rPr lang="en-US" sz="2500" dirty="0">
                <a:latin typeface="Times New Roman"/>
                <a:ea typeface="Times New Roman"/>
                <a:cs typeface="Times New Roman"/>
                <a:sym typeface="Times New Roman"/>
              </a:rPr>
              <a:t>Can we estimate q(y)? Here are existing literatures:</a:t>
            </a:r>
            <a:endParaRPr sz="2500" dirty="0">
              <a:latin typeface="Times New Roman"/>
              <a:ea typeface="Times New Roman"/>
              <a:cs typeface="Times New Roman"/>
              <a:sym typeface="Times New Roman"/>
            </a:endParaRPr>
          </a:p>
          <a:p>
            <a:pPr marL="457200" lvl="0" indent="-387350" algn="l" rtl="0">
              <a:lnSpc>
                <a:spcPct val="15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Black Box Shift Estimator ¹</a:t>
            </a:r>
            <a:endParaRPr sz="2500" dirty="0">
              <a:latin typeface="Times New Roman"/>
              <a:ea typeface="Times New Roman"/>
              <a:cs typeface="Times New Roman"/>
              <a:sym typeface="Times New Roman"/>
            </a:endParaRPr>
          </a:p>
          <a:p>
            <a:pPr marL="914400" lvl="1" indent="-387350" algn="l" rtl="0">
              <a:lnSpc>
                <a:spcPct val="15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 uses confusion matrix + target prediction frequencies. </a:t>
            </a:r>
            <a:endParaRPr sz="2500" dirty="0">
              <a:latin typeface="Times New Roman"/>
              <a:ea typeface="Times New Roman"/>
              <a:cs typeface="Times New Roman"/>
              <a:sym typeface="Times New Roman"/>
            </a:endParaRPr>
          </a:p>
          <a:p>
            <a:pPr marL="457200" lvl="0" indent="-387350" algn="l" rtl="0">
              <a:lnSpc>
                <a:spcPct val="15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Maximum Likelihood Label Shift ²</a:t>
            </a:r>
            <a:endParaRPr sz="2500" dirty="0">
              <a:latin typeface="Times New Roman"/>
              <a:ea typeface="Times New Roman"/>
              <a:cs typeface="Times New Roman"/>
              <a:sym typeface="Times New Roman"/>
            </a:endParaRPr>
          </a:p>
          <a:p>
            <a:pPr marL="914400" lvl="1" indent="-387350" algn="l" rtl="0">
              <a:lnSpc>
                <a:spcPct val="15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uses likelihood-based estimation with EM algorithm.</a:t>
            </a:r>
            <a:endParaRPr sz="2500" dirty="0">
              <a:latin typeface="Times New Roman"/>
              <a:ea typeface="Times New Roman"/>
              <a:cs typeface="Times New Roman"/>
              <a:sym typeface="Times New Roman"/>
            </a:endParaRPr>
          </a:p>
          <a:p>
            <a:pPr marL="0" lvl="0" indent="0" algn="l" rtl="0">
              <a:lnSpc>
                <a:spcPct val="150000"/>
              </a:lnSpc>
              <a:spcBef>
                <a:spcPts val="0"/>
              </a:spcBef>
              <a:spcAft>
                <a:spcPts val="0"/>
              </a:spcAft>
              <a:buSzPts val="1800"/>
              <a:buNone/>
            </a:pPr>
            <a:r>
              <a:rPr lang="en-US" sz="2500" dirty="0">
                <a:latin typeface="Times New Roman"/>
                <a:ea typeface="Times New Roman"/>
                <a:cs typeface="Times New Roman"/>
                <a:sym typeface="Times New Roman"/>
              </a:rPr>
              <a:t>Then we can correct label shift</a:t>
            </a:r>
            <a:endParaRPr sz="2500" dirty="0">
              <a:latin typeface="Times New Roman"/>
              <a:ea typeface="Times New Roman"/>
              <a:cs typeface="Times New Roman"/>
              <a:sym typeface="Times New Roman"/>
            </a:endParaRPr>
          </a:p>
        </p:txBody>
      </p:sp>
      <p:sp>
        <p:nvSpPr>
          <p:cNvPr id="2" name="文本框 1">
            <a:extLst>
              <a:ext uri="{FF2B5EF4-FFF2-40B4-BE49-F238E27FC236}">
                <a16:creationId xmlns:a16="http://schemas.microsoft.com/office/drawing/2014/main" id="{0DA48E7F-8102-5CF4-293D-DD36855EA5B4}"/>
              </a:ext>
            </a:extLst>
          </p:cNvPr>
          <p:cNvSpPr txBox="1"/>
          <p:nvPr/>
        </p:nvSpPr>
        <p:spPr>
          <a:xfrm>
            <a:off x="1149350" y="5807485"/>
            <a:ext cx="10896600" cy="979755"/>
          </a:xfrm>
          <a:prstGeom prst="rect">
            <a:avLst/>
          </a:prstGeom>
          <a:noFill/>
        </p:spPr>
        <p:txBody>
          <a:bodyPr wrap="square" rtlCol="0">
            <a:spAutoFit/>
          </a:bodyPr>
          <a:lstStyle/>
          <a:p>
            <a:pPr lvl="0" eaLnBrk="0" fontAlgn="base" hangingPunct="0">
              <a:spcBef>
                <a:spcPct val="0"/>
              </a:spcBef>
              <a:spcAft>
                <a:spcPts val="200"/>
              </a:spcAft>
              <a:buClrTx/>
            </a:pPr>
            <a:r>
              <a:rPr lang="en-US" altLang="zh-CN" dirty="0">
                <a:solidFill>
                  <a:schemeClr val="bg2"/>
                </a:solidFill>
                <a:latin typeface="Times New Roman" panose="02020603050405020304" pitchFamily="18" charset="0"/>
                <a:cs typeface="Times New Roman" panose="02020603050405020304" pitchFamily="18" charset="0"/>
              </a:rPr>
              <a:t>1: </a:t>
            </a:r>
            <a:r>
              <a:rPr lang="zh-CN" altLang="zh-CN" dirty="0">
                <a:solidFill>
                  <a:schemeClr val="bg2"/>
                </a:solidFill>
                <a:latin typeface="Times New Roman" panose="02020603050405020304" pitchFamily="18" charset="0"/>
                <a:cs typeface="Times New Roman" panose="02020603050405020304" pitchFamily="18" charset="0"/>
              </a:rPr>
              <a:t>Lipton, Zachary C., Yu-Xiang Wang, and Alex Smola. 2018. “Detecting and Correcting for Label Shift with Black Box Predictors.” </a:t>
            </a:r>
            <a:r>
              <a:rPr lang="zh-CN" altLang="zh-CN" i="1" dirty="0">
                <a:solidFill>
                  <a:schemeClr val="bg2"/>
                </a:solidFill>
                <a:latin typeface="Times New Roman" panose="02020603050405020304" pitchFamily="18" charset="0"/>
                <a:cs typeface="Times New Roman" panose="02020603050405020304" pitchFamily="18" charset="0"/>
              </a:rPr>
              <a:t>arXiv [Cs.LG]</a:t>
            </a:r>
            <a:r>
              <a:rPr lang="zh-CN" altLang="zh-CN" dirty="0">
                <a:solidFill>
                  <a:schemeClr val="bg2"/>
                </a:solidFill>
                <a:latin typeface="Times New Roman" panose="02020603050405020304" pitchFamily="18" charset="0"/>
                <a:cs typeface="Times New Roman" panose="02020603050405020304" pitchFamily="18" charset="0"/>
              </a:rPr>
              <a:t>. arXiv. http://arxiv.org/abs/1802.03916.</a:t>
            </a:r>
          </a:p>
          <a:p>
            <a:r>
              <a:rPr lang="en-US" altLang="zh-CN" dirty="0">
                <a:solidFill>
                  <a:schemeClr val="bg2"/>
                </a:solidFill>
                <a:latin typeface="Times New Roman" panose="02020603050405020304" pitchFamily="18" charset="0"/>
                <a:cs typeface="Times New Roman" panose="02020603050405020304" pitchFamily="18" charset="0"/>
              </a:rPr>
              <a:t>2: </a:t>
            </a:r>
            <a:r>
              <a:rPr lang="zh-CN" altLang="zh-CN" dirty="0">
                <a:solidFill>
                  <a:schemeClr val="bg2"/>
                </a:solidFill>
                <a:latin typeface="Times New Roman" panose="02020603050405020304" pitchFamily="18" charset="0"/>
                <a:cs typeface="Times New Roman" panose="02020603050405020304" pitchFamily="18" charset="0"/>
              </a:rPr>
              <a:t>Garg, Saurabh, Yifan Wu, Sivaraman Balakrishnan, and Zachary C. Lipton. 2020. “A Unified View of Label Shift Estimation.” </a:t>
            </a:r>
            <a:r>
              <a:rPr lang="zh-CN" altLang="zh-CN" i="1" dirty="0">
                <a:solidFill>
                  <a:schemeClr val="bg2"/>
                </a:solidFill>
                <a:latin typeface="Times New Roman" panose="02020603050405020304" pitchFamily="18" charset="0"/>
                <a:cs typeface="Times New Roman" panose="02020603050405020304" pitchFamily="18" charset="0"/>
              </a:rPr>
              <a:t>arXiv [Cs.LG]</a:t>
            </a:r>
            <a:r>
              <a:rPr lang="zh-CN" altLang="zh-CN" dirty="0">
                <a:solidFill>
                  <a:schemeClr val="bg2"/>
                </a:solidFill>
                <a:latin typeface="Times New Roman" panose="02020603050405020304" pitchFamily="18" charset="0"/>
                <a:cs typeface="Times New Roman" panose="02020603050405020304" pitchFamily="18" charset="0"/>
              </a:rPr>
              <a:t>. arXiv. http://arxiv.org/abs/2003.07554.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5">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5">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B5585E0-0740-579B-14AB-A1ED6B5369E8}"/>
            </a:ext>
          </a:extLst>
        </p:cNvPr>
        <p:cNvGrpSpPr/>
        <p:nvPr/>
      </p:nvGrpSpPr>
      <p:grpSpPr>
        <a:xfrm>
          <a:off x="0" y="0"/>
          <a:ext cx="0" cy="0"/>
          <a:chOff x="0" y="0"/>
          <a:chExt cx="0" cy="0"/>
        </a:xfrm>
      </p:grpSpPr>
      <p:sp>
        <p:nvSpPr>
          <p:cNvPr id="90" name="Google Shape;90;g3d44f2775a5_0_36">
            <a:extLst>
              <a:ext uri="{FF2B5EF4-FFF2-40B4-BE49-F238E27FC236}">
                <a16:creationId xmlns:a16="http://schemas.microsoft.com/office/drawing/2014/main" id="{B675423B-FB58-CCB6-1E2B-980E8CE8A031}"/>
              </a:ext>
            </a:extLst>
          </p:cNvPr>
          <p:cNvSpPr txBox="1">
            <a:spLocks noGrp="1"/>
          </p:cNvSpPr>
          <p:nvPr>
            <p:ph type="title"/>
          </p:nvPr>
        </p:nvSpPr>
        <p:spPr>
          <a:xfrm>
            <a:off x="1461050" y="344764"/>
            <a:ext cx="9892800" cy="877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200"/>
              <a:buFont typeface="Cormorant"/>
              <a:buNone/>
            </a:pPr>
            <a:r>
              <a:rPr lang="en-US" dirty="0"/>
              <a:t>Black Box Shift Estimation (BBSE)</a:t>
            </a:r>
            <a:endParaRPr dirty="0">
              <a:solidFill>
                <a:srgbClr val="8C6D2C"/>
              </a:solidFill>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2287D47F-BE1E-EC33-5EA5-B200A5A997C5}"/>
                  </a:ext>
                </a:extLst>
              </p:cNvPr>
              <p:cNvSpPr txBox="1"/>
              <p:nvPr/>
            </p:nvSpPr>
            <p:spPr>
              <a:xfrm>
                <a:off x="1462616" y="2560031"/>
                <a:ext cx="9891234" cy="11912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i="1" smtClean="0">
                          <a:latin typeface="Cambria Math" panose="02040503050406030204" pitchFamily="18" charset="0"/>
                        </a:rPr>
                        <m:t>In</m:t>
                      </m:r>
                      <m:r>
                        <a:rPr lang="en-US" altLang="zh-CN" sz="2400" b="0" i="1" smtClean="0">
                          <a:latin typeface="Cambria Math" panose="02040503050406030204" pitchFamily="18" charset="0"/>
                        </a:rPr>
                        <m:t> </m:t>
                      </m:r>
                      <m:r>
                        <m:rPr>
                          <m:sty m:val="p"/>
                        </m:rPr>
                        <a:rPr lang="en-US" altLang="zh-CN" sz="2400" i="1">
                          <a:latin typeface="Cambria Math" panose="02040503050406030204" pitchFamily="18" charset="0"/>
                        </a:rPr>
                        <m:t>vector</m:t>
                      </m:r>
                      <m:r>
                        <a:rPr lang="en-US" altLang="zh-CN" sz="2400" b="0" i="1" smtClean="0">
                          <a:latin typeface="Cambria Math" panose="02040503050406030204" pitchFamily="18" charset="0"/>
                        </a:rPr>
                        <m:t> </m:t>
                      </m:r>
                      <m:r>
                        <m:rPr>
                          <m:sty m:val="p"/>
                        </m:rPr>
                        <a:rPr lang="en-US" altLang="zh-CN" sz="2400" i="1">
                          <a:latin typeface="Cambria Math" panose="02040503050406030204" pitchFamily="18" charset="0"/>
                        </a:rPr>
                        <m:t>form</m:t>
                      </m:r>
                      <m:r>
                        <a:rPr lang="en-US" altLang="zh-CN" sz="2400" b="0" i="1" smtClean="0">
                          <a:latin typeface="Cambria Math" panose="02040503050406030204" pitchFamily="18" charset="0"/>
                        </a:rPr>
                        <m:t>:</m:t>
                      </m:r>
                      <m:d>
                        <m:dPr>
                          <m:begChr m:val="["/>
                          <m:endChr m:val="]"/>
                          <m:ctrlPr>
                            <a:rPr lang="en-US" altLang="zh-CN" sz="2400" i="1" smtClean="0">
                              <a:latin typeface="Cambria Math" panose="02040503050406030204" pitchFamily="18" charset="0"/>
                            </a:rPr>
                          </m:ctrlPr>
                        </m:dPr>
                        <m:e>
                          <m:m>
                            <m:mPr>
                              <m:plcHide m:val="on"/>
                              <m:mcs>
                                <m:mc>
                                  <m:mcPr>
                                    <m:count m:val="1"/>
                                    <m:mcJc m:val="center"/>
                                  </m:mcPr>
                                </m:mc>
                              </m:mcs>
                              <m:ctrlPr>
                                <a:rPr lang="en-US" altLang="zh-CN" sz="2400" i="1">
                                  <a:latin typeface="Cambria Math" panose="02040503050406030204" pitchFamily="18" charset="0"/>
                                </a:rPr>
                              </m:ctrlPr>
                            </m:mPr>
                            <m:mr>
                              <m:e>
                                <m:eqArr>
                                  <m:eqArrPr>
                                    <m:ctrlPr>
                                      <a:rPr lang="en-US" altLang="zh-CN" sz="2400" i="1">
                                        <a:latin typeface="Cambria Math" panose="02040503050406030204" pitchFamily="18" charset="0"/>
                                      </a:rPr>
                                    </m:ctrlPr>
                                  </m:eqArrPr>
                                  <m:e>
                                    <m:r>
                                      <a:rPr lang="en-US" altLang="zh-CN" sz="2400" i="1">
                                        <a:latin typeface="Cambria Math" panose="02040503050406030204" pitchFamily="18" charset="0"/>
                                      </a:rPr>
                                      <m:t>𝑞</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𝑦</m:t>
                                            </m:r>
                                          </m:e>
                                        </m:acc>
                                        <m:r>
                                          <a:rPr lang="en-US" altLang="zh-CN" sz="2400" i="1">
                                            <a:latin typeface="Cambria Math" panose="02040503050406030204" pitchFamily="18" charset="0"/>
                                          </a:rPr>
                                          <m:t>=</m:t>
                                        </m:r>
                                        <m:r>
                                          <a:rPr lang="en-US" altLang="zh-CN" sz="2400" b="0" i="1" smtClean="0">
                                            <a:latin typeface="Cambria Math" panose="02040503050406030204" pitchFamily="18" charset="0"/>
                                          </a:rPr>
                                          <m:t>1</m:t>
                                        </m:r>
                                      </m:e>
                                    </m:d>
                                  </m:e>
                                  <m:e>
                                    <m:r>
                                      <a:rPr lang="en-US" altLang="zh-CN" sz="2400" i="1">
                                        <a:latin typeface="Cambria Math" panose="02040503050406030204" pitchFamily="18" charset="0"/>
                                      </a:rPr>
                                      <m:t>𝑞</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𝑦</m:t>
                                            </m:r>
                                          </m:e>
                                        </m:acc>
                                        <m:r>
                                          <a:rPr lang="en-US" altLang="zh-CN" sz="2400" i="1">
                                            <a:latin typeface="Cambria Math" panose="02040503050406030204" pitchFamily="18" charset="0"/>
                                          </a:rPr>
                                          <m:t>=</m:t>
                                        </m:r>
                                        <m:r>
                                          <a:rPr lang="en-US" altLang="zh-CN" sz="2400" b="0" i="1" smtClean="0">
                                            <a:latin typeface="Cambria Math" panose="02040503050406030204" pitchFamily="18" charset="0"/>
                                          </a:rPr>
                                          <m:t>0</m:t>
                                        </m:r>
                                      </m:e>
                                    </m:d>
                                  </m:e>
                                </m:eqArr>
                              </m:e>
                            </m:mr>
                          </m:m>
                        </m:e>
                      </m:d>
                      <m:r>
                        <a:rPr lang="en-US" altLang="zh-CN" sz="2400" i="1">
                          <a:latin typeface="Cambria Math" panose="02040503050406030204" pitchFamily="18" charset="0"/>
                        </a:rPr>
                        <m:t>=</m:t>
                      </m:r>
                      <m:d>
                        <m:dPr>
                          <m:begChr m:val="["/>
                          <m:endChr m:val="]"/>
                          <m:ctrlPr>
                            <a:rPr lang="en-US" altLang="zh-CN" sz="2400" i="1">
                              <a:latin typeface="Cambria Math" panose="02040503050406030204" pitchFamily="18" charset="0"/>
                            </a:rPr>
                          </m:ctrlPr>
                        </m:dPr>
                        <m:e>
                          <m:m>
                            <m:mPr>
                              <m:plcHide m:val="on"/>
                              <m:mcs>
                                <m:mc>
                                  <m:mcPr>
                                    <m:count m:val="2"/>
                                    <m:mcJc m:val="center"/>
                                  </m:mcPr>
                                </m:mc>
                              </m:mcs>
                              <m:ctrlPr>
                                <a:rPr lang="en-US" altLang="zh-CN" sz="2400" i="1">
                                  <a:latin typeface="Cambria Math" panose="02040503050406030204" pitchFamily="18" charset="0"/>
                                </a:rPr>
                              </m:ctrlPr>
                            </m:mPr>
                            <m:mr>
                              <m:e>
                                <m:r>
                                  <a:rPr lang="en-US" altLang="zh-CN" sz="2400" i="1">
                                    <a:latin typeface="Cambria Math" panose="02040503050406030204" pitchFamily="18" charset="0"/>
                                  </a:rPr>
                                  <m:t>𝑝</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𝑦</m:t>
                                        </m:r>
                                      </m:e>
                                    </m:acc>
                                    <m:r>
                                      <a:rPr lang="en-US" altLang="zh-CN" sz="2400" i="1">
                                        <a:latin typeface="Cambria Math" panose="02040503050406030204" pitchFamily="18" charset="0"/>
                                      </a:rPr>
                                      <m:t>=</m:t>
                                    </m:r>
                                    <m:r>
                                      <a:rPr lang="en-US" altLang="zh-CN" sz="2400" b="0" i="1" smtClean="0">
                                        <a:latin typeface="Cambria Math" panose="02040503050406030204" pitchFamily="18" charset="0"/>
                                      </a:rPr>
                                      <m:t>1</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=1</m:t>
                                    </m:r>
                                  </m:e>
                                </m:d>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smtClean="0">
                                        <a:latin typeface="Cambria Math" panose="02040503050406030204" pitchFamily="18" charset="0"/>
                                      </a:rPr>
                                      <m:t>1</m:t>
                                    </m:r>
                                  </m:sub>
                                </m:sSub>
                              </m:e>
                              <m:e>
                                <m:r>
                                  <a:rPr lang="en-US" altLang="zh-CN" sz="2400" i="1">
                                    <a:latin typeface="Cambria Math" panose="02040503050406030204" pitchFamily="18" charset="0"/>
                                  </a:rPr>
                                  <m:t>𝑝</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𝑦</m:t>
                                        </m:r>
                                      </m:e>
                                    </m:acc>
                                    <m:r>
                                      <a:rPr lang="en-US" altLang="zh-CN" sz="2400" i="1">
                                        <a:latin typeface="Cambria Math" panose="02040503050406030204" pitchFamily="18" charset="0"/>
                                      </a:rPr>
                                      <m:t>=</m:t>
                                    </m:r>
                                    <m:r>
                                      <a:rPr lang="en-US" altLang="zh-CN" sz="2400" b="0" i="1" smtClean="0">
                                        <a:latin typeface="Cambria Math" panose="02040503050406030204" pitchFamily="18" charset="0"/>
                                      </a:rPr>
                                      <m:t>1</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=0</m:t>
                                    </m:r>
                                  </m:e>
                                </m:d>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smtClean="0">
                                        <a:latin typeface="Cambria Math" panose="02040503050406030204" pitchFamily="18" charset="0"/>
                                      </a:rPr>
                                      <m:t>0</m:t>
                                    </m:r>
                                  </m:sub>
                                </m:sSub>
                              </m:e>
                            </m:mr>
                            <m:mr>
                              <m:e>
                                <m:r>
                                  <a:rPr lang="en-US" altLang="zh-CN" sz="2400" i="1">
                                    <a:latin typeface="Cambria Math" panose="02040503050406030204" pitchFamily="18" charset="0"/>
                                  </a:rPr>
                                  <m:t>𝑝</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𝑦</m:t>
                                        </m:r>
                                      </m:e>
                                    </m:acc>
                                    <m:r>
                                      <a:rPr lang="en-US" altLang="zh-CN" sz="2400" i="1">
                                        <a:latin typeface="Cambria Math" panose="02040503050406030204" pitchFamily="18" charset="0"/>
                                      </a:rPr>
                                      <m:t>=</m:t>
                                    </m:r>
                                    <m:r>
                                      <a:rPr lang="en-US" altLang="zh-CN" sz="2400" b="0" i="1" smtClean="0">
                                        <a:latin typeface="Cambria Math" panose="02040503050406030204" pitchFamily="18" charset="0"/>
                                      </a:rPr>
                                      <m:t>0</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=1</m:t>
                                    </m:r>
                                  </m:e>
                                </m:d>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smtClean="0">
                                        <a:latin typeface="Cambria Math" panose="02040503050406030204" pitchFamily="18" charset="0"/>
                                      </a:rPr>
                                      <m:t>1</m:t>
                                    </m:r>
                                  </m:sub>
                                </m:sSub>
                              </m:e>
                              <m:e>
                                <m:r>
                                  <a:rPr lang="en-US" altLang="zh-CN" sz="2400" i="1">
                                    <a:latin typeface="Cambria Math" panose="02040503050406030204" pitchFamily="18" charset="0"/>
                                  </a:rPr>
                                  <m:t>𝑝</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𝑦</m:t>
                                        </m:r>
                                      </m:e>
                                    </m:acc>
                                    <m:r>
                                      <a:rPr lang="en-US" altLang="zh-CN" sz="2400" i="1">
                                        <a:latin typeface="Cambria Math" panose="02040503050406030204" pitchFamily="18" charset="0"/>
                                      </a:rPr>
                                      <m:t>=</m:t>
                                    </m:r>
                                    <m:r>
                                      <a:rPr lang="en-US" altLang="zh-CN" sz="2400" b="0" i="1" smtClean="0">
                                        <a:latin typeface="Cambria Math" panose="02040503050406030204" pitchFamily="18" charset="0"/>
                                      </a:rPr>
                                      <m:t>0</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=0</m:t>
                                    </m:r>
                                  </m:e>
                                </m:d>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0</m:t>
                                    </m:r>
                                  </m:sub>
                                </m:sSub>
                              </m:e>
                            </m:mr>
                          </m:m>
                        </m:e>
                      </m:d>
                    </m:oMath>
                  </m:oMathPara>
                </a14:m>
                <a:endParaRPr lang="en-US" altLang="zh-CN" sz="2400" dirty="0"/>
              </a:p>
              <a:p>
                <a:endParaRPr lang="zh-CN" altLang="en-US" sz="2400" dirty="0"/>
              </a:p>
            </p:txBody>
          </p:sp>
        </mc:Choice>
        <mc:Fallback xmlns="">
          <p:sp>
            <p:nvSpPr>
              <p:cNvPr id="9" name="文本框 8">
                <a:extLst>
                  <a:ext uri="{FF2B5EF4-FFF2-40B4-BE49-F238E27FC236}">
                    <a16:creationId xmlns:a16="http://schemas.microsoft.com/office/drawing/2014/main" id="{2287D47F-BE1E-EC33-5EA5-B200A5A997C5}"/>
                  </a:ext>
                </a:extLst>
              </p:cNvPr>
              <p:cNvSpPr txBox="1">
                <a:spLocks noRot="1" noChangeAspect="1" noMove="1" noResize="1" noEditPoints="1" noAdjustHandles="1" noChangeArrowheads="1" noChangeShapeType="1" noTextEdit="1"/>
              </p:cNvSpPr>
              <p:nvPr/>
            </p:nvSpPr>
            <p:spPr>
              <a:xfrm>
                <a:off x="1462616" y="2560031"/>
                <a:ext cx="9891234" cy="119122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9D151B95-4FE5-233E-0311-640EBC24B407}"/>
                  </a:ext>
                </a:extLst>
              </p:cNvPr>
              <p:cNvSpPr txBox="1"/>
              <p:nvPr/>
            </p:nvSpPr>
            <p:spPr>
              <a:xfrm>
                <a:off x="3772533" y="3751255"/>
                <a:ext cx="4139338" cy="13437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400" i="1" smtClean="0">
                              <a:solidFill>
                                <a:srgbClr val="FF0000"/>
                              </a:solidFill>
                              <a:latin typeface="Cambria Math" panose="02040503050406030204" pitchFamily="18" charset="0"/>
                            </a:rPr>
                          </m:ctrlPr>
                        </m:dPr>
                        <m:e>
                          <m:m>
                            <m:mPr>
                              <m:plcHide m:val="on"/>
                              <m:mcs>
                                <m:mc>
                                  <m:mcPr>
                                    <m:count m:val="1"/>
                                    <m:mcJc m:val="center"/>
                                  </m:mcPr>
                                </m:mc>
                              </m:mcs>
                              <m:ctrlPr>
                                <a:rPr lang="en-US" altLang="zh-CN" sz="2400" i="1">
                                  <a:solidFill>
                                    <a:srgbClr val="FF0000"/>
                                  </a:solidFill>
                                  <a:latin typeface="Cambria Math" panose="02040503050406030204" pitchFamily="18" charset="0"/>
                                </a:rPr>
                              </m:ctrlPr>
                            </m:mPr>
                            <m:mr>
                              <m:e>
                                <m:eqArr>
                                  <m:eqArrPr>
                                    <m:ctrlPr>
                                      <a:rPr lang="en-US" altLang="zh-CN" sz="2400" b="0" i="1" smtClean="0">
                                        <a:solidFill>
                                          <a:schemeClr val="bg1"/>
                                        </a:solidFill>
                                        <a:latin typeface="Cambria Math" panose="02040503050406030204" pitchFamily="18" charset="0"/>
                                      </a:rPr>
                                    </m:ctrlPr>
                                  </m:eqArrPr>
                                  <m:e>
                                    <m:r>
                                      <a:rPr lang="en-US" altLang="zh-CN" sz="2400" b="0" i="1" smtClean="0">
                                        <a:solidFill>
                                          <a:schemeClr val="bg1"/>
                                        </a:solidFill>
                                        <a:latin typeface="Cambria Math" panose="02040503050406030204" pitchFamily="18" charset="0"/>
                                      </a:rPr>
                                      <m:t>1</m:t>
                                    </m:r>
                                  </m:e>
                                  <m:e>
                                    <m:r>
                                      <a:rPr lang="en-US" altLang="zh-CN" sz="2400" b="0" i="1" smtClean="0">
                                        <a:solidFill>
                                          <a:schemeClr val="bg1"/>
                                        </a:solidFill>
                                        <a:latin typeface="Cambria Math" panose="02040503050406030204" pitchFamily="18" charset="0"/>
                                      </a:rPr>
                                      <m:t>1      </m:t>
                                    </m:r>
                                  </m:e>
                                  <m:e>
                                    <m:r>
                                      <a:rPr lang="en-US" altLang="zh-CN" sz="2400" b="0" i="1" smtClean="0">
                                        <a:solidFill>
                                          <a:schemeClr val="bg1"/>
                                        </a:solidFill>
                                        <a:latin typeface="Cambria Math" panose="02040503050406030204" pitchFamily="18" charset="0"/>
                                      </a:rPr>
                                      <m:t>1</m:t>
                                    </m:r>
                                  </m:e>
                                </m:eqArr>
                              </m:e>
                            </m:mr>
                          </m:m>
                        </m:e>
                      </m:d>
                      <m:r>
                        <a:rPr lang="en-US" altLang="zh-CN" sz="2400" i="1">
                          <a:latin typeface="Cambria Math" panose="02040503050406030204" pitchFamily="18" charset="0"/>
                        </a:rPr>
                        <m:t>=</m:t>
                      </m:r>
                      <m:d>
                        <m:dPr>
                          <m:begChr m:val="["/>
                          <m:endChr m:val="]"/>
                          <m:ctrlPr>
                            <a:rPr lang="en-US" altLang="zh-CN" sz="2400" i="1">
                              <a:latin typeface="Cambria Math" panose="02040503050406030204" pitchFamily="18" charset="0"/>
                            </a:rPr>
                          </m:ctrlPr>
                        </m:dPr>
                        <m:e>
                          <m:eqArr>
                            <m:eqArrPr>
                              <m:ctrlPr>
                                <a:rPr lang="en-US" altLang="zh-CN" sz="2400" b="0" i="1" smtClean="0">
                                  <a:solidFill>
                                    <a:schemeClr val="bg1"/>
                                  </a:solidFill>
                                  <a:latin typeface="Cambria Math" panose="02040503050406030204" pitchFamily="18" charset="0"/>
                                </a:rPr>
                              </m:ctrlPr>
                            </m:eqArrPr>
                            <m:e>
                              <m:r>
                                <a:rPr lang="en-US" altLang="zh-CN" sz="2400" b="0" i="1" smtClean="0">
                                  <a:solidFill>
                                    <a:schemeClr val="bg1"/>
                                  </a:solidFill>
                                  <a:latin typeface="Cambria Math" panose="02040503050406030204" pitchFamily="18" charset="0"/>
                                </a:rPr>
                                <m:t>1</m:t>
                              </m:r>
                            </m:e>
                            <m:e>
                              <m:r>
                                <a:rPr lang="en-US" altLang="zh-CN" sz="2400" b="0" i="1" smtClean="0">
                                  <a:solidFill>
                                    <a:schemeClr val="bg1"/>
                                  </a:solidFill>
                                  <a:latin typeface="Cambria Math" panose="02040503050406030204" pitchFamily="18" charset="0"/>
                                </a:rPr>
                                <m:t>1</m:t>
                              </m:r>
                            </m:e>
                            <m:e>
                              <m:r>
                                <a:rPr lang="en-US" altLang="zh-CN" sz="2400" b="0" i="1" smtClean="0">
                                  <a:solidFill>
                                    <a:schemeClr val="bg1"/>
                                  </a:solidFill>
                                  <a:latin typeface="Cambria Math" panose="02040503050406030204" pitchFamily="18" charset="0"/>
                                </a:rPr>
                                <m:t>1                       </m:t>
                              </m:r>
                            </m:e>
                          </m:eqArr>
                        </m:e>
                      </m:d>
                      <m:d>
                        <m:dPr>
                          <m:begChr m:val="["/>
                          <m:endChr m:val="]"/>
                          <m:ctrlPr>
                            <a:rPr lang="en-US" altLang="zh-CN" sz="2400" i="1" smtClean="0">
                              <a:solidFill>
                                <a:srgbClr val="0070C0"/>
                              </a:solidFill>
                              <a:latin typeface="Cambria Math" panose="02040503050406030204" pitchFamily="18" charset="0"/>
                            </a:rPr>
                          </m:ctrlPr>
                        </m:dPr>
                        <m:e>
                          <m:m>
                            <m:mPr>
                              <m:plcHide m:val="on"/>
                              <m:mcs>
                                <m:mc>
                                  <m:mcPr>
                                    <m:count m:val="1"/>
                                    <m:mcJc m:val="center"/>
                                  </m:mcPr>
                                </m:mc>
                              </m:mcs>
                              <m:ctrlPr>
                                <a:rPr lang="en-US" altLang="zh-CN" sz="2400" i="1">
                                  <a:solidFill>
                                    <a:srgbClr val="0070C0"/>
                                  </a:solidFill>
                                  <a:latin typeface="Cambria Math" panose="02040503050406030204" pitchFamily="18" charset="0"/>
                                </a:rPr>
                              </m:ctrlPr>
                            </m:mPr>
                            <m:mr>
                              <m:e>
                                <m:eqArr>
                                  <m:eqArrPr>
                                    <m:ctrlPr>
                                      <a:rPr lang="en-US" altLang="zh-CN" sz="2400" b="0" i="1" smtClean="0">
                                        <a:solidFill>
                                          <a:schemeClr val="bg1"/>
                                        </a:solidFill>
                                        <a:latin typeface="Cambria Math" panose="02040503050406030204" pitchFamily="18" charset="0"/>
                                      </a:rPr>
                                    </m:ctrlPr>
                                  </m:eqArrPr>
                                  <m:e>
                                    <m:r>
                                      <a:rPr lang="en-US" altLang="zh-CN" sz="2400" b="0" i="1" smtClean="0">
                                        <a:solidFill>
                                          <a:schemeClr val="bg1"/>
                                        </a:solidFill>
                                        <a:latin typeface="Cambria Math" panose="02040503050406030204" pitchFamily="18" charset="0"/>
                                      </a:rPr>
                                      <m:t>1</m:t>
                                    </m:r>
                                  </m:e>
                                  <m:e>
                                    <m:r>
                                      <a:rPr lang="en-US" altLang="zh-CN" sz="2400" b="0" i="1" smtClean="0">
                                        <a:solidFill>
                                          <a:schemeClr val="bg1"/>
                                        </a:solidFill>
                                        <a:latin typeface="Cambria Math" panose="02040503050406030204" pitchFamily="18" charset="0"/>
                                      </a:rPr>
                                      <m:t>1</m:t>
                                    </m:r>
                                  </m:e>
                                  <m:e>
                                    <m:r>
                                      <a:rPr lang="en-US" altLang="zh-CN" sz="2400" b="0" i="1" smtClean="0">
                                        <a:solidFill>
                                          <a:schemeClr val="bg1"/>
                                        </a:solidFill>
                                        <a:latin typeface="Cambria Math" panose="02040503050406030204" pitchFamily="18" charset="0"/>
                                      </a:rPr>
                                      <m:t>1      </m:t>
                                    </m:r>
                                  </m:e>
                                </m:eqArr>
                              </m:e>
                            </m:mr>
                          </m:m>
                        </m:e>
                      </m:d>
                    </m:oMath>
                  </m:oMathPara>
                </a14:m>
                <a:endParaRPr lang="en-US" altLang="zh-CN" sz="2400" dirty="0"/>
              </a:p>
              <a:p>
                <a:pPr/>
                <a14:m>
                  <m:oMathPara xmlns:m="http://schemas.openxmlformats.org/officeDocument/2006/math">
                    <m:oMathParaPr>
                      <m:jc m:val="centerGroup"/>
                    </m:oMathParaPr>
                    <m:oMath xmlns:m="http://schemas.openxmlformats.org/officeDocument/2006/math">
                      <m:r>
                        <a:rPr lang="en-US" altLang="zh-CN" sz="2400" b="0" i="1" smtClean="0">
                          <a:solidFill>
                            <a:srgbClr val="FF0000"/>
                          </a:solidFill>
                          <a:latin typeface="Cambria Math" panose="02040503050406030204" pitchFamily="18" charset="0"/>
                        </a:rPr>
                        <m:t> </m:t>
                      </m:r>
                      <m:r>
                        <a:rPr lang="en-US" altLang="zh-CN" sz="2400" i="1" smtClean="0">
                          <a:solidFill>
                            <a:srgbClr val="FF0000"/>
                          </a:solidFill>
                          <a:latin typeface="Cambria Math" panose="02040503050406030204" pitchFamily="18" charset="0"/>
                        </a:rPr>
                        <m:t>𝜇</m:t>
                      </m:r>
                      <m:r>
                        <a:rPr lang="en-US" altLang="zh-CN" sz="2400" b="0" i="1" smtClean="0">
                          <a:solidFill>
                            <a:srgbClr val="FF0000"/>
                          </a:solidFill>
                          <a:latin typeface="Cambria Math" panose="02040503050406030204" pitchFamily="18" charset="0"/>
                        </a:rPr>
                        <m:t> </m:t>
                      </m:r>
                      <m:r>
                        <a:rPr lang="en-US" altLang="zh-CN" sz="2400" i="1" smtClean="0">
                          <a:latin typeface="Cambria Math" panose="02040503050406030204" pitchFamily="18" charset="0"/>
                        </a:rPr>
                        <m:t> </m:t>
                      </m:r>
                      <m:r>
                        <a:rPr lang="en-US" altLang="zh-CN" sz="2400" b="0" i="1" smtClean="0">
                          <a:latin typeface="Cambria Math" panose="02040503050406030204" pitchFamily="18" charset="0"/>
                        </a:rPr>
                        <m:t>                     </m:t>
                      </m:r>
                      <m:r>
                        <a:rPr lang="en-US" altLang="zh-CN" sz="2400" i="1" smtClean="0">
                          <a:latin typeface="Cambria Math" panose="02040503050406030204" pitchFamily="18" charset="0"/>
                        </a:rPr>
                        <m:t>𝐶</m:t>
                      </m:r>
                      <m:r>
                        <a:rPr lang="en-US" altLang="zh-CN" sz="2400" i="1" smtClean="0">
                          <a:latin typeface="Cambria Math" panose="02040503050406030204" pitchFamily="18" charset="0"/>
                        </a:rPr>
                        <m:t>                    </m:t>
                      </m:r>
                      <m:r>
                        <a:rPr lang="en-US" altLang="zh-CN" sz="2400" i="1" smtClean="0">
                          <a:solidFill>
                            <a:srgbClr val="0070C0"/>
                          </a:solidFill>
                          <a:latin typeface="Cambria Math" panose="02040503050406030204" pitchFamily="18" charset="0"/>
                        </a:rPr>
                        <m:t>𝑤</m:t>
                      </m:r>
                    </m:oMath>
                  </m:oMathPara>
                </a14:m>
                <a:endParaRPr lang="en-US" altLang="zh-CN" sz="2400" dirty="0"/>
              </a:p>
            </p:txBody>
          </p:sp>
        </mc:Choice>
        <mc:Fallback xmlns="">
          <p:sp>
            <p:nvSpPr>
              <p:cNvPr id="14" name="文本框 13">
                <a:extLst>
                  <a:ext uri="{FF2B5EF4-FFF2-40B4-BE49-F238E27FC236}">
                    <a16:creationId xmlns:a16="http://schemas.microsoft.com/office/drawing/2014/main" id="{9D151B95-4FE5-233E-0311-640EBC24B407}"/>
                  </a:ext>
                </a:extLst>
              </p:cNvPr>
              <p:cNvSpPr txBox="1">
                <a:spLocks noRot="1" noChangeAspect="1" noMove="1" noResize="1" noEditPoints="1" noAdjustHandles="1" noChangeArrowheads="1" noChangeShapeType="1" noTextEdit="1"/>
              </p:cNvSpPr>
              <p:nvPr/>
            </p:nvSpPr>
            <p:spPr>
              <a:xfrm>
                <a:off x="3772533" y="3751255"/>
                <a:ext cx="4139338" cy="1343701"/>
              </a:xfrm>
              <a:prstGeom prst="rect">
                <a:avLst/>
              </a:prstGeom>
              <a:blipFill>
                <a:blip r:embed="rId4"/>
                <a:stretch>
                  <a:fillRect b="-63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1314EDF-2890-9DDF-940A-8F59716E682D}"/>
                  </a:ext>
                </a:extLst>
              </p:cNvPr>
              <p:cNvSpPr txBox="1"/>
              <p:nvPr/>
            </p:nvSpPr>
            <p:spPr>
              <a:xfrm>
                <a:off x="3772533" y="5317589"/>
                <a:ext cx="4435638" cy="17852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d>
                            <m:dPr>
                              <m:begChr m:val="["/>
                              <m:endChr m:val="]"/>
                              <m:ctrlPr>
                                <a:rPr lang="en-US" altLang="zh-CN" sz="2400" i="1">
                                  <a:latin typeface="Cambria Math" panose="02040503050406030204" pitchFamily="18" charset="0"/>
                                </a:rPr>
                              </m:ctrlPr>
                            </m:dPr>
                            <m:e>
                              <m:eqArr>
                                <m:eqArrPr>
                                  <m:ctrlPr>
                                    <a:rPr lang="en-US" altLang="zh-CN" sz="2400" i="1">
                                      <a:solidFill>
                                        <a:schemeClr val="bg1"/>
                                      </a:solidFill>
                                      <a:latin typeface="Cambria Math" panose="02040503050406030204" pitchFamily="18" charset="0"/>
                                    </a:rPr>
                                  </m:ctrlPr>
                                </m:eqArrPr>
                                <m:e>
                                  <m:r>
                                    <a:rPr lang="en-US" altLang="zh-CN" sz="2400" i="1">
                                      <a:solidFill>
                                        <a:schemeClr val="bg1"/>
                                      </a:solidFill>
                                      <a:latin typeface="Cambria Math" panose="02040503050406030204" pitchFamily="18" charset="0"/>
                                    </a:rPr>
                                    <m:t>1</m:t>
                                  </m:r>
                                </m:e>
                                <m:e>
                                  <m:r>
                                    <a:rPr lang="en-US" altLang="zh-CN" sz="2400" i="1">
                                      <a:solidFill>
                                        <a:schemeClr val="bg1"/>
                                      </a:solidFill>
                                      <a:latin typeface="Cambria Math" panose="02040503050406030204" pitchFamily="18" charset="0"/>
                                    </a:rPr>
                                    <m:t>1</m:t>
                                  </m:r>
                                </m:e>
                                <m:e>
                                  <m:r>
                                    <a:rPr lang="en-US" altLang="zh-CN" sz="2400" i="1">
                                      <a:solidFill>
                                        <a:schemeClr val="bg1"/>
                                      </a:solidFill>
                                      <a:latin typeface="Cambria Math" panose="02040503050406030204" pitchFamily="18" charset="0"/>
                                    </a:rPr>
                                    <m:t>1                       </m:t>
                                  </m:r>
                                </m:e>
                              </m:eqArr>
                            </m:e>
                          </m:d>
                        </m:e>
                        <m:sup>
                          <m:r>
                            <a:rPr lang="en-US" altLang="zh-CN" sz="2400" b="0" i="1" smtClean="0">
                              <a:latin typeface="Cambria Math" panose="02040503050406030204" pitchFamily="18" charset="0"/>
                            </a:rPr>
                            <m:t>−1</m:t>
                          </m:r>
                        </m:sup>
                      </m:sSup>
                      <m:d>
                        <m:dPr>
                          <m:begChr m:val="["/>
                          <m:endChr m:val="]"/>
                          <m:ctrlPr>
                            <a:rPr lang="en-US" altLang="zh-CN" sz="2400" i="1">
                              <a:solidFill>
                                <a:srgbClr val="FF0000"/>
                              </a:solidFill>
                              <a:latin typeface="Cambria Math" panose="02040503050406030204" pitchFamily="18" charset="0"/>
                            </a:rPr>
                          </m:ctrlPr>
                        </m:dPr>
                        <m:e>
                          <m:m>
                            <m:mPr>
                              <m:plcHide m:val="on"/>
                              <m:mcs>
                                <m:mc>
                                  <m:mcPr>
                                    <m:count m:val="1"/>
                                    <m:mcJc m:val="center"/>
                                  </m:mcPr>
                                </m:mc>
                              </m:mcs>
                              <m:ctrlPr>
                                <a:rPr lang="en-US" altLang="zh-CN" sz="2400" i="1">
                                  <a:solidFill>
                                    <a:srgbClr val="FF0000"/>
                                  </a:solidFill>
                                  <a:latin typeface="Cambria Math" panose="02040503050406030204" pitchFamily="18" charset="0"/>
                                </a:rPr>
                              </m:ctrlPr>
                            </m:mPr>
                            <m:mr>
                              <m:e>
                                <m:eqArr>
                                  <m:eqArrPr>
                                    <m:ctrlPr>
                                      <a:rPr lang="en-US" altLang="zh-CN" sz="2400" i="1">
                                        <a:solidFill>
                                          <a:schemeClr val="bg1"/>
                                        </a:solidFill>
                                        <a:latin typeface="Cambria Math" panose="02040503050406030204" pitchFamily="18" charset="0"/>
                                      </a:rPr>
                                    </m:ctrlPr>
                                  </m:eqArrPr>
                                  <m:e>
                                    <m:r>
                                      <a:rPr lang="en-US" altLang="zh-CN" sz="2400" i="1">
                                        <a:solidFill>
                                          <a:schemeClr val="bg1"/>
                                        </a:solidFill>
                                        <a:latin typeface="Cambria Math" panose="02040503050406030204" pitchFamily="18" charset="0"/>
                                      </a:rPr>
                                      <m:t>1</m:t>
                                    </m:r>
                                  </m:e>
                                  <m:e>
                                    <m:r>
                                      <a:rPr lang="en-US" altLang="zh-CN" sz="2400" i="1">
                                        <a:solidFill>
                                          <a:schemeClr val="bg1"/>
                                        </a:solidFill>
                                        <a:latin typeface="Cambria Math" panose="02040503050406030204" pitchFamily="18" charset="0"/>
                                      </a:rPr>
                                      <m:t>1      </m:t>
                                    </m:r>
                                  </m:e>
                                  <m:e>
                                    <m:r>
                                      <a:rPr lang="en-US" altLang="zh-CN" sz="2400" i="1">
                                        <a:solidFill>
                                          <a:schemeClr val="bg1"/>
                                        </a:solidFill>
                                        <a:latin typeface="Cambria Math" panose="02040503050406030204" pitchFamily="18" charset="0"/>
                                      </a:rPr>
                                      <m:t>1</m:t>
                                    </m:r>
                                  </m:e>
                                </m:eqArr>
                              </m:e>
                            </m:mr>
                          </m:m>
                        </m:e>
                      </m:d>
                      <m:r>
                        <a:rPr lang="en-US" altLang="zh-CN" sz="2400" i="1">
                          <a:latin typeface="Cambria Math" panose="02040503050406030204" pitchFamily="18" charset="0"/>
                        </a:rPr>
                        <m:t>=</m:t>
                      </m:r>
                      <m:d>
                        <m:dPr>
                          <m:begChr m:val="["/>
                          <m:endChr m:val="]"/>
                          <m:ctrlPr>
                            <a:rPr lang="en-US" altLang="zh-CN" sz="2400" i="1" smtClean="0">
                              <a:solidFill>
                                <a:srgbClr val="0070C0"/>
                              </a:solidFill>
                              <a:latin typeface="Cambria Math" panose="02040503050406030204" pitchFamily="18" charset="0"/>
                            </a:rPr>
                          </m:ctrlPr>
                        </m:dPr>
                        <m:e>
                          <m:m>
                            <m:mPr>
                              <m:plcHide m:val="on"/>
                              <m:mcs>
                                <m:mc>
                                  <m:mcPr>
                                    <m:count m:val="1"/>
                                    <m:mcJc m:val="center"/>
                                  </m:mcPr>
                                </m:mc>
                              </m:mcs>
                              <m:ctrlPr>
                                <a:rPr lang="en-US" altLang="zh-CN" sz="2400" i="1">
                                  <a:solidFill>
                                    <a:srgbClr val="0070C0"/>
                                  </a:solidFill>
                                  <a:latin typeface="Cambria Math" panose="02040503050406030204" pitchFamily="18" charset="0"/>
                                </a:rPr>
                              </m:ctrlPr>
                            </m:mPr>
                            <m:mr>
                              <m:e>
                                <m:eqArr>
                                  <m:eqArrPr>
                                    <m:ctrlPr>
                                      <a:rPr lang="en-US" altLang="zh-CN" sz="2400" b="0" i="1" smtClean="0">
                                        <a:solidFill>
                                          <a:schemeClr val="bg1"/>
                                        </a:solidFill>
                                        <a:latin typeface="Cambria Math" panose="02040503050406030204" pitchFamily="18" charset="0"/>
                                      </a:rPr>
                                    </m:ctrlPr>
                                  </m:eqArrPr>
                                  <m:e>
                                    <m:r>
                                      <a:rPr lang="en-US" altLang="zh-CN" sz="2400" b="0" i="1" smtClean="0">
                                        <a:solidFill>
                                          <a:schemeClr val="bg1"/>
                                        </a:solidFill>
                                        <a:latin typeface="Cambria Math" panose="02040503050406030204" pitchFamily="18" charset="0"/>
                                      </a:rPr>
                                      <m:t>1</m:t>
                                    </m:r>
                                  </m:e>
                                  <m:e>
                                    <m:r>
                                      <a:rPr lang="en-US" altLang="zh-CN" sz="2400" b="0" i="1" smtClean="0">
                                        <a:solidFill>
                                          <a:schemeClr val="bg1"/>
                                        </a:solidFill>
                                        <a:latin typeface="Cambria Math" panose="02040503050406030204" pitchFamily="18" charset="0"/>
                                      </a:rPr>
                                      <m:t>1</m:t>
                                    </m:r>
                                  </m:e>
                                  <m:e>
                                    <m:r>
                                      <a:rPr lang="en-US" altLang="zh-CN" sz="2400" b="0" i="1" smtClean="0">
                                        <a:solidFill>
                                          <a:schemeClr val="bg1"/>
                                        </a:solidFill>
                                        <a:latin typeface="Cambria Math" panose="02040503050406030204" pitchFamily="18" charset="0"/>
                                      </a:rPr>
                                      <m:t>1      </m:t>
                                    </m:r>
                                  </m:e>
                                </m:eqArr>
                              </m:e>
                            </m:mr>
                          </m:m>
                        </m:e>
                      </m:d>
                    </m:oMath>
                  </m:oMathPara>
                </a14:m>
                <a:endParaRPr lang="en-US" altLang="zh-CN" sz="2400" dirty="0">
                  <a:solidFill>
                    <a:srgbClr val="0070C0"/>
                  </a:solidFill>
                </a:endParaRPr>
              </a:p>
              <a:p>
                <a:pPr/>
                <a14:m>
                  <m:oMathPara xmlns:m="http://schemas.openxmlformats.org/officeDocument/2006/math">
                    <m:oMathParaPr>
                      <m:jc m:val="centerGroup"/>
                    </m:oMathParaPr>
                    <m:oMath xmlns:m="http://schemas.openxmlformats.org/officeDocument/2006/math">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𝐶</m:t>
                          </m:r>
                        </m:e>
                        <m:sup>
                          <m:r>
                            <a:rPr lang="en-US" altLang="zh-CN" sz="2400" b="0" i="1" smtClean="0">
                              <a:latin typeface="Cambria Math" panose="02040503050406030204" pitchFamily="18" charset="0"/>
                            </a:rPr>
                            <m:t>−1</m:t>
                          </m:r>
                        </m:sup>
                      </m:sSup>
                      <m:r>
                        <a:rPr lang="en-US" altLang="zh-CN" sz="2400" b="0" i="1" smtClean="0">
                          <a:latin typeface="Cambria Math" panose="02040503050406030204" pitchFamily="18" charset="0"/>
                        </a:rPr>
                        <m:t>                      </m:t>
                      </m:r>
                      <m:r>
                        <a:rPr lang="en-US" altLang="zh-CN" sz="2400" b="0" i="1" smtClean="0">
                          <a:solidFill>
                            <a:srgbClr val="FF0000"/>
                          </a:solidFill>
                          <a:latin typeface="Cambria Math" panose="02040503050406030204" pitchFamily="18" charset="0"/>
                        </a:rPr>
                        <m:t>𝜇</m:t>
                      </m:r>
                      <m:r>
                        <a:rPr lang="en-US" altLang="zh-CN" sz="2400" b="0" i="1" smtClean="0">
                          <a:latin typeface="Cambria Math" panose="02040503050406030204" pitchFamily="18" charset="0"/>
                        </a:rPr>
                        <m:t>               </m:t>
                      </m:r>
                      <m:r>
                        <a:rPr lang="en-US" altLang="zh-CN" sz="2400" b="0" i="1" smtClean="0">
                          <a:solidFill>
                            <a:srgbClr val="0070C0"/>
                          </a:solidFill>
                          <a:latin typeface="Cambria Math" panose="02040503050406030204" pitchFamily="18" charset="0"/>
                        </a:rPr>
                        <m:t>𝑤</m:t>
                      </m:r>
                    </m:oMath>
                  </m:oMathPara>
                </a14:m>
                <a:endParaRPr lang="en-US" altLang="zh-CN" sz="2400" b="0" dirty="0">
                  <a:solidFill>
                    <a:srgbClr val="0070C0"/>
                  </a:solidFill>
                </a:endParaRPr>
              </a:p>
              <a:p>
                <a:endParaRPr lang="en-US" altLang="zh-CN" sz="2400" dirty="0"/>
              </a:p>
            </p:txBody>
          </p:sp>
        </mc:Choice>
        <mc:Fallback xmlns="">
          <p:sp>
            <p:nvSpPr>
              <p:cNvPr id="15" name="文本框 14">
                <a:extLst>
                  <a:ext uri="{FF2B5EF4-FFF2-40B4-BE49-F238E27FC236}">
                    <a16:creationId xmlns:a16="http://schemas.microsoft.com/office/drawing/2014/main" id="{A1314EDF-2890-9DDF-940A-8F59716E682D}"/>
                  </a:ext>
                </a:extLst>
              </p:cNvPr>
              <p:cNvSpPr txBox="1">
                <a:spLocks noRot="1" noChangeAspect="1" noMove="1" noResize="1" noEditPoints="1" noAdjustHandles="1" noChangeArrowheads="1" noChangeShapeType="1" noTextEdit="1"/>
              </p:cNvSpPr>
              <p:nvPr/>
            </p:nvSpPr>
            <p:spPr>
              <a:xfrm>
                <a:off x="3772533" y="5317589"/>
                <a:ext cx="4435638" cy="1785232"/>
              </a:xfrm>
              <a:prstGeom prst="rect">
                <a:avLst/>
              </a:prstGeom>
              <a:blipFill>
                <a:blip r:embed="rId5"/>
                <a:stretch>
                  <a:fillRect/>
                </a:stretch>
              </a:blipFill>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962060C4-7171-993D-E0E7-41CE492922AD}"/>
              </a:ext>
            </a:extLst>
          </p:cNvPr>
          <p:cNvSpPr/>
          <p:nvPr/>
        </p:nvSpPr>
        <p:spPr>
          <a:xfrm>
            <a:off x="3960282" y="2566639"/>
            <a:ext cx="1193800" cy="41672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3C61DC76-9EBE-0510-F452-8DC5E60FAED0}"/>
              </a:ext>
            </a:extLst>
          </p:cNvPr>
          <p:cNvSpPr/>
          <p:nvPr/>
        </p:nvSpPr>
        <p:spPr>
          <a:xfrm>
            <a:off x="3960282" y="3021459"/>
            <a:ext cx="1193800" cy="41672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6647E3A7-241E-EE2A-BE91-07E35E1E77D2}"/>
              </a:ext>
            </a:extLst>
          </p:cNvPr>
          <p:cNvSpPr/>
          <p:nvPr/>
        </p:nvSpPr>
        <p:spPr>
          <a:xfrm>
            <a:off x="7787215" y="2638089"/>
            <a:ext cx="338667" cy="345276"/>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20" name="矩形 19">
            <a:extLst>
              <a:ext uri="{FF2B5EF4-FFF2-40B4-BE49-F238E27FC236}">
                <a16:creationId xmlns:a16="http://schemas.microsoft.com/office/drawing/2014/main" id="{15BD03E6-9889-B9BE-C55D-070241513CAB}"/>
              </a:ext>
            </a:extLst>
          </p:cNvPr>
          <p:cNvSpPr/>
          <p:nvPr/>
        </p:nvSpPr>
        <p:spPr>
          <a:xfrm>
            <a:off x="7787214" y="3033360"/>
            <a:ext cx="338667" cy="345276"/>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21" name="矩形 20">
            <a:extLst>
              <a:ext uri="{FF2B5EF4-FFF2-40B4-BE49-F238E27FC236}">
                <a16:creationId xmlns:a16="http://schemas.microsoft.com/office/drawing/2014/main" id="{DD26F101-69FB-688F-39B7-F24D44C0D57A}"/>
              </a:ext>
            </a:extLst>
          </p:cNvPr>
          <p:cNvSpPr/>
          <p:nvPr/>
        </p:nvSpPr>
        <p:spPr>
          <a:xfrm>
            <a:off x="10479615" y="2650249"/>
            <a:ext cx="338667" cy="345276"/>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22" name="矩形 21">
            <a:extLst>
              <a:ext uri="{FF2B5EF4-FFF2-40B4-BE49-F238E27FC236}">
                <a16:creationId xmlns:a16="http://schemas.microsoft.com/office/drawing/2014/main" id="{F33D55CD-5B4A-965B-DB7A-341E09E1F045}"/>
              </a:ext>
            </a:extLst>
          </p:cNvPr>
          <p:cNvSpPr/>
          <p:nvPr/>
        </p:nvSpPr>
        <p:spPr>
          <a:xfrm>
            <a:off x="10479614" y="3040928"/>
            <a:ext cx="338667" cy="345276"/>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FC33057-0405-0145-02DC-DA45455102F9}"/>
                  </a:ext>
                </a:extLst>
              </p:cNvPr>
              <p:cNvSpPr txBox="1"/>
              <p:nvPr/>
            </p:nvSpPr>
            <p:spPr>
              <a:xfrm>
                <a:off x="1323637" y="1216330"/>
                <a:ext cx="6096000" cy="8722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𝑫𝒆𝒇𝒊𝒏𝒆</m:t>
                      </m:r>
                      <m:r>
                        <a:rPr lang="en-US" altLang="zh-CN" sz="2400" b="1" i="1" smtClean="0">
                          <a:latin typeface="Cambria Math" panose="02040503050406030204" pitchFamily="18" charset="0"/>
                        </a:rPr>
                        <m:t>: </m:t>
                      </m:r>
                      <m:sSub>
                        <m:sSubPr>
                          <m:ctrlPr>
                            <a:rPr lang="en-US" altLang="zh-CN" sz="2400" b="1" i="1" smtClean="0">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b="1" i="1">
                              <a:latin typeface="Cambria Math" panose="02040503050406030204" pitchFamily="18" charset="0"/>
                            </a:rPr>
                            <m:t>𝟏</m:t>
                          </m:r>
                        </m:sub>
                      </m:sSub>
                      <m:r>
                        <a:rPr lang="es-ES" altLang="zh-CN" sz="2400" b="1" i="1" smtClean="0">
                          <a:latin typeface="Cambria Math" panose="02040503050406030204" pitchFamily="18" charset="0"/>
                          <a:ea typeface="Times New Roman"/>
                          <a:cs typeface="Times New Roman"/>
                          <a:sym typeface="Times New Roman"/>
                        </a:rPr>
                        <m:t>=</m:t>
                      </m:r>
                      <m:f>
                        <m:fPr>
                          <m:ctrlPr>
                            <a:rPr lang="es-ES" altLang="zh-CN" sz="2400" b="1" i="1">
                              <a:latin typeface="Cambria Math" panose="02040503050406030204" pitchFamily="18" charset="0"/>
                              <a:ea typeface="Times New Roman"/>
                              <a:cs typeface="Times New Roman"/>
                              <a:sym typeface="Times New Roman"/>
                            </a:rPr>
                          </m:ctrlPr>
                        </m:fPr>
                        <m:num>
                          <m:r>
                            <a:rPr lang="es-ES" altLang="zh-CN" sz="2400" b="1" i="1">
                              <a:latin typeface="Cambria Math" panose="02040503050406030204" pitchFamily="18" charset="0"/>
                              <a:ea typeface="Times New Roman"/>
                              <a:cs typeface="Times New Roman"/>
                              <a:sym typeface="Times New Roman"/>
                            </a:rPr>
                            <m:t>𝒒</m:t>
                          </m:r>
                          <m:d>
                            <m:dPr>
                              <m:ctrlPr>
                                <a:rPr lang="es-ES" altLang="zh-CN" sz="2400" b="1" i="1">
                                  <a:latin typeface="Cambria Math" panose="02040503050406030204" pitchFamily="18" charset="0"/>
                                  <a:ea typeface="Times New Roman"/>
                                  <a:cs typeface="Times New Roman"/>
                                  <a:sym typeface="Times New Roman"/>
                                </a:rPr>
                              </m:ctrlPr>
                            </m:dPr>
                            <m:e>
                              <m:r>
                                <a:rPr lang="es-ES" altLang="zh-CN" sz="2400" b="1" i="1">
                                  <a:latin typeface="Cambria Math" panose="02040503050406030204" pitchFamily="18" charset="0"/>
                                  <a:ea typeface="Times New Roman"/>
                                  <a:cs typeface="Times New Roman"/>
                                  <a:sym typeface="Times New Roman"/>
                                </a:rPr>
                                <m:t>𝒚</m:t>
                              </m:r>
                              <m:r>
                                <a:rPr lang="es-ES" altLang="zh-CN" sz="2400" b="1" i="1">
                                  <a:latin typeface="Cambria Math" panose="02040503050406030204" pitchFamily="18" charset="0"/>
                                  <a:ea typeface="Times New Roman"/>
                                  <a:cs typeface="Times New Roman"/>
                                  <a:sym typeface="Times New Roman"/>
                                </a:rPr>
                                <m:t>=</m:t>
                              </m:r>
                              <m:r>
                                <a:rPr lang="es-ES" altLang="zh-CN" sz="2400" b="1" i="1">
                                  <a:latin typeface="Cambria Math" panose="02040503050406030204" pitchFamily="18" charset="0"/>
                                  <a:ea typeface="Times New Roman"/>
                                  <a:cs typeface="Times New Roman"/>
                                  <a:sym typeface="Times New Roman"/>
                                </a:rPr>
                                <m:t>𝟏</m:t>
                              </m:r>
                            </m:e>
                          </m:d>
                        </m:num>
                        <m:den>
                          <m:r>
                            <a:rPr lang="es-ES" altLang="zh-CN" sz="2400" b="1" i="1">
                              <a:latin typeface="Cambria Math" panose="02040503050406030204" pitchFamily="18" charset="0"/>
                              <a:ea typeface="Times New Roman"/>
                              <a:cs typeface="Times New Roman"/>
                              <a:sym typeface="Times New Roman"/>
                            </a:rPr>
                            <m:t>𝒑</m:t>
                          </m:r>
                          <m:d>
                            <m:dPr>
                              <m:ctrlPr>
                                <a:rPr lang="es-ES" altLang="zh-CN" sz="2400" b="1" i="1">
                                  <a:latin typeface="Cambria Math" panose="02040503050406030204" pitchFamily="18" charset="0"/>
                                  <a:ea typeface="Times New Roman"/>
                                  <a:cs typeface="Times New Roman"/>
                                  <a:sym typeface="Times New Roman"/>
                                </a:rPr>
                              </m:ctrlPr>
                            </m:dPr>
                            <m:e>
                              <m:r>
                                <a:rPr lang="es-ES" altLang="zh-CN" sz="2400" b="1" i="1">
                                  <a:latin typeface="Cambria Math" panose="02040503050406030204" pitchFamily="18" charset="0"/>
                                  <a:ea typeface="Times New Roman"/>
                                  <a:cs typeface="Times New Roman"/>
                                  <a:sym typeface="Times New Roman"/>
                                </a:rPr>
                                <m:t>𝒚</m:t>
                              </m:r>
                              <m:r>
                                <a:rPr lang="es-ES" altLang="zh-CN" sz="2400" b="1" i="1">
                                  <a:latin typeface="Cambria Math" panose="02040503050406030204" pitchFamily="18" charset="0"/>
                                  <a:ea typeface="Times New Roman"/>
                                  <a:cs typeface="Times New Roman"/>
                                  <a:sym typeface="Times New Roman"/>
                                </a:rPr>
                                <m:t>=</m:t>
                              </m:r>
                              <m:r>
                                <a:rPr lang="es-ES" altLang="zh-CN" sz="2400" b="1" i="1">
                                  <a:latin typeface="Cambria Math" panose="02040503050406030204" pitchFamily="18" charset="0"/>
                                  <a:ea typeface="Times New Roman"/>
                                  <a:cs typeface="Times New Roman"/>
                                  <a:sym typeface="Times New Roman"/>
                                </a:rPr>
                                <m:t>𝟏</m:t>
                              </m:r>
                            </m:e>
                          </m:d>
                        </m:den>
                      </m:f>
                      <m:r>
                        <a:rPr lang="en-US" altLang="zh-CN" sz="2400" b="1" i="1" smtClean="0">
                          <a:latin typeface="Cambria Math" panose="02040503050406030204" pitchFamily="18" charset="0"/>
                          <a:ea typeface="Times New Roman"/>
                          <a:cs typeface="Times New Roman"/>
                          <a:sym typeface="Times New Roman"/>
                        </a:rPr>
                        <m:t>,</m:t>
                      </m:r>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b="1" i="1" smtClean="0">
                              <a:latin typeface="Cambria Math" panose="02040503050406030204" pitchFamily="18" charset="0"/>
                            </a:rPr>
                            <m:t>𝟎</m:t>
                          </m:r>
                        </m:sub>
                      </m:sSub>
                      <m:r>
                        <a:rPr lang="es-ES" altLang="zh-CN" sz="2400" b="1" i="1">
                          <a:latin typeface="Cambria Math" panose="02040503050406030204" pitchFamily="18" charset="0"/>
                          <a:ea typeface="Times New Roman"/>
                          <a:cs typeface="Times New Roman"/>
                          <a:sym typeface="Times New Roman"/>
                        </a:rPr>
                        <m:t>=</m:t>
                      </m:r>
                      <m:f>
                        <m:fPr>
                          <m:ctrlPr>
                            <a:rPr lang="es-ES" altLang="zh-CN" sz="2400" b="1" i="1">
                              <a:latin typeface="Cambria Math" panose="02040503050406030204" pitchFamily="18" charset="0"/>
                              <a:ea typeface="Times New Roman"/>
                              <a:cs typeface="Times New Roman"/>
                              <a:sym typeface="Times New Roman"/>
                            </a:rPr>
                          </m:ctrlPr>
                        </m:fPr>
                        <m:num>
                          <m:r>
                            <a:rPr lang="es-ES" altLang="zh-CN" sz="2400" b="1" i="1">
                              <a:latin typeface="Cambria Math" panose="02040503050406030204" pitchFamily="18" charset="0"/>
                              <a:ea typeface="Times New Roman"/>
                              <a:cs typeface="Times New Roman"/>
                              <a:sym typeface="Times New Roman"/>
                            </a:rPr>
                            <m:t>𝒒</m:t>
                          </m:r>
                          <m:d>
                            <m:dPr>
                              <m:ctrlPr>
                                <a:rPr lang="es-ES" altLang="zh-CN" sz="2400" b="1" i="1">
                                  <a:latin typeface="Cambria Math" panose="02040503050406030204" pitchFamily="18" charset="0"/>
                                  <a:ea typeface="Times New Roman"/>
                                  <a:cs typeface="Times New Roman"/>
                                  <a:sym typeface="Times New Roman"/>
                                </a:rPr>
                              </m:ctrlPr>
                            </m:dPr>
                            <m:e>
                              <m:r>
                                <a:rPr lang="es-ES" altLang="zh-CN" sz="2400" b="1" i="1">
                                  <a:latin typeface="Cambria Math" panose="02040503050406030204" pitchFamily="18" charset="0"/>
                                  <a:ea typeface="Times New Roman"/>
                                  <a:cs typeface="Times New Roman"/>
                                  <a:sym typeface="Times New Roman"/>
                                </a:rPr>
                                <m:t>𝒚</m:t>
                              </m:r>
                              <m:r>
                                <a:rPr lang="es-ES" altLang="zh-CN" sz="2400" b="1" i="1">
                                  <a:latin typeface="Cambria Math" panose="02040503050406030204" pitchFamily="18" charset="0"/>
                                  <a:ea typeface="Times New Roman"/>
                                  <a:cs typeface="Times New Roman"/>
                                  <a:sym typeface="Times New Roman"/>
                                </a:rPr>
                                <m:t>=</m:t>
                              </m:r>
                              <m:r>
                                <a:rPr lang="en-US" altLang="zh-CN" sz="2400" b="1" i="1" smtClean="0">
                                  <a:latin typeface="Cambria Math" panose="02040503050406030204" pitchFamily="18" charset="0"/>
                                  <a:ea typeface="Times New Roman"/>
                                  <a:cs typeface="Times New Roman"/>
                                  <a:sym typeface="Times New Roman"/>
                                </a:rPr>
                                <m:t>𝟎</m:t>
                              </m:r>
                            </m:e>
                          </m:d>
                        </m:num>
                        <m:den>
                          <m:r>
                            <a:rPr lang="es-ES" altLang="zh-CN" sz="2400" b="1" i="1">
                              <a:latin typeface="Cambria Math" panose="02040503050406030204" pitchFamily="18" charset="0"/>
                              <a:ea typeface="Times New Roman"/>
                              <a:cs typeface="Times New Roman"/>
                              <a:sym typeface="Times New Roman"/>
                            </a:rPr>
                            <m:t>𝒑</m:t>
                          </m:r>
                          <m:d>
                            <m:dPr>
                              <m:ctrlPr>
                                <a:rPr lang="es-ES" altLang="zh-CN" sz="2400" b="1" i="1">
                                  <a:latin typeface="Cambria Math" panose="02040503050406030204" pitchFamily="18" charset="0"/>
                                  <a:ea typeface="Times New Roman"/>
                                  <a:cs typeface="Times New Roman"/>
                                  <a:sym typeface="Times New Roman"/>
                                </a:rPr>
                              </m:ctrlPr>
                            </m:dPr>
                            <m:e>
                              <m:r>
                                <a:rPr lang="es-ES" altLang="zh-CN" sz="2400" b="1" i="1">
                                  <a:latin typeface="Cambria Math" panose="02040503050406030204" pitchFamily="18" charset="0"/>
                                  <a:ea typeface="Times New Roman"/>
                                  <a:cs typeface="Times New Roman"/>
                                  <a:sym typeface="Times New Roman"/>
                                </a:rPr>
                                <m:t>𝒚</m:t>
                              </m:r>
                              <m:r>
                                <a:rPr lang="es-ES" altLang="zh-CN" sz="2400" b="1" i="1">
                                  <a:latin typeface="Cambria Math" panose="02040503050406030204" pitchFamily="18" charset="0"/>
                                  <a:ea typeface="Times New Roman"/>
                                  <a:cs typeface="Times New Roman"/>
                                  <a:sym typeface="Times New Roman"/>
                                </a:rPr>
                                <m:t>=</m:t>
                              </m:r>
                              <m:r>
                                <a:rPr lang="en-US" altLang="zh-CN" sz="2400" b="1" i="1" smtClean="0">
                                  <a:latin typeface="Cambria Math" panose="02040503050406030204" pitchFamily="18" charset="0"/>
                                  <a:ea typeface="Times New Roman"/>
                                  <a:cs typeface="Times New Roman"/>
                                  <a:sym typeface="Times New Roman"/>
                                </a:rPr>
                                <m:t>𝟎</m:t>
                              </m:r>
                            </m:e>
                          </m:d>
                        </m:den>
                      </m:f>
                    </m:oMath>
                  </m:oMathPara>
                </a14:m>
                <a:endParaRPr lang="zh-CN" altLang="en-US" sz="2400" b="1" dirty="0"/>
              </a:p>
            </p:txBody>
          </p:sp>
        </mc:Choice>
        <mc:Fallback xmlns="">
          <p:sp>
            <p:nvSpPr>
              <p:cNvPr id="3" name="文本框 2">
                <a:extLst>
                  <a:ext uri="{FF2B5EF4-FFF2-40B4-BE49-F238E27FC236}">
                    <a16:creationId xmlns:a16="http://schemas.microsoft.com/office/drawing/2014/main" id="{6FC33057-0405-0145-02DC-DA45455102F9}"/>
                  </a:ext>
                </a:extLst>
              </p:cNvPr>
              <p:cNvSpPr txBox="1">
                <a:spLocks noRot="1" noChangeAspect="1" noMove="1" noResize="1" noEditPoints="1" noAdjustHandles="1" noChangeArrowheads="1" noChangeShapeType="1" noTextEdit="1"/>
              </p:cNvSpPr>
              <p:nvPr/>
            </p:nvSpPr>
            <p:spPr>
              <a:xfrm>
                <a:off x="1323637" y="1216330"/>
                <a:ext cx="6096000" cy="872226"/>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13387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5" grpId="0"/>
      <p:bldP spid="17" grpId="0" animBg="1"/>
      <p:bldP spid="18" grpId="0" animBg="1"/>
      <p:bldP spid="19" grpId="0" animBg="1"/>
      <p:bldP spid="20" grpId="0" animBg="1"/>
      <p:bldP spid="21" grpId="0" animBg="1"/>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g3d5515e1802_0_14"/>
          <p:cNvSpPr txBox="1">
            <a:spLocks noGrp="1"/>
          </p:cNvSpPr>
          <p:nvPr>
            <p:ph type="title"/>
          </p:nvPr>
        </p:nvSpPr>
        <p:spPr>
          <a:xfrm>
            <a:off x="1461050" y="344764"/>
            <a:ext cx="9892800" cy="877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BBSE Example</a:t>
            </a:r>
            <a:endParaRPr dirty="0"/>
          </a:p>
        </p:txBody>
      </p:sp>
      <mc:AlternateContent xmlns:mc="http://schemas.openxmlformats.org/markup-compatibility/2006" xmlns:a14="http://schemas.microsoft.com/office/drawing/2010/main">
        <mc:Choice Requires="a14">
          <p:sp>
            <p:nvSpPr>
              <p:cNvPr id="105" name="Google Shape;105;g3d5515e1802_0_14"/>
              <p:cNvSpPr txBox="1">
                <a:spLocks noGrp="1"/>
              </p:cNvSpPr>
              <p:nvPr>
                <p:ph type="body" idx="1"/>
              </p:nvPr>
            </p:nvSpPr>
            <p:spPr>
              <a:xfrm>
                <a:off x="1375666" y="1314821"/>
                <a:ext cx="10987668" cy="4219832"/>
              </a:xfrm>
              <a:prstGeom prst="rect">
                <a:avLst/>
              </a:prstGeom>
            </p:spPr>
            <p:txBody>
              <a:bodyPr spcFirstLastPara="1" wrap="square" lIns="91425" tIns="45700" rIns="91425" bIns="45700" anchor="t" anchorCtr="0">
                <a:normAutofit fontScale="92500" lnSpcReduction="20000"/>
              </a:bodyPr>
              <a:lstStyle/>
              <a:p>
                <a:pPr marL="0" lvl="0" indent="0" algn="l" rtl="0">
                  <a:spcBef>
                    <a:spcPts val="1000"/>
                  </a:spcBef>
                  <a:spcAft>
                    <a:spcPts val="0"/>
                  </a:spcAft>
                  <a:buNone/>
                </a:pPr>
                <a:r>
                  <a:rPr lang="en-US" sz="2500" dirty="0">
                    <a:latin typeface="Times New Roman"/>
                    <a:ea typeface="Times New Roman"/>
                    <a:cs typeface="Times New Roman"/>
                    <a:sym typeface="Times New Roman"/>
                  </a:rPr>
                  <a:t>Suppose there are 2 classes: y=0 (not spam) and y=1 (spam)</a:t>
                </a:r>
              </a:p>
              <a:p>
                <a:pPr marL="0" lvl="0" indent="0" algn="l" rtl="0">
                  <a:spcBef>
                    <a:spcPts val="1000"/>
                  </a:spcBef>
                  <a:spcAft>
                    <a:spcPts val="0"/>
                  </a:spcAft>
                  <a:buNone/>
                </a:pPr>
                <a:r>
                  <a:rPr lang="en-US" altLang="zh-CN" sz="2500" dirty="0">
                    <a:latin typeface="Times New Roman"/>
                    <a:ea typeface="Times New Roman"/>
                    <a:cs typeface="Times New Roman"/>
                    <a:sym typeface="Times New Roman"/>
                  </a:rPr>
                  <a:t>On Source: 50% spam and 50% not spam; On Target: 60% spam and 40% not spam</a:t>
                </a:r>
              </a:p>
              <a:p>
                <a:pPr marL="0" lvl="0" indent="0" algn="l" rtl="0">
                  <a:spcBef>
                    <a:spcPts val="1000"/>
                  </a:spcBef>
                  <a:spcAft>
                    <a:spcPts val="0"/>
                  </a:spcAft>
                  <a:buNone/>
                </a:pPr>
                <a:endParaRPr lang="en-US" sz="2500" dirty="0">
                  <a:latin typeface="Times New Roman"/>
                  <a:ea typeface="Times New Roman"/>
                  <a:cs typeface="Times New Roman"/>
                  <a:sym typeface="Times New Roman"/>
                </a:endParaRPr>
              </a:p>
              <a:p>
                <a:pPr marL="0" lvl="0" indent="0" algn="l" rtl="0">
                  <a:spcBef>
                    <a:spcPts val="1000"/>
                  </a:spcBef>
                  <a:spcAft>
                    <a:spcPts val="0"/>
                  </a:spcAft>
                  <a:buNone/>
                </a:pPr>
                <a:endParaRPr lang="en-US" sz="2500" dirty="0">
                  <a:latin typeface="Times New Roman"/>
                  <a:ea typeface="Times New Roman"/>
                  <a:cs typeface="Times New Roman"/>
                  <a:sym typeface="Times New Roman"/>
                </a:endParaRPr>
              </a:p>
              <a:p>
                <a:pPr marL="0" lvl="0" indent="0" algn="l" rtl="0">
                  <a:spcBef>
                    <a:spcPts val="1000"/>
                  </a:spcBef>
                  <a:spcAft>
                    <a:spcPts val="0"/>
                  </a:spcAft>
                  <a:buNone/>
                </a:pPr>
                <a:endParaRPr lang="en-US" sz="2500" dirty="0">
                  <a:latin typeface="Times New Roman"/>
                  <a:ea typeface="Times New Roman"/>
                  <a:cs typeface="Times New Roman"/>
                  <a:sym typeface="Times New Roman"/>
                </a:endParaRPr>
              </a:p>
              <a:p>
                <a:pPr marL="0" indent="0">
                  <a:buNone/>
                </a:pPr>
                <a:endParaRPr lang="en-US" sz="2000" dirty="0">
                  <a:latin typeface="Times New Roman"/>
                  <a:ea typeface="Times New Roman"/>
                  <a:cs typeface="Times New Roman"/>
                  <a:sym typeface="Times New Roman"/>
                </a:endParaRPr>
              </a:p>
              <a:p>
                <a:pPr marL="0" indent="0">
                  <a:buNone/>
                </a:pPr>
                <a:endParaRPr lang="en-US" altLang="zh-CN" sz="2000" dirty="0">
                  <a:solidFill>
                    <a:schemeClr val="bg2"/>
                  </a:solidFill>
                </a:endParaRPr>
              </a:p>
              <a:p>
                <a:pPr marL="0" indent="0">
                  <a:lnSpc>
                    <a:spcPct val="120000"/>
                  </a:lnSpc>
                  <a:buNone/>
                </a:pPr>
                <a:r>
                  <a:rPr lang="en-US" altLang="zh-CN" sz="2000" dirty="0">
                    <a:solidFill>
                      <a:schemeClr val="bg2"/>
                    </a:solidFill>
                  </a:rPr>
                  <a:t>So</a:t>
                </a:r>
                <a:r>
                  <a:rPr lang="en-US" altLang="zh-CN" sz="2000" dirty="0">
                    <a:solidFill>
                      <a:srgbClr val="0070C0"/>
                    </a:solidFill>
                  </a:rPr>
                  <a:t> </a:t>
                </a:r>
                <a14:m>
                  <m:oMath xmlns:m="http://schemas.openxmlformats.org/officeDocument/2006/math">
                    <m:d>
                      <m:dPr>
                        <m:begChr m:val="["/>
                        <m:endChr m:val="]"/>
                        <m:ctrlPr>
                          <a:rPr lang="en-US" altLang="zh-CN" sz="2000" i="1" dirty="0">
                            <a:solidFill>
                              <a:srgbClr val="0070C0"/>
                            </a:solidFill>
                            <a:latin typeface="Cambria Math" panose="02040503050406030204" pitchFamily="18" charset="0"/>
                          </a:rPr>
                        </m:ctrlPr>
                      </m:dPr>
                      <m:e>
                        <m:eqArr>
                          <m:eqArrPr>
                            <m:ctrlPr>
                              <a:rPr lang="en-US" altLang="zh-CN" sz="2000" i="1">
                                <a:solidFill>
                                  <a:srgbClr val="0070C0"/>
                                </a:solidFill>
                                <a:latin typeface="Cambria Math" panose="02040503050406030204" pitchFamily="18" charset="0"/>
                              </a:rPr>
                            </m:ctrlPr>
                          </m:eqArrPr>
                          <m:e>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𝑤</m:t>
                                </m:r>
                              </m:e>
                              <m:sub>
                                <m:r>
                                  <a:rPr lang="en-US" altLang="zh-CN" sz="2000" i="1">
                                    <a:solidFill>
                                      <a:srgbClr val="0070C0"/>
                                    </a:solidFill>
                                    <a:latin typeface="Cambria Math" panose="02040503050406030204" pitchFamily="18" charset="0"/>
                                  </a:rPr>
                                  <m:t>1</m:t>
                                </m:r>
                              </m:sub>
                            </m:sSub>
                          </m:e>
                          <m:e>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𝑤</m:t>
                                </m:r>
                              </m:e>
                              <m:sub>
                                <m:r>
                                  <a:rPr lang="en-US" altLang="zh-CN" sz="2000" i="1">
                                    <a:solidFill>
                                      <a:srgbClr val="0070C0"/>
                                    </a:solidFill>
                                    <a:latin typeface="Cambria Math" panose="02040503050406030204" pitchFamily="18" charset="0"/>
                                  </a:rPr>
                                  <m:t>0</m:t>
                                </m:r>
                              </m:sub>
                            </m:sSub>
                          </m:e>
                        </m:eqArr>
                      </m:e>
                    </m:d>
                  </m:oMath>
                </a14:m>
                <a:r>
                  <a:rPr lang="en-US" altLang="zh-CN" sz="2000" dirty="0">
                    <a:solidFill>
                      <a:srgbClr val="0070C0"/>
                    </a:solidFill>
                  </a:rPr>
                  <a:t> </a:t>
                </a:r>
                <a:r>
                  <a:rPr lang="en-US" altLang="zh-CN" sz="2000" dirty="0"/>
                  <a:t>= </a:t>
                </a:r>
                <a14:m>
                  <m:oMath xmlns:m="http://schemas.openxmlformats.org/officeDocument/2006/math">
                    <m:d>
                      <m:dPr>
                        <m:begChr m:val="["/>
                        <m:endChr m:val="]"/>
                        <m:ctrlPr>
                          <a:rPr lang="en-US" altLang="zh-CN" sz="2000" i="1" dirty="0">
                            <a:solidFill>
                              <a:srgbClr val="0070C0"/>
                            </a:solidFill>
                            <a:latin typeface="Cambria Math" panose="02040503050406030204" pitchFamily="18" charset="0"/>
                          </a:rPr>
                        </m:ctrlPr>
                      </m:dPr>
                      <m:e>
                        <m:eqArr>
                          <m:eqArrPr>
                            <m:ctrlPr>
                              <a:rPr lang="en-US" altLang="zh-CN" sz="2000" i="1">
                                <a:solidFill>
                                  <a:srgbClr val="0070C0"/>
                                </a:solidFill>
                                <a:latin typeface="Cambria Math" panose="02040503050406030204" pitchFamily="18" charset="0"/>
                              </a:rPr>
                            </m:ctrlPr>
                          </m:eqArrPr>
                          <m:e>
                            <m:r>
                              <a:rPr lang="en-US" altLang="zh-CN" sz="2000" i="1">
                                <a:solidFill>
                                  <a:srgbClr val="0070C0"/>
                                </a:solidFill>
                                <a:latin typeface="Cambria Math" panose="02040503050406030204" pitchFamily="18" charset="0"/>
                              </a:rPr>
                              <m:t>1</m:t>
                            </m:r>
                            <m:r>
                              <a:rPr lang="en-US" altLang="zh-CN" sz="2000" i="1">
                                <a:solidFill>
                                  <a:srgbClr val="0070C0"/>
                                </a:solidFill>
                                <a:latin typeface="Cambria Math" panose="02040503050406030204" pitchFamily="18" charset="0"/>
                              </a:rPr>
                              <m:t>.</m:t>
                            </m:r>
                            <m:r>
                              <a:rPr lang="en-US" altLang="zh-CN" sz="2000" i="1">
                                <a:solidFill>
                                  <a:srgbClr val="0070C0"/>
                                </a:solidFill>
                                <a:latin typeface="Cambria Math" panose="02040503050406030204" pitchFamily="18" charset="0"/>
                              </a:rPr>
                              <m:t>2</m:t>
                            </m:r>
                          </m:e>
                          <m:e>
                            <m:r>
                              <a:rPr lang="en-US" altLang="zh-CN" sz="2000" i="1">
                                <a:solidFill>
                                  <a:srgbClr val="0070C0"/>
                                </a:solidFill>
                                <a:latin typeface="Cambria Math" panose="02040503050406030204" pitchFamily="18" charset="0"/>
                              </a:rPr>
                              <m:t>0</m:t>
                            </m:r>
                            <m:r>
                              <a:rPr lang="en-US" altLang="zh-CN" sz="2000" i="1">
                                <a:solidFill>
                                  <a:srgbClr val="0070C0"/>
                                </a:solidFill>
                                <a:latin typeface="Cambria Math" panose="02040503050406030204" pitchFamily="18" charset="0"/>
                              </a:rPr>
                              <m:t>.</m:t>
                            </m:r>
                            <m:r>
                              <a:rPr lang="en-US" altLang="zh-CN" sz="2000" i="1">
                                <a:solidFill>
                                  <a:srgbClr val="0070C0"/>
                                </a:solidFill>
                                <a:latin typeface="Cambria Math" panose="02040503050406030204" pitchFamily="18" charset="0"/>
                              </a:rPr>
                              <m:t>8</m:t>
                            </m:r>
                          </m:e>
                        </m:eqArr>
                      </m:e>
                    </m:d>
                    <m:r>
                      <a:rPr lang="en-US" altLang="zh-CN" sz="2000" b="0" i="1" smtClean="0">
                        <a:solidFill>
                          <a:schemeClr val="bg2"/>
                        </a:solidFill>
                        <a:latin typeface="Cambria Math" panose="02040503050406030204" pitchFamily="18" charset="0"/>
                      </a:rPr>
                      <m:t>.</m:t>
                    </m:r>
                    <m:r>
                      <a:rPr lang="en-US" altLang="zh-CN" sz="2000" i="1">
                        <a:solidFill>
                          <a:schemeClr val="bg2"/>
                        </a:solidFill>
                        <a:latin typeface="Cambria Math" panose="02040503050406030204" pitchFamily="18" charset="0"/>
                      </a:rPr>
                      <m:t> </m:t>
                    </m:r>
                    <m:r>
                      <a:rPr lang="en-US" altLang="zh-CN" sz="2000" b="0" i="1" smtClean="0">
                        <a:solidFill>
                          <a:schemeClr val="bg2"/>
                        </a:solidFill>
                        <a:latin typeface="Cambria Math" panose="02040503050406030204" pitchFamily="18" charset="0"/>
                      </a:rPr>
                      <m:t> </m:t>
                    </m:r>
                    <m:r>
                      <m:rPr>
                        <m:sty m:val="p"/>
                      </m:rPr>
                      <a:rPr lang="en-US" altLang="zh-CN" sz="2000" b="0" i="1" smtClean="0">
                        <a:solidFill>
                          <a:schemeClr val="bg2"/>
                        </a:solidFill>
                        <a:latin typeface="Cambria Math" panose="02040503050406030204" pitchFamily="18" charset="0"/>
                      </a:rPr>
                      <m:t>Imagine</m:t>
                    </m:r>
                    <m:r>
                      <a:rPr lang="en-US" altLang="zh-CN" sz="2000" b="0" i="1" smtClean="0">
                        <a:solidFill>
                          <a:schemeClr val="bg2"/>
                        </a:solidFill>
                        <a:latin typeface="Cambria Math" panose="02040503050406030204" pitchFamily="18" charset="0"/>
                      </a:rPr>
                      <m:t> </m:t>
                    </m:r>
                    <m:r>
                      <m:rPr>
                        <m:sty m:val="p"/>
                      </m:rPr>
                      <a:rPr lang="en-US" altLang="zh-CN" sz="2000" b="0" i="1" smtClean="0">
                        <a:solidFill>
                          <a:schemeClr val="bg2"/>
                        </a:solidFill>
                        <a:latin typeface="Cambria Math" panose="02040503050406030204" pitchFamily="18" charset="0"/>
                      </a:rPr>
                      <m:t>we</m:t>
                    </m:r>
                    <m:r>
                      <a:rPr lang="en-US" altLang="zh-CN" sz="2000" b="0" i="1" smtClean="0">
                        <a:solidFill>
                          <a:schemeClr val="bg2"/>
                        </a:solidFill>
                        <a:latin typeface="Cambria Math" panose="02040503050406030204" pitchFamily="18" charset="0"/>
                      </a:rPr>
                      <m:t> </m:t>
                    </m:r>
                    <m:r>
                      <m:rPr>
                        <m:sty m:val="p"/>
                      </m:rPr>
                      <a:rPr lang="en-US" altLang="zh-CN" sz="2000" b="0" i="1" smtClean="0">
                        <a:solidFill>
                          <a:schemeClr val="bg2"/>
                        </a:solidFill>
                        <a:latin typeface="Cambria Math" panose="02040503050406030204" pitchFamily="18" charset="0"/>
                      </a:rPr>
                      <m:t>predict</m:t>
                    </m:r>
                    <m:r>
                      <a:rPr lang="en-US" altLang="zh-CN" sz="2000" b="0" i="1" smtClean="0">
                        <a:solidFill>
                          <a:schemeClr val="bg2"/>
                        </a:solidFill>
                        <a:latin typeface="Cambria Math" panose="02040503050406030204" pitchFamily="18" charset="0"/>
                      </a:rPr>
                      <m:t> </m:t>
                    </m:r>
                    <m:r>
                      <m:rPr>
                        <m:sty m:val="p"/>
                      </m:rPr>
                      <a:rPr lang="en-US" altLang="zh-CN" sz="2000" b="0" i="1" smtClean="0">
                        <a:solidFill>
                          <a:schemeClr val="bg2"/>
                        </a:solidFill>
                        <a:latin typeface="Cambria Math" panose="02040503050406030204" pitchFamily="18" charset="0"/>
                      </a:rPr>
                      <m:t>on</m:t>
                    </m:r>
                    <m:r>
                      <a:rPr lang="en-US" altLang="zh-CN" sz="2000" b="0" i="1" smtClean="0">
                        <a:solidFill>
                          <a:schemeClr val="bg2"/>
                        </a:solidFill>
                        <a:latin typeface="Cambria Math" panose="02040503050406030204" pitchFamily="18" charset="0"/>
                      </a:rPr>
                      <m:t> </m:t>
                    </m:r>
                    <m:r>
                      <m:rPr>
                        <m:sty m:val="p"/>
                      </m:rPr>
                      <a:rPr lang="en-US" altLang="zh-CN" sz="2000" b="0" i="1" smtClean="0">
                        <a:solidFill>
                          <a:schemeClr val="bg2"/>
                        </a:solidFill>
                        <a:latin typeface="Cambria Math" panose="02040503050406030204" pitchFamily="18" charset="0"/>
                      </a:rPr>
                      <m:t>target</m:t>
                    </m:r>
                    <m:r>
                      <a:rPr lang="en-US" altLang="zh-CN" sz="2000" b="0" i="1" smtClean="0">
                        <a:solidFill>
                          <a:schemeClr val="bg2"/>
                        </a:solidFill>
                        <a:latin typeface="Cambria Math" panose="02040503050406030204" pitchFamily="18" charset="0"/>
                      </a:rPr>
                      <m:t> </m:t>
                    </m:r>
                    <m:r>
                      <m:rPr>
                        <m:sty m:val="p"/>
                      </m:rPr>
                      <a:rPr lang="en-US" altLang="zh-CN" sz="2000" b="0" i="1" smtClean="0">
                        <a:solidFill>
                          <a:schemeClr val="bg2"/>
                        </a:solidFill>
                        <a:latin typeface="Cambria Math" panose="02040503050406030204" pitchFamily="18" charset="0"/>
                      </a:rPr>
                      <m:t>data</m:t>
                    </m:r>
                    <m:r>
                      <a:rPr lang="en-US" altLang="zh-CN" sz="2000" b="0" i="1" smtClean="0">
                        <a:solidFill>
                          <a:schemeClr val="bg2"/>
                        </a:solidFill>
                        <a:latin typeface="Cambria Math" panose="02040503050406030204" pitchFamily="18" charset="0"/>
                      </a:rPr>
                      <m:t> </m:t>
                    </m:r>
                    <m:r>
                      <m:rPr>
                        <m:sty m:val="p"/>
                      </m:rPr>
                      <a:rPr lang="en-US" altLang="zh-CN" sz="2000" b="0" i="1" smtClean="0">
                        <a:solidFill>
                          <a:schemeClr val="bg2"/>
                        </a:solidFill>
                        <a:latin typeface="Cambria Math" panose="02040503050406030204" pitchFamily="18" charset="0"/>
                      </a:rPr>
                      <m:t>set</m:t>
                    </m:r>
                    <m:r>
                      <a:rPr lang="en-US" altLang="zh-CN" sz="2000" b="0" i="1" smtClean="0">
                        <a:solidFill>
                          <a:schemeClr val="bg2"/>
                        </a:solidFill>
                        <a:latin typeface="Cambria Math" panose="02040503050406030204" pitchFamily="18" charset="0"/>
                      </a:rPr>
                      <m:t> </m:t>
                    </m:r>
                    <m:r>
                      <m:rPr>
                        <m:sty m:val="p"/>
                      </m:rPr>
                      <a:rPr lang="en-US" altLang="zh-CN" sz="2000" b="0" i="1" smtClean="0">
                        <a:solidFill>
                          <a:schemeClr val="bg2"/>
                        </a:solidFill>
                        <a:latin typeface="Cambria Math" panose="02040503050406030204" pitchFamily="18" charset="0"/>
                      </a:rPr>
                      <m:t>and</m:t>
                    </m:r>
                    <m:r>
                      <a:rPr lang="en-US" altLang="zh-CN" sz="2000" b="0" i="1" smtClean="0">
                        <a:solidFill>
                          <a:schemeClr val="bg2"/>
                        </a:solidFill>
                        <a:latin typeface="Cambria Math" panose="02040503050406030204" pitchFamily="18" charset="0"/>
                      </a:rPr>
                      <m:t> </m:t>
                    </m:r>
                    <m:r>
                      <m:rPr>
                        <m:sty m:val="p"/>
                      </m:rPr>
                      <a:rPr lang="en-US" altLang="zh-CN" sz="2000" b="0" i="1" smtClean="0">
                        <a:solidFill>
                          <a:schemeClr val="bg2"/>
                        </a:solidFill>
                        <a:latin typeface="Cambria Math" panose="02040503050406030204" pitchFamily="18" charset="0"/>
                      </a:rPr>
                      <m:t>get</m:t>
                    </m:r>
                    <m:d>
                      <m:dPr>
                        <m:begChr m:val="["/>
                        <m:endChr m:val="]"/>
                        <m:ctrlPr>
                          <a:rPr lang="ar-AE" altLang="zh-CN" sz="2000" i="1" smtClean="0">
                            <a:solidFill>
                              <a:srgbClr val="FF0000"/>
                            </a:solidFill>
                            <a:latin typeface="Cambria Math" panose="02040503050406030204" pitchFamily="18" charset="0"/>
                          </a:rPr>
                        </m:ctrlPr>
                      </m:dPr>
                      <m:e>
                        <m:m>
                          <m:mPr>
                            <m:plcHide m:val="on"/>
                            <m:mcs>
                              <m:mc>
                                <m:mcPr>
                                  <m:count m:val="1"/>
                                  <m:mcJc m:val="center"/>
                                </m:mcPr>
                              </m:mc>
                            </m:mcs>
                            <m:ctrlPr>
                              <a:rPr lang="ar-AE" altLang="zh-CN" sz="2000" i="1">
                                <a:solidFill>
                                  <a:srgbClr val="FF0000"/>
                                </a:solidFill>
                                <a:latin typeface="Cambria Math" panose="02040503050406030204" pitchFamily="18" charset="0"/>
                              </a:rPr>
                            </m:ctrlPr>
                          </m:mPr>
                          <m:mr>
                            <m:e>
                              <m:eqArr>
                                <m:eqArrPr>
                                  <m:ctrlPr>
                                    <a:rPr lang="ar-AE" altLang="zh-CN" sz="2000" i="1">
                                      <a:solidFill>
                                        <a:srgbClr val="FF0000"/>
                                      </a:solidFill>
                                      <a:latin typeface="Cambria Math" panose="02040503050406030204" pitchFamily="18" charset="0"/>
                                    </a:rPr>
                                  </m:ctrlPr>
                                </m:eqArrPr>
                                <m:e>
                                  <m:r>
                                    <a:rPr lang="zh-CN" altLang="ar-AE" sz="2000" i="1">
                                      <a:solidFill>
                                        <a:srgbClr val="FF0000"/>
                                      </a:solidFill>
                                      <a:latin typeface="Cambria Math" panose="02040503050406030204" pitchFamily="18" charset="0"/>
                                    </a:rPr>
                                    <m:t>𝑞</m:t>
                                  </m:r>
                                  <m:d>
                                    <m:dPr>
                                      <m:ctrlPr>
                                        <a:rPr lang="ar-AE" altLang="zh-CN" sz="2000" i="1">
                                          <a:solidFill>
                                            <a:srgbClr val="FF0000"/>
                                          </a:solidFill>
                                          <a:latin typeface="Cambria Math" panose="02040503050406030204" pitchFamily="18" charset="0"/>
                                        </a:rPr>
                                      </m:ctrlPr>
                                    </m:dPr>
                                    <m:e>
                                      <m:acc>
                                        <m:accPr>
                                          <m:chr m:val="̂"/>
                                          <m:ctrlPr>
                                            <a:rPr lang="ar-AE" altLang="zh-CN" sz="2000" i="1">
                                              <a:solidFill>
                                                <a:srgbClr val="FF0000"/>
                                              </a:solidFill>
                                              <a:latin typeface="Cambria Math" panose="02040503050406030204" pitchFamily="18" charset="0"/>
                                            </a:rPr>
                                          </m:ctrlPr>
                                        </m:accPr>
                                        <m:e>
                                          <m:r>
                                            <a:rPr lang="zh-CN" altLang="ar-AE" sz="2000" i="1">
                                              <a:solidFill>
                                                <a:srgbClr val="FF0000"/>
                                              </a:solidFill>
                                              <a:latin typeface="Cambria Math" panose="02040503050406030204" pitchFamily="18" charset="0"/>
                                            </a:rPr>
                                            <m:t>𝑦</m:t>
                                          </m:r>
                                        </m:e>
                                      </m:acc>
                                      <m:r>
                                        <a:rPr lang="ar-AE" altLang="zh-CN" sz="2000" i="1">
                                          <a:solidFill>
                                            <a:srgbClr val="FF0000"/>
                                          </a:solidFill>
                                          <a:latin typeface="Cambria Math" panose="02040503050406030204" pitchFamily="18" charset="0"/>
                                        </a:rPr>
                                        <m:t>=</m:t>
                                      </m:r>
                                      <m:r>
                                        <a:rPr lang="en-US" altLang="zh-CN" sz="2000" b="0" i="1" smtClean="0">
                                          <a:solidFill>
                                            <a:srgbClr val="FF0000"/>
                                          </a:solidFill>
                                          <a:latin typeface="Cambria Math" panose="02040503050406030204" pitchFamily="18" charset="0"/>
                                        </a:rPr>
                                        <m:t>1</m:t>
                                      </m:r>
                                    </m:e>
                                  </m:d>
                                </m:e>
                                <m:e>
                                  <m:r>
                                    <a:rPr lang="zh-CN" altLang="ar-AE" sz="2000" i="1">
                                      <a:solidFill>
                                        <a:srgbClr val="FF0000"/>
                                      </a:solidFill>
                                      <a:latin typeface="Cambria Math" panose="02040503050406030204" pitchFamily="18" charset="0"/>
                                    </a:rPr>
                                    <m:t>𝑞</m:t>
                                  </m:r>
                                  <m:d>
                                    <m:dPr>
                                      <m:ctrlPr>
                                        <a:rPr lang="ar-AE" altLang="zh-CN" sz="2000" i="1">
                                          <a:solidFill>
                                            <a:srgbClr val="FF0000"/>
                                          </a:solidFill>
                                          <a:latin typeface="Cambria Math" panose="02040503050406030204" pitchFamily="18" charset="0"/>
                                        </a:rPr>
                                      </m:ctrlPr>
                                    </m:dPr>
                                    <m:e>
                                      <m:acc>
                                        <m:accPr>
                                          <m:chr m:val="̂"/>
                                          <m:ctrlPr>
                                            <a:rPr lang="ar-AE" altLang="zh-CN" sz="2000" i="1">
                                              <a:solidFill>
                                                <a:srgbClr val="FF0000"/>
                                              </a:solidFill>
                                              <a:latin typeface="Cambria Math" panose="02040503050406030204" pitchFamily="18" charset="0"/>
                                            </a:rPr>
                                          </m:ctrlPr>
                                        </m:accPr>
                                        <m:e>
                                          <m:r>
                                            <a:rPr lang="zh-CN" altLang="ar-AE" sz="2000" i="1">
                                              <a:solidFill>
                                                <a:srgbClr val="FF0000"/>
                                              </a:solidFill>
                                              <a:latin typeface="Cambria Math" panose="02040503050406030204" pitchFamily="18" charset="0"/>
                                            </a:rPr>
                                            <m:t>𝑦</m:t>
                                          </m:r>
                                        </m:e>
                                      </m:acc>
                                      <m:r>
                                        <a:rPr lang="ar-AE" altLang="zh-CN" sz="2000" i="1">
                                          <a:solidFill>
                                            <a:srgbClr val="FF0000"/>
                                          </a:solidFill>
                                          <a:latin typeface="Cambria Math" panose="02040503050406030204" pitchFamily="18" charset="0"/>
                                        </a:rPr>
                                        <m:t>=</m:t>
                                      </m:r>
                                      <m:r>
                                        <a:rPr lang="en-US" altLang="zh-CN" sz="2000" b="0" i="1" smtClean="0">
                                          <a:solidFill>
                                            <a:srgbClr val="FF0000"/>
                                          </a:solidFill>
                                          <a:latin typeface="Cambria Math" panose="02040503050406030204" pitchFamily="18" charset="0"/>
                                        </a:rPr>
                                        <m:t>0</m:t>
                                      </m:r>
                                    </m:e>
                                  </m:d>
                                </m:e>
                              </m:eqArr>
                            </m:e>
                          </m:mr>
                        </m:m>
                      </m:e>
                    </m:d>
                    <m:r>
                      <a:rPr lang="ar-AE" altLang="zh-CN" sz="2000" i="1">
                        <a:latin typeface="Cambria Math" panose="02040503050406030204" pitchFamily="18" charset="0"/>
                      </a:rPr>
                      <m:t>=</m:t>
                    </m:r>
                    <m:d>
                      <m:dPr>
                        <m:begChr m:val="["/>
                        <m:endChr m:val="]"/>
                        <m:ctrlPr>
                          <a:rPr lang="ar-AE" altLang="zh-CN" sz="2000" i="1" smtClean="0">
                            <a:solidFill>
                              <a:srgbClr val="FF0000"/>
                            </a:solidFill>
                            <a:latin typeface="Cambria Math" panose="02040503050406030204" pitchFamily="18" charset="0"/>
                          </a:rPr>
                        </m:ctrlPr>
                      </m:dPr>
                      <m:e>
                        <m:eqArr>
                          <m:eqArrPr>
                            <m:ctrlPr>
                              <a:rPr lang="ar-AE" altLang="zh-CN" sz="2000" b="0" i="1" smtClean="0">
                                <a:solidFill>
                                  <a:srgbClr val="FF0000"/>
                                </a:solidFill>
                                <a:latin typeface="Cambria Math" panose="02040503050406030204" pitchFamily="18" charset="0"/>
                              </a:rPr>
                            </m:ctrlPr>
                          </m:eqArrPr>
                          <m:e>
                            <m:r>
                              <a:rPr lang="ar-AE" altLang="zh-CN" sz="2000" b="0" i="1" smtClean="0">
                                <a:solidFill>
                                  <a:srgbClr val="FF0000"/>
                                </a:solidFill>
                                <a:latin typeface="Cambria Math" panose="02040503050406030204" pitchFamily="18" charset="0"/>
                              </a:rPr>
                              <m:t>0</m:t>
                            </m:r>
                            <m:r>
                              <a:rPr lang="ar-AE" altLang="zh-CN" sz="2000" b="0" i="1" smtClean="0">
                                <a:solidFill>
                                  <a:srgbClr val="FF0000"/>
                                </a:solidFill>
                                <a:latin typeface="Cambria Math" panose="02040503050406030204" pitchFamily="18" charset="0"/>
                              </a:rPr>
                              <m:t>.</m:t>
                            </m:r>
                            <m:r>
                              <a:rPr lang="en-US" altLang="zh-CN" sz="2000" b="0" i="1" smtClean="0">
                                <a:solidFill>
                                  <a:srgbClr val="FF0000"/>
                                </a:solidFill>
                                <a:latin typeface="Cambria Math" panose="02040503050406030204" pitchFamily="18" charset="0"/>
                              </a:rPr>
                              <m:t>55</m:t>
                            </m:r>
                          </m:e>
                          <m:e>
                            <m:r>
                              <a:rPr lang="en-US" altLang="zh-CN" sz="2000" b="0" i="1" smtClean="0">
                                <a:solidFill>
                                  <a:srgbClr val="FF0000"/>
                                </a:solidFill>
                                <a:latin typeface="Cambria Math" panose="02040503050406030204" pitchFamily="18" charset="0"/>
                              </a:rPr>
                              <m:t>0</m:t>
                            </m:r>
                            <m:r>
                              <a:rPr lang="en-US" altLang="zh-CN" sz="2000" b="0" i="1" smtClean="0">
                                <a:solidFill>
                                  <a:srgbClr val="FF0000"/>
                                </a:solidFill>
                                <a:latin typeface="Cambria Math" panose="02040503050406030204" pitchFamily="18" charset="0"/>
                              </a:rPr>
                              <m:t>.</m:t>
                            </m:r>
                            <m:r>
                              <a:rPr lang="en-US" altLang="zh-CN" sz="2000" b="0" i="1" smtClean="0">
                                <a:solidFill>
                                  <a:srgbClr val="FF0000"/>
                                </a:solidFill>
                                <a:latin typeface="Cambria Math" panose="02040503050406030204" pitchFamily="18" charset="0"/>
                              </a:rPr>
                              <m:t>45</m:t>
                            </m:r>
                          </m:e>
                        </m:eqArr>
                      </m:e>
                    </m:d>
                  </m:oMath>
                </a14:m>
                <a:r>
                  <a:rPr lang="en-US" altLang="zh-CN" sz="2000" dirty="0"/>
                  <a:t>,  </a:t>
                </a:r>
                <a14:m>
                  <m:oMath xmlns:m="http://schemas.openxmlformats.org/officeDocument/2006/math">
                    <m:r>
                      <m:rPr>
                        <m:sty m:val="p"/>
                      </m:rPr>
                      <a:rPr lang="en-US" altLang="zh-CN" sz="2000" b="0" i="0" smtClean="0">
                        <a:latin typeface="Cambria Math" panose="02040503050406030204" pitchFamily="18" charset="0"/>
                      </a:rPr>
                      <m:t>we</m:t>
                    </m:r>
                    <m:r>
                      <a:rPr lang="en-US" altLang="zh-CN" sz="2000" b="0" i="0" smtClean="0">
                        <a:latin typeface="Cambria Math" panose="02040503050406030204" pitchFamily="18" charset="0"/>
                      </a:rPr>
                      <m:t> </m:t>
                    </m:r>
                    <m:r>
                      <m:rPr>
                        <m:sty m:val="p"/>
                      </m:rPr>
                      <a:rPr lang="en-US" altLang="zh-CN" sz="2000" b="0" i="0" smtClean="0">
                        <a:latin typeface="Cambria Math" panose="02040503050406030204" pitchFamily="18" charset="0"/>
                      </a:rPr>
                      <m:t>ha</m:t>
                    </m:r>
                    <m:r>
                      <m:rPr>
                        <m:sty m:val="p"/>
                      </m:rPr>
                      <a:rPr lang="en-US" altLang="zh-CN" sz="2000" b="0" i="1" smtClean="0">
                        <a:latin typeface="Cambria Math" panose="02040503050406030204" pitchFamily="18" charset="0"/>
                      </a:rPr>
                      <m:t>ve</m:t>
                    </m:r>
                    <m:r>
                      <a:rPr lang="en-US" altLang="zh-CN" sz="2000" b="0" i="1" smtClean="0">
                        <a:latin typeface="Cambria Math" panose="02040503050406030204" pitchFamily="18" charset="0"/>
                      </a:rPr>
                      <m:t> </m:t>
                    </m:r>
                    <m:sSup>
                      <m:sSupPr>
                        <m:ctrlPr>
                          <a:rPr lang="en-US" altLang="zh-CN" sz="2000" i="1">
                            <a:latin typeface="Cambria Math" panose="02040503050406030204" pitchFamily="18" charset="0"/>
                          </a:rPr>
                        </m:ctrlPr>
                      </m:sSupPr>
                      <m:e>
                        <m:d>
                          <m:dPr>
                            <m:begChr m:val="["/>
                            <m:endChr m:val="]"/>
                            <m:ctrlPr>
                              <a:rPr lang="en-US" altLang="zh-CN" sz="2000" i="1">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4</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e>
                              <m:e>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4</m:t>
                                </m:r>
                              </m:e>
                            </m:eqArr>
                          </m:e>
                        </m:d>
                      </m:e>
                      <m:sup>
                        <m:r>
                          <a:rPr lang="en-US" altLang="zh-CN" sz="2000" i="1">
                            <a:latin typeface="Cambria Math" panose="02040503050406030204" pitchFamily="18" charset="0"/>
                          </a:rPr>
                          <m:t>−</m:t>
                        </m:r>
                        <m:r>
                          <a:rPr lang="en-US" altLang="zh-CN" sz="2000" i="1">
                            <a:latin typeface="Cambria Math" panose="02040503050406030204" pitchFamily="18" charset="0"/>
                          </a:rPr>
                          <m:t>1</m:t>
                        </m:r>
                      </m:sup>
                    </m:sSup>
                    <m:d>
                      <m:dPr>
                        <m:begChr m:val="["/>
                        <m:endChr m:val="]"/>
                        <m:ctrlPr>
                          <a:rPr lang="en-US" altLang="zh-CN" sz="2000" i="1">
                            <a:solidFill>
                              <a:srgbClr val="FF0000"/>
                            </a:solidFill>
                            <a:latin typeface="Cambria Math" panose="02040503050406030204" pitchFamily="18" charset="0"/>
                          </a:rPr>
                        </m:ctrlPr>
                      </m:dPr>
                      <m:e>
                        <m:eqArr>
                          <m:eqArrPr>
                            <m:ctrlPr>
                              <a:rPr lang="en-US" altLang="zh-CN" sz="2000" b="0" i="1" smtClean="0">
                                <a:solidFill>
                                  <a:srgbClr val="FF0000"/>
                                </a:solidFill>
                                <a:latin typeface="Cambria Math" panose="02040503050406030204" pitchFamily="18" charset="0"/>
                              </a:rPr>
                            </m:ctrlPr>
                          </m:eqArrPr>
                          <m:e>
                            <m:r>
                              <a:rPr lang="en-US" altLang="zh-CN" sz="2000" b="0" i="1" smtClean="0">
                                <a:solidFill>
                                  <a:srgbClr val="FF0000"/>
                                </a:solidFill>
                                <a:latin typeface="Cambria Math" panose="02040503050406030204" pitchFamily="18" charset="0"/>
                              </a:rPr>
                              <m:t>0</m:t>
                            </m:r>
                            <m:r>
                              <a:rPr lang="en-US" altLang="zh-CN" sz="2000" b="0" i="1" smtClean="0">
                                <a:solidFill>
                                  <a:srgbClr val="FF0000"/>
                                </a:solidFill>
                                <a:latin typeface="Cambria Math" panose="02040503050406030204" pitchFamily="18" charset="0"/>
                              </a:rPr>
                              <m:t>.</m:t>
                            </m:r>
                            <m:r>
                              <a:rPr lang="en-US" altLang="zh-CN" sz="2000" b="0" i="1" smtClean="0">
                                <a:solidFill>
                                  <a:srgbClr val="FF0000"/>
                                </a:solidFill>
                                <a:latin typeface="Cambria Math" panose="02040503050406030204" pitchFamily="18" charset="0"/>
                              </a:rPr>
                              <m:t>55</m:t>
                            </m:r>
                          </m:e>
                          <m:e>
                            <m:r>
                              <a:rPr lang="en-US" altLang="zh-CN" sz="2000" b="0" i="1" smtClean="0">
                                <a:solidFill>
                                  <a:srgbClr val="FF0000"/>
                                </a:solidFill>
                                <a:latin typeface="Cambria Math" panose="02040503050406030204" pitchFamily="18" charset="0"/>
                              </a:rPr>
                              <m:t>0</m:t>
                            </m:r>
                            <m:r>
                              <a:rPr lang="en-US" altLang="zh-CN" sz="2000" b="0" i="1" smtClean="0">
                                <a:solidFill>
                                  <a:srgbClr val="FF0000"/>
                                </a:solidFill>
                                <a:latin typeface="Cambria Math" panose="02040503050406030204" pitchFamily="18" charset="0"/>
                              </a:rPr>
                              <m:t>.</m:t>
                            </m:r>
                            <m:r>
                              <a:rPr lang="en-US" altLang="zh-CN" sz="2000" b="0" i="1" smtClean="0">
                                <a:solidFill>
                                  <a:srgbClr val="FF0000"/>
                                </a:solidFill>
                                <a:latin typeface="Cambria Math" panose="02040503050406030204" pitchFamily="18" charset="0"/>
                              </a:rPr>
                              <m:t>45</m:t>
                            </m:r>
                          </m:e>
                        </m:eqArr>
                      </m:e>
                    </m:d>
                    <m:r>
                      <a:rPr lang="en-US" altLang="zh-CN" sz="2000" i="1">
                        <a:latin typeface="Cambria Math" panose="02040503050406030204" pitchFamily="18" charset="0"/>
                      </a:rPr>
                      <m:t>=</m:t>
                    </m:r>
                    <m:d>
                      <m:dPr>
                        <m:begChr m:val="["/>
                        <m:endChr m:val="]"/>
                        <m:ctrlPr>
                          <a:rPr lang="en-US" altLang="zh-CN" sz="2000" i="1" smtClean="0">
                            <a:solidFill>
                              <a:srgbClr val="0070C0"/>
                            </a:solidFill>
                            <a:latin typeface="Cambria Math" panose="02040503050406030204" pitchFamily="18" charset="0"/>
                          </a:rPr>
                        </m:ctrlPr>
                      </m:dPr>
                      <m:e>
                        <m:eqArr>
                          <m:eqArrPr>
                            <m:ctrlPr>
                              <a:rPr lang="en-US" altLang="zh-CN" sz="2000" i="1">
                                <a:solidFill>
                                  <a:srgbClr val="0070C0"/>
                                </a:solidFill>
                                <a:latin typeface="Cambria Math" panose="02040503050406030204" pitchFamily="18" charset="0"/>
                              </a:rPr>
                            </m:ctrlPr>
                          </m:eqArrPr>
                          <m:e>
                            <m:acc>
                              <m:accPr>
                                <m:chr m:val="̂"/>
                                <m:ctrlPr>
                                  <a:rPr lang="en-US" altLang="zh-CN" sz="2000" i="1">
                                    <a:solidFill>
                                      <a:srgbClr val="0070C0"/>
                                    </a:solidFill>
                                    <a:latin typeface="Cambria Math" panose="02040503050406030204" pitchFamily="18" charset="0"/>
                                  </a:rPr>
                                </m:ctrlPr>
                              </m:accPr>
                              <m:e>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𝑤</m:t>
                                    </m:r>
                                  </m:e>
                                  <m:sub>
                                    <m:r>
                                      <a:rPr lang="en-US" altLang="zh-CN" sz="2000" b="0" i="1" smtClean="0">
                                        <a:solidFill>
                                          <a:srgbClr val="0070C0"/>
                                        </a:solidFill>
                                        <a:latin typeface="Cambria Math" panose="02040503050406030204" pitchFamily="18" charset="0"/>
                                      </a:rPr>
                                      <m:t>1</m:t>
                                    </m:r>
                                  </m:sub>
                                </m:sSub>
                              </m:e>
                            </m:acc>
                          </m:e>
                          <m:e>
                            <m:acc>
                              <m:accPr>
                                <m:chr m:val="̂"/>
                                <m:ctrlPr>
                                  <a:rPr lang="en-US" altLang="zh-CN" sz="2000" i="1">
                                    <a:solidFill>
                                      <a:srgbClr val="0070C0"/>
                                    </a:solidFill>
                                    <a:latin typeface="Cambria Math" panose="02040503050406030204" pitchFamily="18" charset="0"/>
                                  </a:rPr>
                                </m:ctrlPr>
                              </m:accPr>
                              <m:e>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𝑤</m:t>
                                    </m:r>
                                  </m:e>
                                  <m:sub>
                                    <m:r>
                                      <a:rPr lang="en-US" altLang="zh-CN" sz="2000" b="0" i="1" smtClean="0">
                                        <a:solidFill>
                                          <a:srgbClr val="0070C0"/>
                                        </a:solidFill>
                                        <a:latin typeface="Cambria Math" panose="02040503050406030204" pitchFamily="18" charset="0"/>
                                      </a:rPr>
                                      <m:t>0</m:t>
                                    </m:r>
                                  </m:sub>
                                </m:sSub>
                              </m:e>
                            </m:acc>
                          </m:e>
                        </m:eqArr>
                      </m:e>
                    </m:d>
                  </m:oMath>
                </a14:m>
                <a:r>
                  <a:rPr lang="en-US" altLang="zh-CN" sz="2000" dirty="0"/>
                  <a:t>.</a:t>
                </a:r>
              </a:p>
              <a:p>
                <a:pPr marL="0" indent="0">
                  <a:buNone/>
                </a:pPr>
                <a:endParaRPr lang="ar-AE" altLang="zh-CN" sz="2000" dirty="0"/>
              </a:p>
            </p:txBody>
          </p:sp>
        </mc:Choice>
        <mc:Fallback xmlns="">
          <p:sp>
            <p:nvSpPr>
              <p:cNvPr id="105" name="Google Shape;105;g3d5515e1802_0_14"/>
              <p:cNvSpPr txBox="1">
                <a:spLocks noGrp="1" noRot="1" noChangeAspect="1" noMove="1" noResize="1" noEditPoints="1" noAdjustHandles="1" noChangeArrowheads="1" noChangeShapeType="1" noTextEdit="1"/>
              </p:cNvSpPr>
              <p:nvPr>
                <p:ph type="body" idx="1"/>
              </p:nvPr>
            </p:nvSpPr>
            <p:spPr>
              <a:xfrm>
                <a:off x="1375666" y="1314821"/>
                <a:ext cx="10987668" cy="4219832"/>
              </a:xfrm>
              <a:prstGeom prst="rect">
                <a:avLst/>
              </a:prstGeom>
              <a:blipFill>
                <a:blip r:embed="rId3"/>
                <a:stretch>
                  <a:fillRect l="-832" t="-578" b="-4913"/>
                </a:stretch>
              </a:blipFill>
            </p:spPr>
            <p:txBody>
              <a:bodyPr/>
              <a:lstStyle/>
              <a:p>
                <a:r>
                  <a:rPr lang="zh-CN" altLang="en-US">
                    <a:noFill/>
                  </a:rPr>
                  <a:t> </a:t>
                </a:r>
              </a:p>
            </p:txBody>
          </p:sp>
        </mc:Fallback>
      </mc:AlternateContent>
      <p:graphicFrame>
        <p:nvGraphicFramePr>
          <p:cNvPr id="107" name="Google Shape;107;g3d5515e1802_0_14"/>
          <p:cNvGraphicFramePr/>
          <p:nvPr>
            <p:extLst>
              <p:ext uri="{D42A27DB-BD31-4B8C-83A1-F6EECF244321}">
                <p14:modId xmlns:p14="http://schemas.microsoft.com/office/powerpoint/2010/main" val="2047285771"/>
              </p:ext>
            </p:extLst>
          </p:nvPr>
        </p:nvGraphicFramePr>
        <p:xfrm>
          <a:off x="1580100" y="2399125"/>
          <a:ext cx="8337400" cy="1584840"/>
        </p:xfrm>
        <a:graphic>
          <a:graphicData uri="http://schemas.openxmlformats.org/drawingml/2006/table">
            <a:tbl>
              <a:tblPr>
                <a:noFill/>
                <a:tableStyleId>{9F483FC4-A8E0-496E-99EA-8A9381747193}</a:tableStyleId>
              </a:tblPr>
              <a:tblGrid>
                <a:gridCol w="2084350">
                  <a:extLst>
                    <a:ext uri="{9D8B030D-6E8A-4147-A177-3AD203B41FA5}">
                      <a16:colId xmlns:a16="http://schemas.microsoft.com/office/drawing/2014/main" val="20000"/>
                    </a:ext>
                  </a:extLst>
                </a:gridCol>
                <a:gridCol w="2084350">
                  <a:extLst>
                    <a:ext uri="{9D8B030D-6E8A-4147-A177-3AD203B41FA5}">
                      <a16:colId xmlns:a16="http://schemas.microsoft.com/office/drawing/2014/main" val="20001"/>
                    </a:ext>
                  </a:extLst>
                </a:gridCol>
                <a:gridCol w="2084350">
                  <a:extLst>
                    <a:ext uri="{9D8B030D-6E8A-4147-A177-3AD203B41FA5}">
                      <a16:colId xmlns:a16="http://schemas.microsoft.com/office/drawing/2014/main" val="20002"/>
                    </a:ext>
                  </a:extLst>
                </a:gridCol>
                <a:gridCol w="2084350">
                  <a:extLst>
                    <a:ext uri="{9D8B030D-6E8A-4147-A177-3AD203B41FA5}">
                      <a16:colId xmlns:a16="http://schemas.microsoft.com/office/drawing/2014/main" val="20003"/>
                    </a:ext>
                  </a:extLst>
                </a:gridCol>
              </a:tblGrid>
              <a:tr h="262125">
                <a:tc>
                  <a:txBody>
                    <a:bodyPr/>
                    <a:lstStyle/>
                    <a:p>
                      <a:pPr marL="0" lvl="0" indent="0" algn="l" rtl="0">
                        <a:spcBef>
                          <a:spcPts val="0"/>
                        </a:spcBef>
                        <a:spcAft>
                          <a:spcPts val="0"/>
                        </a:spcAft>
                        <a:buNone/>
                      </a:pPr>
                      <a:r>
                        <a:rPr lang="en-US"/>
                        <a:t>True Label</a:t>
                      </a:r>
                      <a:endParaRPr/>
                    </a:p>
                  </a:txBody>
                  <a:tcPr marL="91425" marR="91425" marT="91425" marB="91425"/>
                </a:tc>
                <a:tc>
                  <a:txBody>
                    <a:bodyPr/>
                    <a:lstStyle/>
                    <a:p>
                      <a:pPr marL="0" lvl="0" indent="0" algn="l" rtl="0">
                        <a:spcBef>
                          <a:spcPts val="0"/>
                        </a:spcBef>
                        <a:spcAft>
                          <a:spcPts val="0"/>
                        </a:spcAft>
                        <a:buNone/>
                      </a:pPr>
                      <a:r>
                        <a:rPr lang="en-US" altLang="zh-CN" dirty="0"/>
                        <a:t>True</a:t>
                      </a:r>
                      <a:r>
                        <a:rPr lang="en-US" dirty="0"/>
                        <a:t> y = 1</a:t>
                      </a:r>
                      <a:endParaRPr dirty="0"/>
                    </a:p>
                  </a:txBody>
                  <a:tcPr marL="91425" marR="91425" marT="91425" marB="91425"/>
                </a:tc>
                <a:tc>
                  <a:txBody>
                    <a:bodyPr/>
                    <a:lstStyle/>
                    <a:p>
                      <a:pPr marL="0" lvl="0" indent="0" algn="l" rtl="0">
                        <a:spcBef>
                          <a:spcPts val="0"/>
                        </a:spcBef>
                        <a:spcAft>
                          <a:spcPts val="0"/>
                        </a:spcAft>
                        <a:buNone/>
                      </a:pPr>
                      <a:r>
                        <a:rPr lang="en-US" altLang="zh-CN" dirty="0"/>
                        <a:t>True </a:t>
                      </a:r>
                      <a:r>
                        <a:rPr lang="en-US" dirty="0"/>
                        <a:t>y = 0</a:t>
                      </a:r>
                      <a:endParaRPr dirty="0"/>
                    </a:p>
                  </a:txBody>
                  <a:tcPr marL="91425" marR="91425" marT="91425" marB="91425"/>
                </a:tc>
                <a:tc>
                  <a:txBody>
                    <a:bodyPr/>
                    <a:lstStyle/>
                    <a:p>
                      <a:pPr marL="0" lvl="0" indent="0" algn="l" rtl="0">
                        <a:spcBef>
                          <a:spcPts val="0"/>
                        </a:spcBef>
                        <a:spcAft>
                          <a:spcPts val="0"/>
                        </a:spcAft>
                        <a:buNone/>
                      </a:pPr>
                      <a:r>
                        <a:rPr lang="en-US"/>
                        <a:t>Total</a:t>
                      </a:r>
                      <a:endParaRPr/>
                    </a:p>
                  </a:txBody>
                  <a:tcPr marL="91425" marR="91425" marT="91425" marB="91425"/>
                </a:tc>
                <a:extLst>
                  <a:ext uri="{0D108BD9-81ED-4DB2-BD59-A6C34878D82A}">
                    <a16:rowId xmlns:a16="http://schemas.microsoft.com/office/drawing/2014/main" val="10000"/>
                  </a:ext>
                </a:extLst>
              </a:tr>
              <a:tr h="252050">
                <a:tc>
                  <a:txBody>
                    <a:bodyPr/>
                    <a:lstStyle/>
                    <a:p>
                      <a:pPr marL="0" lvl="0" indent="0" algn="l" rtl="0">
                        <a:spcBef>
                          <a:spcPts val="0"/>
                        </a:spcBef>
                        <a:spcAft>
                          <a:spcPts val="0"/>
                        </a:spcAft>
                        <a:buNone/>
                      </a:pPr>
                      <a:r>
                        <a:rPr lang="en-US" altLang="zh-CN" dirty="0"/>
                        <a:t>Predicted y = 1</a:t>
                      </a:r>
                    </a:p>
                  </a:txBody>
                  <a:tcPr marL="91425" marR="91425" marT="91425" marB="91425"/>
                </a:tc>
                <a:tc>
                  <a:txBody>
                    <a:bodyPr/>
                    <a:lstStyle/>
                    <a:p>
                      <a:pPr marL="0" lvl="0" indent="0" algn="l" rtl="0">
                        <a:spcBef>
                          <a:spcPts val="0"/>
                        </a:spcBef>
                        <a:spcAft>
                          <a:spcPts val="0"/>
                        </a:spcAft>
                        <a:buNone/>
                      </a:pPr>
                      <a:r>
                        <a:rPr lang="en-US" dirty="0"/>
                        <a:t>40</a:t>
                      </a:r>
                      <a:endParaRPr dirty="0"/>
                    </a:p>
                  </a:txBody>
                  <a:tcPr marL="91425" marR="91425" marT="91425" marB="91425"/>
                </a:tc>
                <a:tc>
                  <a:txBody>
                    <a:bodyPr/>
                    <a:lstStyle/>
                    <a:p>
                      <a:pPr marL="0" lvl="0" indent="0" algn="l" rtl="0">
                        <a:spcBef>
                          <a:spcPts val="0"/>
                        </a:spcBef>
                        <a:spcAft>
                          <a:spcPts val="0"/>
                        </a:spcAft>
                        <a:buNone/>
                      </a:pPr>
                      <a:r>
                        <a:rPr lang="en-US" dirty="0"/>
                        <a:t>10</a:t>
                      </a:r>
                      <a:endParaRPr dirty="0"/>
                    </a:p>
                  </a:txBody>
                  <a:tcPr marL="91425" marR="91425" marT="91425" marB="91425"/>
                </a:tc>
                <a:tc>
                  <a:txBody>
                    <a:bodyPr/>
                    <a:lstStyle/>
                    <a:p>
                      <a:pPr marL="0" lvl="0" indent="0" algn="l" rtl="0">
                        <a:spcBef>
                          <a:spcPts val="0"/>
                        </a:spcBef>
                        <a:spcAft>
                          <a:spcPts val="0"/>
                        </a:spcAft>
                        <a:buNone/>
                      </a:pPr>
                      <a:r>
                        <a:rPr lang="en-US" dirty="0"/>
                        <a:t>50</a:t>
                      </a:r>
                      <a:endParaRPr dirty="0"/>
                    </a:p>
                  </a:txBody>
                  <a:tcPr marL="91425" marR="91425" marT="91425" marB="91425"/>
                </a:tc>
                <a:extLst>
                  <a:ext uri="{0D108BD9-81ED-4DB2-BD59-A6C34878D82A}">
                    <a16:rowId xmlns:a16="http://schemas.microsoft.com/office/drawing/2014/main" val="10001"/>
                  </a:ext>
                </a:extLst>
              </a:tr>
              <a:tr h="252050">
                <a:tc>
                  <a:txBody>
                    <a:bodyPr/>
                    <a:lstStyle/>
                    <a:p>
                      <a:pPr marL="0" lvl="0" indent="0" algn="l" rtl="0">
                        <a:spcBef>
                          <a:spcPts val="0"/>
                        </a:spcBef>
                        <a:spcAft>
                          <a:spcPts val="0"/>
                        </a:spcAft>
                        <a:buNone/>
                      </a:pPr>
                      <a:r>
                        <a:rPr lang="en-US" altLang="zh-CN" dirty="0"/>
                        <a:t>Predicted y = 0</a:t>
                      </a:r>
                    </a:p>
                  </a:txBody>
                  <a:tcPr marL="91425" marR="91425" marT="91425" marB="91425"/>
                </a:tc>
                <a:tc>
                  <a:txBody>
                    <a:bodyPr/>
                    <a:lstStyle/>
                    <a:p>
                      <a:pPr marL="0" lvl="0" indent="0" algn="l" rtl="0">
                        <a:spcBef>
                          <a:spcPts val="0"/>
                        </a:spcBef>
                        <a:spcAft>
                          <a:spcPts val="0"/>
                        </a:spcAft>
                        <a:buNone/>
                      </a:pPr>
                      <a:r>
                        <a:rPr lang="en-US" dirty="0"/>
                        <a:t>10</a:t>
                      </a:r>
                      <a:endParaRPr dirty="0"/>
                    </a:p>
                  </a:txBody>
                  <a:tcPr marL="91425" marR="91425" marT="91425" marB="91425"/>
                </a:tc>
                <a:tc>
                  <a:txBody>
                    <a:bodyPr/>
                    <a:lstStyle/>
                    <a:p>
                      <a:pPr marL="0" lvl="0" indent="0" algn="l" rtl="0">
                        <a:spcBef>
                          <a:spcPts val="0"/>
                        </a:spcBef>
                        <a:spcAft>
                          <a:spcPts val="0"/>
                        </a:spcAft>
                        <a:buNone/>
                      </a:pPr>
                      <a:r>
                        <a:rPr lang="en-US" dirty="0"/>
                        <a:t>40</a:t>
                      </a:r>
                      <a:endParaRPr dirty="0"/>
                    </a:p>
                  </a:txBody>
                  <a:tcPr marL="91425" marR="91425" marT="91425" marB="91425"/>
                </a:tc>
                <a:tc>
                  <a:txBody>
                    <a:bodyPr/>
                    <a:lstStyle/>
                    <a:p>
                      <a:pPr marL="0" lvl="0" indent="0" algn="l" rtl="0">
                        <a:spcBef>
                          <a:spcPts val="0"/>
                        </a:spcBef>
                        <a:spcAft>
                          <a:spcPts val="0"/>
                        </a:spcAft>
                        <a:buNone/>
                      </a:pPr>
                      <a:r>
                        <a:rPr lang="en-US" dirty="0"/>
                        <a:t>50</a:t>
                      </a:r>
                      <a:endParaRPr dirty="0"/>
                    </a:p>
                  </a:txBody>
                  <a:tcPr marL="91425" marR="91425" marT="91425" marB="91425"/>
                </a:tc>
                <a:extLst>
                  <a:ext uri="{0D108BD9-81ED-4DB2-BD59-A6C34878D82A}">
                    <a16:rowId xmlns:a16="http://schemas.microsoft.com/office/drawing/2014/main" val="10002"/>
                  </a:ext>
                </a:extLst>
              </a:tr>
              <a:tr h="252050">
                <a:tc>
                  <a:txBody>
                    <a:bodyPr/>
                    <a:lstStyle/>
                    <a:p>
                      <a:pPr marL="0" lvl="0" indent="0" algn="l" rtl="0">
                        <a:spcBef>
                          <a:spcPts val="0"/>
                        </a:spcBef>
                        <a:spcAft>
                          <a:spcPts val="0"/>
                        </a:spcAft>
                        <a:buNone/>
                      </a:pPr>
                      <a:r>
                        <a:rPr lang="en-US"/>
                        <a:t>Total</a:t>
                      </a:r>
                      <a:endParaRPr/>
                    </a:p>
                  </a:txBody>
                  <a:tcPr marL="91425" marR="91425" marT="91425" marB="91425"/>
                </a:tc>
                <a:tc>
                  <a:txBody>
                    <a:bodyPr/>
                    <a:lstStyle/>
                    <a:p>
                      <a:pPr marL="0" lvl="0" indent="0" algn="l" rtl="0">
                        <a:spcBef>
                          <a:spcPts val="0"/>
                        </a:spcBef>
                        <a:spcAft>
                          <a:spcPts val="0"/>
                        </a:spcAft>
                        <a:buNone/>
                      </a:pPr>
                      <a:r>
                        <a:rPr lang="en-US" dirty="0"/>
                        <a:t>50</a:t>
                      </a:r>
                      <a:endParaRPr dirty="0"/>
                    </a:p>
                  </a:txBody>
                  <a:tcPr marL="91425" marR="91425" marT="91425" marB="91425"/>
                </a:tc>
                <a:tc>
                  <a:txBody>
                    <a:bodyPr/>
                    <a:lstStyle/>
                    <a:p>
                      <a:pPr marL="0" lvl="0" indent="0" algn="l" rtl="0">
                        <a:spcBef>
                          <a:spcPts val="0"/>
                        </a:spcBef>
                        <a:spcAft>
                          <a:spcPts val="0"/>
                        </a:spcAft>
                        <a:buNone/>
                      </a:pPr>
                      <a:r>
                        <a:rPr lang="en-US" dirty="0"/>
                        <a:t>50</a:t>
                      </a:r>
                      <a:endParaRPr dirty="0"/>
                    </a:p>
                  </a:txBody>
                  <a:tcPr marL="91425" marR="91425" marT="91425" marB="91425"/>
                </a:tc>
                <a:tc>
                  <a:txBody>
                    <a:bodyPr/>
                    <a:lstStyle/>
                    <a:p>
                      <a:pPr marL="0" lvl="0" indent="0" algn="l" rtl="0">
                        <a:spcBef>
                          <a:spcPts val="0"/>
                        </a:spcBef>
                        <a:spcAft>
                          <a:spcPts val="0"/>
                        </a:spcAft>
                        <a:buNone/>
                      </a:pPr>
                      <a:r>
                        <a:rPr lang="en-US" dirty="0"/>
                        <a:t>100</a:t>
                      </a:r>
                      <a:endParaRPr dirty="0"/>
                    </a:p>
                  </a:txBody>
                  <a:tcPr marL="91425" marR="91425" marT="91425" marB="91425"/>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D15815EE-000F-085C-8E4F-EF257DFEE999}"/>
                  </a:ext>
                </a:extLst>
              </p:cNvPr>
              <p:cNvSpPr txBox="1"/>
              <p:nvPr/>
            </p:nvSpPr>
            <p:spPr>
              <a:xfrm>
                <a:off x="1992350" y="5395267"/>
                <a:ext cx="8348876" cy="717248"/>
              </a:xfrm>
              <a:prstGeom prst="rect">
                <a:avLst/>
              </a:prstGeom>
              <a:noFill/>
            </p:spPr>
            <p:txBody>
              <a:bodyPr wrap="square">
                <a:spAutoFit/>
              </a:bodyPr>
              <a:lstStyle/>
              <a:p>
                <a14:m>
                  <m:oMath xmlns:m="http://schemas.openxmlformats.org/officeDocument/2006/math">
                    <m:f>
                      <m:fPr>
                        <m:ctrlPr>
                          <a:rPr lang="en-US" altLang="zh-CN" sz="2000" i="1" smtClean="0">
                            <a:latin typeface="Cambria Math" panose="02040503050406030204" pitchFamily="18" charset="0"/>
                          </a:rPr>
                        </m:ctrlPr>
                      </m:fPr>
                      <m:num>
                        <m:d>
                          <m:dPr>
                            <m:begChr m:val="["/>
                            <m:endChr m:val="]"/>
                            <m:ctrlPr>
                              <a:rPr lang="en-US" altLang="zh-CN" sz="2000" i="1">
                                <a:latin typeface="Cambria Math" panose="02040503050406030204" pitchFamily="18" charset="0"/>
                              </a:rPr>
                            </m:ctrlPr>
                          </m:dPr>
                          <m:e>
                            <m:eqArr>
                              <m:eqArrPr>
                                <m:ctrlPr>
                                  <a:rPr lang="en-US" altLang="zh-CN" sz="2000" i="1">
                                    <a:latin typeface="Cambria Math" panose="02040503050406030204" pitchFamily="18" charset="0"/>
                                  </a:rPr>
                                </m:ctrlPr>
                              </m:eqArrPr>
                              <m:e>
                                <m:r>
                                  <a:rPr lang="en-US" altLang="zh-CN" sz="2000" i="1">
                                    <a:latin typeface="Cambria Math" panose="02040503050406030204" pitchFamily="18" charset="0"/>
                                  </a:rPr>
                                  <m:t>0</m:t>
                                </m:r>
                                <m:r>
                                  <a:rPr lang="en-US" altLang="zh-CN" sz="2000" i="1">
                                    <a:latin typeface="Cambria Math" panose="02040503050406030204" pitchFamily="18" charset="0"/>
                                  </a:rPr>
                                  <m:t>.</m:t>
                                </m:r>
                                <m:r>
                                  <a:rPr lang="en-US" altLang="zh-CN" sz="2000" b="0" i="1" smtClean="0">
                                    <a:latin typeface="Cambria Math" panose="02040503050406030204" pitchFamily="18" charset="0"/>
                                  </a:rPr>
                                  <m:t>4</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e>
                              <m:e>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4</m:t>
                                </m:r>
                              </m:e>
                            </m:eqArr>
                          </m:e>
                        </m:d>
                      </m:num>
                      <m:den>
                        <m:r>
                          <a:rPr lang="en-US" altLang="zh-CN" sz="2000" b="0" i="1" smtClean="0">
                            <a:latin typeface="Cambria Math" panose="02040503050406030204" pitchFamily="18" charset="0"/>
                            <a:ea typeface="Cambria Math" panose="02040503050406030204" pitchFamily="18" charset="0"/>
                          </a:rPr>
                          <m:t>0</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4</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0</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4</m:t>
                        </m:r>
                        <m:r>
                          <a:rPr lang="en-US" altLang="zh-CN" sz="2000" b="0" i="1" smtClean="0">
                            <a:latin typeface="Cambria Math" panose="02040503050406030204" pitchFamily="18" charset="0"/>
                            <a:ea typeface="Cambria Math" panose="02040503050406030204" pitchFamily="18" charset="0"/>
                          </a:rPr>
                          <m:t> − </m:t>
                        </m:r>
                        <m:r>
                          <a:rPr lang="en-US" altLang="zh-CN" sz="2000" b="0" i="1" smtClean="0">
                            <a:latin typeface="Cambria Math" panose="02040503050406030204" pitchFamily="18" charset="0"/>
                            <a:ea typeface="Cambria Math" panose="02040503050406030204" pitchFamily="18" charset="0"/>
                          </a:rPr>
                          <m:t>0</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1</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0</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1</m:t>
                        </m:r>
                      </m:den>
                    </m:f>
                    <m:r>
                      <a:rPr lang="en-US" altLang="zh-CN" sz="2000" i="1">
                        <a:latin typeface="Cambria Math" panose="02040503050406030204" pitchFamily="18" charset="0"/>
                      </a:rPr>
                      <m:t> </m:t>
                    </m:r>
                    <m:d>
                      <m:dPr>
                        <m:begChr m:val="["/>
                        <m:endChr m:val="]"/>
                        <m:ctrlPr>
                          <a:rPr lang="en-US" altLang="zh-CN" sz="2000" i="1">
                            <a:solidFill>
                              <a:srgbClr val="FF0000"/>
                            </a:solidFill>
                            <a:latin typeface="Cambria Math" panose="02040503050406030204" pitchFamily="18" charset="0"/>
                          </a:rPr>
                        </m:ctrlPr>
                      </m:dPr>
                      <m:e>
                        <m:eqArr>
                          <m:eqArrPr>
                            <m:ctrlPr>
                              <a:rPr lang="en-US" altLang="zh-CN" sz="2000" b="0" i="1" smtClean="0">
                                <a:solidFill>
                                  <a:srgbClr val="FF0000"/>
                                </a:solidFill>
                                <a:latin typeface="Cambria Math" panose="02040503050406030204" pitchFamily="18" charset="0"/>
                              </a:rPr>
                            </m:ctrlPr>
                          </m:eqArrPr>
                          <m:e>
                            <m:r>
                              <a:rPr lang="en-US" altLang="zh-CN" sz="2000" b="0" i="1" smtClean="0">
                                <a:solidFill>
                                  <a:srgbClr val="FF0000"/>
                                </a:solidFill>
                                <a:latin typeface="Cambria Math" panose="02040503050406030204" pitchFamily="18" charset="0"/>
                              </a:rPr>
                              <m:t>0</m:t>
                            </m:r>
                            <m:r>
                              <a:rPr lang="en-US" altLang="zh-CN" sz="2000" b="0" i="1" smtClean="0">
                                <a:solidFill>
                                  <a:srgbClr val="FF0000"/>
                                </a:solidFill>
                                <a:latin typeface="Cambria Math" panose="02040503050406030204" pitchFamily="18" charset="0"/>
                              </a:rPr>
                              <m:t>.</m:t>
                            </m:r>
                            <m:r>
                              <a:rPr lang="en-US" altLang="zh-CN" sz="2000" b="0" i="1" smtClean="0">
                                <a:solidFill>
                                  <a:srgbClr val="FF0000"/>
                                </a:solidFill>
                                <a:latin typeface="Cambria Math" panose="02040503050406030204" pitchFamily="18" charset="0"/>
                              </a:rPr>
                              <m:t>55</m:t>
                            </m:r>
                          </m:e>
                          <m:e>
                            <m:r>
                              <a:rPr lang="en-US" altLang="zh-CN" sz="2000" b="0" i="1" smtClean="0">
                                <a:solidFill>
                                  <a:srgbClr val="FF0000"/>
                                </a:solidFill>
                                <a:latin typeface="Cambria Math" panose="02040503050406030204" pitchFamily="18" charset="0"/>
                              </a:rPr>
                              <m:t>0</m:t>
                            </m:r>
                            <m:r>
                              <a:rPr lang="en-US" altLang="zh-CN" sz="2000" b="0" i="1" smtClean="0">
                                <a:solidFill>
                                  <a:srgbClr val="FF0000"/>
                                </a:solidFill>
                                <a:latin typeface="Cambria Math" panose="02040503050406030204" pitchFamily="18" charset="0"/>
                              </a:rPr>
                              <m:t>.</m:t>
                            </m:r>
                            <m:r>
                              <a:rPr lang="en-US" altLang="zh-CN" sz="2000" b="0" i="1" smtClean="0">
                                <a:solidFill>
                                  <a:srgbClr val="FF0000"/>
                                </a:solidFill>
                                <a:latin typeface="Cambria Math" panose="02040503050406030204" pitchFamily="18" charset="0"/>
                              </a:rPr>
                              <m:t>45</m:t>
                            </m:r>
                          </m:e>
                        </m:eqArr>
                      </m:e>
                    </m:d>
                  </m:oMath>
                </a14:m>
                <a:r>
                  <a:rPr lang="zh-CN" altLang="en-US" sz="2000" dirty="0"/>
                  <a:t> </a:t>
                </a:r>
                <a14:m>
                  <m:oMath xmlns:m="http://schemas.openxmlformats.org/officeDocument/2006/math">
                    <m:r>
                      <a:rPr lang="en-US" altLang="zh-CN" sz="2000" i="1" dirty="0" smtClean="0">
                        <a:latin typeface="Cambria Math" panose="02040503050406030204" pitchFamily="18" charset="0"/>
                        <a:ea typeface="Cambria Math" panose="02040503050406030204" pitchFamily="18" charset="0"/>
                      </a:rPr>
                      <m:t>=</m:t>
                    </m:r>
                  </m:oMath>
                </a14:m>
                <a:r>
                  <a:rPr lang="en-US" altLang="zh-CN" sz="2000" dirty="0"/>
                  <a:t> </a:t>
                </a:r>
                <a14:m>
                  <m:oMath xmlns:m="http://schemas.openxmlformats.org/officeDocument/2006/math">
                    <m:f>
                      <m:fPr>
                        <m:ctrlPr>
                          <a:rPr lang="en-US" altLang="zh-CN" sz="2000" i="1">
                            <a:latin typeface="Cambria Math" panose="02040503050406030204" pitchFamily="18" charset="0"/>
                          </a:rPr>
                        </m:ctrlPr>
                      </m:fPr>
                      <m:num>
                        <m:d>
                          <m:dPr>
                            <m:begChr m:val="["/>
                            <m:endChr m:val="]"/>
                            <m:ctrlPr>
                              <a:rPr lang="en-US" altLang="zh-CN" sz="2000" i="1">
                                <a:latin typeface="Cambria Math" panose="02040503050406030204" pitchFamily="18" charset="0"/>
                              </a:rPr>
                            </m:ctrlPr>
                          </m:dPr>
                          <m:e>
                            <m:eqArr>
                              <m:eqArrPr>
                                <m:ctrlPr>
                                  <a:rPr lang="en-US" altLang="zh-CN" sz="2000" i="1">
                                    <a:latin typeface="Cambria Math" panose="02040503050406030204" pitchFamily="18" charset="0"/>
                                  </a:rPr>
                                </m:ctrlPr>
                              </m:eqArrPr>
                              <m:e>
                                <m:r>
                                  <a:rPr lang="en-US" altLang="zh-CN" sz="2000" i="1">
                                    <a:latin typeface="Cambria Math" panose="02040503050406030204" pitchFamily="18" charset="0"/>
                                  </a:rPr>
                                  <m:t>0</m:t>
                                </m:r>
                                <m:r>
                                  <a:rPr lang="en-US" altLang="zh-CN" sz="2000" i="1">
                                    <a:latin typeface="Cambria Math" panose="02040503050406030204" pitchFamily="18" charset="0"/>
                                  </a:rPr>
                                  <m:t>.</m:t>
                                </m:r>
                                <m:r>
                                  <a:rPr lang="en-US" altLang="zh-CN" sz="2000" b="0" i="1" smtClean="0">
                                    <a:latin typeface="Cambria Math" panose="02040503050406030204" pitchFamily="18" charset="0"/>
                                  </a:rPr>
                                  <m:t>4</m:t>
                                </m:r>
                                <m:r>
                                  <a:rPr lang="en-US" altLang="zh-CN" sz="2000" i="1">
                                    <a:latin typeface="Cambria Math" panose="02040503050406030204" pitchFamily="18" charset="0"/>
                                  </a:rPr>
                                  <m:t> </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e>
                              <m:e>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0</m:t>
                                </m:r>
                                <m:r>
                                  <a:rPr lang="en-US" altLang="zh-CN" sz="2000" i="1">
                                    <a:latin typeface="Cambria Math" panose="02040503050406030204" pitchFamily="18" charset="0"/>
                                  </a:rPr>
                                  <m:t>.</m:t>
                                </m:r>
                                <m:r>
                                  <a:rPr lang="en-US" altLang="zh-CN" sz="2000" b="0" i="1" smtClean="0">
                                    <a:latin typeface="Cambria Math" panose="02040503050406030204" pitchFamily="18" charset="0"/>
                                  </a:rPr>
                                  <m:t>4</m:t>
                                </m:r>
                              </m:e>
                            </m:eqArr>
                          </m:e>
                        </m:d>
                      </m:num>
                      <m:den>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15</m:t>
                        </m:r>
                      </m:den>
                    </m:f>
                    <m:r>
                      <a:rPr lang="en-US" altLang="zh-CN" sz="2000" i="1">
                        <a:latin typeface="Cambria Math" panose="02040503050406030204" pitchFamily="18" charset="0"/>
                      </a:rPr>
                      <m:t> </m:t>
                    </m:r>
                    <m:d>
                      <m:dPr>
                        <m:begChr m:val="["/>
                        <m:endChr m:val="]"/>
                        <m:ctrlPr>
                          <a:rPr lang="en-US" altLang="zh-CN" sz="2000" i="1">
                            <a:solidFill>
                              <a:srgbClr val="FF0000"/>
                            </a:solidFill>
                            <a:latin typeface="Cambria Math" panose="02040503050406030204" pitchFamily="18" charset="0"/>
                          </a:rPr>
                        </m:ctrlPr>
                      </m:dPr>
                      <m:e>
                        <m:eqArr>
                          <m:eqArrPr>
                            <m:ctrlPr>
                              <a:rPr lang="en-US" altLang="zh-CN" sz="2000" i="1">
                                <a:solidFill>
                                  <a:srgbClr val="FF0000"/>
                                </a:solidFill>
                                <a:latin typeface="Cambria Math" panose="02040503050406030204" pitchFamily="18" charset="0"/>
                              </a:rPr>
                            </m:ctrlPr>
                          </m:eqArrPr>
                          <m:e>
                            <m:r>
                              <a:rPr lang="en-US" altLang="zh-CN" sz="2000" i="1">
                                <a:solidFill>
                                  <a:srgbClr val="FF0000"/>
                                </a:solidFill>
                                <a:latin typeface="Cambria Math" panose="02040503050406030204" pitchFamily="18" charset="0"/>
                              </a:rPr>
                              <m:t>0</m:t>
                            </m:r>
                            <m:r>
                              <a:rPr lang="en-US" altLang="zh-CN" sz="2000" i="1">
                                <a:solidFill>
                                  <a:srgbClr val="FF0000"/>
                                </a:solidFill>
                                <a:latin typeface="Cambria Math" panose="02040503050406030204" pitchFamily="18" charset="0"/>
                              </a:rPr>
                              <m:t>.</m:t>
                            </m:r>
                            <m:r>
                              <a:rPr lang="en-US" altLang="zh-CN" sz="2000" b="0" i="1" smtClean="0">
                                <a:solidFill>
                                  <a:srgbClr val="FF0000"/>
                                </a:solidFill>
                                <a:latin typeface="Cambria Math" panose="02040503050406030204" pitchFamily="18" charset="0"/>
                              </a:rPr>
                              <m:t>5</m:t>
                            </m:r>
                            <m:r>
                              <a:rPr lang="en-US" altLang="zh-CN" sz="2000" i="1">
                                <a:solidFill>
                                  <a:srgbClr val="FF0000"/>
                                </a:solidFill>
                                <a:latin typeface="Cambria Math" panose="02040503050406030204" pitchFamily="18" charset="0"/>
                              </a:rPr>
                              <m:t>5</m:t>
                            </m:r>
                          </m:e>
                          <m:e>
                            <m:r>
                              <a:rPr lang="en-US" altLang="zh-CN" sz="2000" i="1">
                                <a:solidFill>
                                  <a:srgbClr val="FF0000"/>
                                </a:solidFill>
                                <a:latin typeface="Cambria Math" panose="02040503050406030204" pitchFamily="18" charset="0"/>
                              </a:rPr>
                              <m:t>0</m:t>
                            </m:r>
                            <m:r>
                              <a:rPr lang="en-US" altLang="zh-CN" sz="2000" i="1">
                                <a:solidFill>
                                  <a:srgbClr val="FF0000"/>
                                </a:solidFill>
                                <a:latin typeface="Cambria Math" panose="02040503050406030204" pitchFamily="18" charset="0"/>
                              </a:rPr>
                              <m:t>.</m:t>
                            </m:r>
                            <m:r>
                              <a:rPr lang="en-US" altLang="zh-CN" sz="2000" b="0" i="1" smtClean="0">
                                <a:solidFill>
                                  <a:srgbClr val="FF0000"/>
                                </a:solidFill>
                                <a:latin typeface="Cambria Math" panose="02040503050406030204" pitchFamily="18" charset="0"/>
                              </a:rPr>
                              <m:t>45</m:t>
                            </m:r>
                          </m:e>
                        </m:eqArr>
                      </m:e>
                    </m:d>
                    <m:r>
                      <a:rPr lang="en-US" altLang="zh-CN" sz="2000" i="1" smtClean="0">
                        <a:solidFill>
                          <a:schemeClr val="bg2"/>
                        </a:solidFill>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i="1">
                            <a:latin typeface="Cambria Math" panose="02040503050406030204" pitchFamily="18" charset="0"/>
                          </a:rPr>
                          <m:t>0</m:t>
                        </m:r>
                        <m:r>
                          <a:rPr lang="en-US" altLang="zh-CN" sz="2000" i="1">
                            <a:latin typeface="Cambria Math" panose="02040503050406030204" pitchFamily="18" charset="0"/>
                          </a:rPr>
                          <m:t>.</m:t>
                        </m:r>
                        <m:r>
                          <a:rPr lang="en-US" altLang="zh-CN" sz="2000" i="1">
                            <a:latin typeface="Cambria Math" panose="02040503050406030204" pitchFamily="18" charset="0"/>
                          </a:rPr>
                          <m:t>15</m:t>
                        </m:r>
                      </m:den>
                    </m:f>
                    <m:r>
                      <a:rPr lang="en-US" altLang="zh-CN" sz="2000" i="1">
                        <a:latin typeface="Cambria Math" panose="02040503050406030204" pitchFamily="18" charset="0"/>
                      </a:rPr>
                      <m:t> </m:t>
                    </m:r>
                    <m:d>
                      <m:dPr>
                        <m:begChr m:val="["/>
                        <m:endChr m:val="]"/>
                        <m:ctrlPr>
                          <a:rPr lang="en-US" altLang="zh-CN" sz="2000" i="1" smtClean="0">
                            <a:solidFill>
                              <a:schemeClr val="bg2"/>
                            </a:solidFill>
                            <a:latin typeface="Cambria Math" panose="02040503050406030204" pitchFamily="18" charset="0"/>
                          </a:rPr>
                        </m:ctrlPr>
                      </m:dPr>
                      <m:e>
                        <m:eqArr>
                          <m:eqArrPr>
                            <m:ctrlPr>
                              <a:rPr lang="en-US" altLang="zh-CN" sz="2000" i="1">
                                <a:solidFill>
                                  <a:schemeClr val="bg2"/>
                                </a:solidFill>
                                <a:latin typeface="Cambria Math" panose="02040503050406030204" pitchFamily="18" charset="0"/>
                              </a:rPr>
                            </m:ctrlPr>
                          </m:eqArrPr>
                          <m:e>
                            <m:r>
                              <a:rPr lang="en-US" altLang="zh-CN" sz="2000" b="0" i="1" smtClean="0">
                                <a:solidFill>
                                  <a:schemeClr val="bg2"/>
                                </a:solidFill>
                                <a:latin typeface="Cambria Math" panose="02040503050406030204" pitchFamily="18" charset="0"/>
                              </a:rPr>
                              <m:t>0</m:t>
                            </m:r>
                            <m:r>
                              <a:rPr lang="en-US" altLang="zh-CN" sz="2000" b="0" i="1" smtClean="0">
                                <a:solidFill>
                                  <a:schemeClr val="bg2"/>
                                </a:solidFill>
                                <a:latin typeface="Cambria Math" panose="02040503050406030204" pitchFamily="18" charset="0"/>
                              </a:rPr>
                              <m:t>.</m:t>
                            </m:r>
                            <m:r>
                              <a:rPr lang="en-US" altLang="zh-CN" sz="2000" b="0" i="1" smtClean="0">
                                <a:solidFill>
                                  <a:schemeClr val="bg2"/>
                                </a:solidFill>
                                <a:latin typeface="Cambria Math" panose="02040503050406030204" pitchFamily="18" charset="0"/>
                              </a:rPr>
                              <m:t>175</m:t>
                            </m:r>
                          </m:e>
                          <m:e>
                            <m:r>
                              <a:rPr lang="en-US" altLang="zh-CN" sz="2000" b="0" i="1" smtClean="0">
                                <a:solidFill>
                                  <a:schemeClr val="bg2"/>
                                </a:solidFill>
                                <a:latin typeface="Cambria Math" panose="02040503050406030204" pitchFamily="18" charset="0"/>
                              </a:rPr>
                              <m:t>0</m:t>
                            </m:r>
                            <m:r>
                              <a:rPr lang="en-US" altLang="zh-CN" sz="2000" b="0" i="1" smtClean="0">
                                <a:solidFill>
                                  <a:schemeClr val="bg2"/>
                                </a:solidFill>
                                <a:latin typeface="Cambria Math" panose="02040503050406030204" pitchFamily="18" charset="0"/>
                              </a:rPr>
                              <m:t>.</m:t>
                            </m:r>
                            <m:r>
                              <a:rPr lang="en-US" altLang="zh-CN" sz="2000" b="0" i="1" smtClean="0">
                                <a:solidFill>
                                  <a:schemeClr val="bg2"/>
                                </a:solidFill>
                                <a:latin typeface="Cambria Math" panose="02040503050406030204" pitchFamily="18" charset="0"/>
                              </a:rPr>
                              <m:t>125</m:t>
                            </m:r>
                          </m:e>
                        </m:eqArr>
                      </m:e>
                    </m:d>
                    <m:r>
                      <a:rPr lang="en-US" altLang="zh-CN" sz="2000" i="1" smtClean="0">
                        <a:solidFill>
                          <a:schemeClr val="bg2"/>
                        </a:solidFill>
                        <a:latin typeface="Cambria Math" panose="02040503050406030204" pitchFamily="18" charset="0"/>
                        <a:ea typeface="Cambria Math" panose="02040503050406030204" pitchFamily="18" charset="0"/>
                      </a:rPr>
                      <m:t>=</m:t>
                    </m:r>
                    <m:d>
                      <m:dPr>
                        <m:begChr m:val="["/>
                        <m:endChr m:val="]"/>
                        <m:ctrlPr>
                          <a:rPr lang="en-US" altLang="zh-CN" sz="2000" i="1" smtClean="0">
                            <a:solidFill>
                              <a:srgbClr val="0070C0"/>
                            </a:solidFill>
                            <a:latin typeface="Cambria Math" panose="02040503050406030204" pitchFamily="18" charset="0"/>
                          </a:rPr>
                        </m:ctrlPr>
                      </m:dPr>
                      <m:e>
                        <m:m>
                          <m:mPr>
                            <m:plcHide m:val="on"/>
                            <m:mcs>
                              <m:mc>
                                <m:mcPr>
                                  <m:count m:val="1"/>
                                  <m:mcJc m:val="center"/>
                                </m:mcPr>
                              </m:mc>
                            </m:mcs>
                            <m:ctrlPr>
                              <a:rPr lang="en-US" altLang="zh-CN" sz="2000" i="1">
                                <a:solidFill>
                                  <a:srgbClr val="0070C0"/>
                                </a:solidFill>
                                <a:latin typeface="Cambria Math" panose="02040503050406030204" pitchFamily="18" charset="0"/>
                              </a:rPr>
                            </m:ctrlPr>
                          </m:mPr>
                          <m:mr>
                            <m:e>
                              <m:eqArr>
                                <m:eqArrPr>
                                  <m:ctrlPr>
                                    <a:rPr lang="en-US" altLang="zh-CN" sz="2000" i="1" smtClean="0">
                                      <a:solidFill>
                                        <a:srgbClr val="0070C0"/>
                                      </a:solidFill>
                                      <a:latin typeface="Cambria Math" panose="02040503050406030204" pitchFamily="18" charset="0"/>
                                    </a:rPr>
                                  </m:ctrlPr>
                                </m:eqArrPr>
                                <m:e>
                                  <m:r>
                                    <a:rPr lang="en-US" altLang="zh-CN" sz="2000" b="0" i="1" smtClean="0">
                                      <a:solidFill>
                                        <a:srgbClr val="0070C0"/>
                                      </a:solidFill>
                                      <a:latin typeface="Cambria Math" panose="02040503050406030204" pitchFamily="18" charset="0"/>
                                    </a:rPr>
                                    <m:t>1</m:t>
                                  </m:r>
                                  <m:r>
                                    <a:rPr lang="en-US" altLang="zh-CN" sz="2000" b="0" i="1" smtClean="0">
                                      <a:solidFill>
                                        <a:srgbClr val="0070C0"/>
                                      </a:solidFill>
                                      <a:latin typeface="Cambria Math" panose="02040503050406030204" pitchFamily="18" charset="0"/>
                                    </a:rPr>
                                    <m:t>.</m:t>
                                  </m:r>
                                  <m:r>
                                    <a:rPr lang="en-US" altLang="zh-CN" sz="2000" b="0" i="1" smtClean="0">
                                      <a:solidFill>
                                        <a:srgbClr val="0070C0"/>
                                      </a:solidFill>
                                      <a:latin typeface="Cambria Math" panose="02040503050406030204" pitchFamily="18" charset="0"/>
                                    </a:rPr>
                                    <m:t>16</m:t>
                                  </m:r>
                                </m:e>
                                <m:e>
                                  <m:r>
                                    <a:rPr lang="en-US" altLang="zh-CN" sz="2000" b="0" i="1" smtClean="0">
                                      <a:solidFill>
                                        <a:srgbClr val="0070C0"/>
                                      </a:solidFill>
                                      <a:latin typeface="Cambria Math" panose="02040503050406030204" pitchFamily="18" charset="0"/>
                                    </a:rPr>
                                    <m:t>0</m:t>
                                  </m:r>
                                  <m:r>
                                    <a:rPr lang="en-US" altLang="zh-CN" sz="2000" b="0" i="1" smtClean="0">
                                      <a:solidFill>
                                        <a:srgbClr val="0070C0"/>
                                      </a:solidFill>
                                      <a:latin typeface="Cambria Math" panose="02040503050406030204" pitchFamily="18" charset="0"/>
                                    </a:rPr>
                                    <m:t>. </m:t>
                                  </m:r>
                                  <m:r>
                                    <a:rPr lang="en-US" altLang="zh-CN" sz="2000" b="0" i="1" smtClean="0">
                                      <a:solidFill>
                                        <a:srgbClr val="0070C0"/>
                                      </a:solidFill>
                                      <a:latin typeface="Cambria Math" panose="02040503050406030204" pitchFamily="18" charset="0"/>
                                    </a:rPr>
                                    <m:t>83</m:t>
                                  </m:r>
                                </m:e>
                              </m:eqArr>
                            </m:e>
                          </m:mr>
                        </m:m>
                      </m:e>
                    </m:d>
                    <m:r>
                      <a:rPr lang="en-US" altLang="zh-CN" sz="2000" i="1" smtClean="0">
                        <a:latin typeface="Cambria Math" panose="02040503050406030204" pitchFamily="18" charset="0"/>
                        <a:ea typeface="Cambria Math" panose="02040503050406030204" pitchFamily="18" charset="0"/>
                      </a:rPr>
                      <m:t>≈</m:t>
                    </m:r>
                    <m:d>
                      <m:dPr>
                        <m:begChr m:val="["/>
                        <m:endChr m:val="]"/>
                        <m:ctrlPr>
                          <a:rPr lang="en-US" altLang="zh-CN" sz="2000" i="1" smtClean="0">
                            <a:solidFill>
                              <a:srgbClr val="0070C0"/>
                            </a:solidFill>
                            <a:latin typeface="Cambria Math" panose="02040503050406030204" pitchFamily="18" charset="0"/>
                            <a:ea typeface="Cambria Math" panose="02040503050406030204" pitchFamily="18" charset="0"/>
                          </a:rPr>
                        </m:ctrlPr>
                      </m:dPr>
                      <m:e>
                        <m:eqArr>
                          <m:eqArrPr>
                            <m:ctrlPr>
                              <a:rPr lang="en-US" altLang="zh-CN" sz="2000" b="0" i="1" smtClean="0">
                                <a:solidFill>
                                  <a:srgbClr val="0070C0"/>
                                </a:solidFill>
                                <a:latin typeface="Cambria Math" panose="02040503050406030204" pitchFamily="18" charset="0"/>
                                <a:ea typeface="Cambria Math" panose="02040503050406030204" pitchFamily="18" charset="0"/>
                              </a:rPr>
                            </m:ctrlPr>
                          </m:eqArrPr>
                          <m:e>
                            <m:r>
                              <a:rPr lang="en-US" altLang="zh-CN" sz="2000" b="0" i="1" smtClean="0">
                                <a:solidFill>
                                  <a:srgbClr val="0070C0"/>
                                </a:solidFill>
                                <a:latin typeface="Cambria Math" panose="02040503050406030204" pitchFamily="18" charset="0"/>
                                <a:ea typeface="Cambria Math" panose="02040503050406030204" pitchFamily="18" charset="0"/>
                              </a:rPr>
                              <m:t>1</m:t>
                            </m:r>
                            <m:r>
                              <a:rPr lang="en-US" altLang="zh-CN" sz="2000" b="0" i="1" smtClean="0">
                                <a:solidFill>
                                  <a:srgbClr val="0070C0"/>
                                </a:solidFill>
                                <a:latin typeface="Cambria Math" panose="02040503050406030204" pitchFamily="18" charset="0"/>
                                <a:ea typeface="Cambria Math" panose="02040503050406030204" pitchFamily="18" charset="0"/>
                              </a:rPr>
                              <m:t>.</m:t>
                            </m:r>
                            <m:r>
                              <a:rPr lang="en-US" altLang="zh-CN" sz="2000" b="0" i="1" smtClean="0">
                                <a:solidFill>
                                  <a:srgbClr val="0070C0"/>
                                </a:solidFill>
                                <a:latin typeface="Cambria Math" panose="02040503050406030204" pitchFamily="18" charset="0"/>
                                <a:ea typeface="Cambria Math" panose="02040503050406030204" pitchFamily="18" charset="0"/>
                              </a:rPr>
                              <m:t>2</m:t>
                            </m:r>
                          </m:e>
                          <m:e>
                            <m:r>
                              <a:rPr lang="en-US" altLang="zh-CN" sz="2000" b="0" i="1" smtClean="0">
                                <a:solidFill>
                                  <a:srgbClr val="0070C0"/>
                                </a:solidFill>
                                <a:latin typeface="Cambria Math" panose="02040503050406030204" pitchFamily="18" charset="0"/>
                                <a:ea typeface="Cambria Math" panose="02040503050406030204" pitchFamily="18" charset="0"/>
                              </a:rPr>
                              <m:t>0</m:t>
                            </m:r>
                            <m:r>
                              <a:rPr lang="en-US" altLang="zh-CN" sz="2000" b="0" i="1" smtClean="0">
                                <a:solidFill>
                                  <a:srgbClr val="0070C0"/>
                                </a:solidFill>
                                <a:latin typeface="Cambria Math" panose="02040503050406030204" pitchFamily="18" charset="0"/>
                                <a:ea typeface="Cambria Math" panose="02040503050406030204" pitchFamily="18" charset="0"/>
                              </a:rPr>
                              <m:t>.</m:t>
                            </m:r>
                            <m:r>
                              <a:rPr lang="en-US" altLang="zh-CN" sz="2000" b="0" i="1" smtClean="0">
                                <a:solidFill>
                                  <a:srgbClr val="0070C0"/>
                                </a:solidFill>
                                <a:latin typeface="Cambria Math" panose="02040503050406030204" pitchFamily="18" charset="0"/>
                                <a:ea typeface="Cambria Math" panose="02040503050406030204" pitchFamily="18" charset="0"/>
                              </a:rPr>
                              <m:t>8</m:t>
                            </m:r>
                          </m:e>
                        </m:eqArr>
                      </m:e>
                    </m:d>
                  </m:oMath>
                </a14:m>
                <a:endParaRPr lang="zh-CN" altLang="en-US" sz="2000" dirty="0"/>
              </a:p>
            </p:txBody>
          </p:sp>
        </mc:Choice>
        <mc:Fallback xmlns="">
          <p:sp>
            <p:nvSpPr>
              <p:cNvPr id="5" name="文本框 4">
                <a:extLst>
                  <a:ext uri="{FF2B5EF4-FFF2-40B4-BE49-F238E27FC236}">
                    <a16:creationId xmlns:a16="http://schemas.microsoft.com/office/drawing/2014/main" id="{D15815EE-000F-085C-8E4F-EF257DFEE999}"/>
                  </a:ext>
                </a:extLst>
              </p:cNvPr>
              <p:cNvSpPr txBox="1">
                <a:spLocks noRot="1" noChangeAspect="1" noMove="1" noResize="1" noEditPoints="1" noAdjustHandles="1" noChangeArrowheads="1" noChangeShapeType="1" noTextEdit="1"/>
              </p:cNvSpPr>
              <p:nvPr/>
            </p:nvSpPr>
            <p:spPr>
              <a:xfrm>
                <a:off x="1992350" y="5395267"/>
                <a:ext cx="8348876" cy="717248"/>
              </a:xfrm>
              <a:prstGeom prst="rect">
                <a:avLst/>
              </a:prstGeom>
              <a:blipFill>
                <a:blip r:embed="rId4"/>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D208CF74-7BA2-A4B1-4CF3-44B28F6C3C64}"/>
              </a:ext>
            </a:extLst>
          </p:cNvPr>
          <p:cNvSpPr txBox="1"/>
          <p:nvPr/>
        </p:nvSpPr>
        <p:spPr>
          <a:xfrm>
            <a:off x="1461050" y="6230965"/>
            <a:ext cx="6096000" cy="523220"/>
          </a:xfrm>
          <a:prstGeom prst="rect">
            <a:avLst/>
          </a:prstGeom>
          <a:noFill/>
        </p:spPr>
        <p:txBody>
          <a:bodyPr wrap="square">
            <a:spAutoFit/>
          </a:bodyPr>
          <a:lstStyle/>
          <a:p>
            <a:pPr marL="0" lvl="0" indent="0" algn="l" rtl="0">
              <a:spcBef>
                <a:spcPts val="1000"/>
              </a:spcBef>
              <a:spcAft>
                <a:spcPts val="0"/>
              </a:spcAft>
              <a:buNone/>
            </a:pPr>
            <a:r>
              <a:rPr lang="en-US" altLang="zh-CN" sz="2800" dirty="0">
                <a:latin typeface="Times New Roman"/>
                <a:ea typeface="Times New Roman"/>
                <a:cs typeface="Times New Roman"/>
                <a:sym typeface="Times New Roman"/>
              </a:rPr>
              <a:t>What if the matrix </a:t>
            </a:r>
            <a:r>
              <a:rPr lang="en-US" altLang="zh-CN" sz="2800" b="1" dirty="0">
                <a:latin typeface="Times New Roman"/>
                <a:ea typeface="Times New Roman"/>
                <a:cs typeface="Times New Roman"/>
                <a:sym typeface="Times New Roman"/>
              </a:rPr>
              <a:t>NOT invertible?</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2039789-3559-17E6-201A-59A8DF320B5E}"/>
                  </a:ext>
                </a:extLst>
              </p:cNvPr>
              <p:cNvSpPr txBox="1"/>
              <p:nvPr/>
            </p:nvSpPr>
            <p:spPr>
              <a:xfrm>
                <a:off x="6869500" y="251907"/>
                <a:ext cx="6096000" cy="6773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latin typeface="Cambria Math" panose="02040503050406030204" pitchFamily="18" charset="0"/>
                            </a:rPr>
                          </m:ctrlPr>
                        </m:sSubPr>
                        <m:e>
                          <m:r>
                            <a:rPr lang="en-US" altLang="zh-CN" sz="1800" b="1" i="1">
                              <a:latin typeface="Cambria Math" panose="02040503050406030204" pitchFamily="18" charset="0"/>
                            </a:rPr>
                            <m:t>𝒘</m:t>
                          </m:r>
                        </m:e>
                        <m:sub>
                          <m:r>
                            <a:rPr lang="en-US" altLang="zh-CN" sz="1800" b="1" i="1">
                              <a:latin typeface="Cambria Math" panose="02040503050406030204" pitchFamily="18" charset="0"/>
                            </a:rPr>
                            <m:t>𝟏</m:t>
                          </m:r>
                        </m:sub>
                      </m:sSub>
                      <m:r>
                        <a:rPr lang="es-ES" altLang="zh-CN" sz="1800" b="1" i="1" smtClean="0">
                          <a:latin typeface="Cambria Math" panose="02040503050406030204" pitchFamily="18" charset="0"/>
                          <a:ea typeface="Times New Roman"/>
                          <a:cs typeface="Times New Roman"/>
                          <a:sym typeface="Times New Roman"/>
                        </a:rPr>
                        <m:t>=</m:t>
                      </m:r>
                      <m:f>
                        <m:fPr>
                          <m:ctrlPr>
                            <a:rPr lang="es-ES" altLang="zh-CN" sz="1800" b="1" i="1">
                              <a:latin typeface="Cambria Math" panose="02040503050406030204" pitchFamily="18" charset="0"/>
                              <a:ea typeface="Times New Roman"/>
                              <a:cs typeface="Times New Roman"/>
                              <a:sym typeface="Times New Roman"/>
                            </a:rPr>
                          </m:ctrlPr>
                        </m:fPr>
                        <m:num>
                          <m:r>
                            <a:rPr lang="es-ES" altLang="zh-CN" sz="1800" b="1" i="1">
                              <a:latin typeface="Cambria Math" panose="02040503050406030204" pitchFamily="18" charset="0"/>
                              <a:ea typeface="Times New Roman"/>
                              <a:cs typeface="Times New Roman"/>
                              <a:sym typeface="Times New Roman"/>
                            </a:rPr>
                            <m:t>𝒒</m:t>
                          </m:r>
                          <m:d>
                            <m:dPr>
                              <m:ctrlPr>
                                <a:rPr lang="es-ES" altLang="zh-CN" sz="1800" b="1" i="1">
                                  <a:latin typeface="Cambria Math" panose="02040503050406030204" pitchFamily="18" charset="0"/>
                                  <a:ea typeface="Times New Roman"/>
                                  <a:cs typeface="Times New Roman"/>
                                  <a:sym typeface="Times New Roman"/>
                                </a:rPr>
                              </m:ctrlPr>
                            </m:dPr>
                            <m:e>
                              <m:r>
                                <a:rPr lang="es-ES" altLang="zh-CN" sz="1800" b="1" i="1">
                                  <a:latin typeface="Cambria Math" panose="02040503050406030204" pitchFamily="18" charset="0"/>
                                  <a:ea typeface="Times New Roman"/>
                                  <a:cs typeface="Times New Roman"/>
                                  <a:sym typeface="Times New Roman"/>
                                </a:rPr>
                                <m:t>𝒚</m:t>
                              </m:r>
                              <m:r>
                                <a:rPr lang="es-ES" altLang="zh-CN" sz="1800" b="1" i="1">
                                  <a:latin typeface="Cambria Math" panose="02040503050406030204" pitchFamily="18" charset="0"/>
                                  <a:ea typeface="Times New Roman"/>
                                  <a:cs typeface="Times New Roman"/>
                                  <a:sym typeface="Times New Roman"/>
                                </a:rPr>
                                <m:t>=</m:t>
                              </m:r>
                              <m:r>
                                <a:rPr lang="es-ES" altLang="zh-CN" sz="1800" b="1" i="1">
                                  <a:latin typeface="Cambria Math" panose="02040503050406030204" pitchFamily="18" charset="0"/>
                                  <a:ea typeface="Times New Roman"/>
                                  <a:cs typeface="Times New Roman"/>
                                  <a:sym typeface="Times New Roman"/>
                                </a:rPr>
                                <m:t>𝟏</m:t>
                              </m:r>
                            </m:e>
                          </m:d>
                        </m:num>
                        <m:den>
                          <m:r>
                            <a:rPr lang="es-ES" altLang="zh-CN" sz="1800" b="1" i="1">
                              <a:latin typeface="Cambria Math" panose="02040503050406030204" pitchFamily="18" charset="0"/>
                              <a:ea typeface="Times New Roman"/>
                              <a:cs typeface="Times New Roman"/>
                              <a:sym typeface="Times New Roman"/>
                            </a:rPr>
                            <m:t>𝒑</m:t>
                          </m:r>
                          <m:d>
                            <m:dPr>
                              <m:ctrlPr>
                                <a:rPr lang="es-ES" altLang="zh-CN" sz="1800" b="1" i="1">
                                  <a:latin typeface="Cambria Math" panose="02040503050406030204" pitchFamily="18" charset="0"/>
                                  <a:ea typeface="Times New Roman"/>
                                  <a:cs typeface="Times New Roman"/>
                                  <a:sym typeface="Times New Roman"/>
                                </a:rPr>
                              </m:ctrlPr>
                            </m:dPr>
                            <m:e>
                              <m:r>
                                <a:rPr lang="es-ES" altLang="zh-CN" sz="1800" b="1" i="1">
                                  <a:latin typeface="Cambria Math" panose="02040503050406030204" pitchFamily="18" charset="0"/>
                                  <a:ea typeface="Times New Roman"/>
                                  <a:cs typeface="Times New Roman"/>
                                  <a:sym typeface="Times New Roman"/>
                                </a:rPr>
                                <m:t>𝒚</m:t>
                              </m:r>
                              <m:r>
                                <a:rPr lang="es-ES" altLang="zh-CN" sz="1800" b="1" i="1">
                                  <a:latin typeface="Cambria Math" panose="02040503050406030204" pitchFamily="18" charset="0"/>
                                  <a:ea typeface="Times New Roman"/>
                                  <a:cs typeface="Times New Roman"/>
                                  <a:sym typeface="Times New Roman"/>
                                </a:rPr>
                                <m:t>=</m:t>
                              </m:r>
                              <m:r>
                                <a:rPr lang="es-ES" altLang="zh-CN" sz="1800" b="1" i="1">
                                  <a:latin typeface="Cambria Math" panose="02040503050406030204" pitchFamily="18" charset="0"/>
                                  <a:ea typeface="Times New Roman"/>
                                  <a:cs typeface="Times New Roman"/>
                                  <a:sym typeface="Times New Roman"/>
                                </a:rPr>
                                <m:t>𝟏</m:t>
                              </m:r>
                            </m:e>
                          </m:d>
                        </m:den>
                      </m:f>
                      <m:r>
                        <a:rPr lang="en-US" altLang="zh-CN" sz="1800" b="1" i="1" smtClean="0">
                          <a:latin typeface="Cambria Math" panose="02040503050406030204" pitchFamily="18" charset="0"/>
                          <a:ea typeface="Times New Roman"/>
                          <a:cs typeface="Times New Roman"/>
                          <a:sym typeface="Times New Roman"/>
                        </a:rPr>
                        <m:t>,</m:t>
                      </m:r>
                      <m:sSub>
                        <m:sSubPr>
                          <m:ctrlPr>
                            <a:rPr lang="en-US" altLang="zh-CN" sz="1800" b="1" i="1">
                              <a:latin typeface="Cambria Math" panose="02040503050406030204" pitchFamily="18" charset="0"/>
                            </a:rPr>
                          </m:ctrlPr>
                        </m:sSubPr>
                        <m:e>
                          <m:r>
                            <a:rPr lang="en-US" altLang="zh-CN" sz="1800" b="1" i="1">
                              <a:latin typeface="Cambria Math" panose="02040503050406030204" pitchFamily="18" charset="0"/>
                            </a:rPr>
                            <m:t>𝒘</m:t>
                          </m:r>
                        </m:e>
                        <m:sub>
                          <m:r>
                            <a:rPr lang="en-US" altLang="zh-CN" sz="1800" b="1" i="1" smtClean="0">
                              <a:latin typeface="Cambria Math" panose="02040503050406030204" pitchFamily="18" charset="0"/>
                            </a:rPr>
                            <m:t>𝟎</m:t>
                          </m:r>
                        </m:sub>
                      </m:sSub>
                      <m:r>
                        <a:rPr lang="es-ES" altLang="zh-CN" sz="1800" b="1" i="1">
                          <a:latin typeface="Cambria Math" panose="02040503050406030204" pitchFamily="18" charset="0"/>
                          <a:ea typeface="Times New Roman"/>
                          <a:cs typeface="Times New Roman"/>
                          <a:sym typeface="Times New Roman"/>
                        </a:rPr>
                        <m:t>=</m:t>
                      </m:r>
                      <m:f>
                        <m:fPr>
                          <m:ctrlPr>
                            <a:rPr lang="es-ES" altLang="zh-CN" sz="1800" b="1" i="1">
                              <a:latin typeface="Cambria Math" panose="02040503050406030204" pitchFamily="18" charset="0"/>
                              <a:ea typeface="Times New Roman"/>
                              <a:cs typeface="Times New Roman"/>
                              <a:sym typeface="Times New Roman"/>
                            </a:rPr>
                          </m:ctrlPr>
                        </m:fPr>
                        <m:num>
                          <m:r>
                            <a:rPr lang="es-ES" altLang="zh-CN" sz="1800" b="1" i="1">
                              <a:latin typeface="Cambria Math" panose="02040503050406030204" pitchFamily="18" charset="0"/>
                              <a:ea typeface="Times New Roman"/>
                              <a:cs typeface="Times New Roman"/>
                              <a:sym typeface="Times New Roman"/>
                            </a:rPr>
                            <m:t>𝒒</m:t>
                          </m:r>
                          <m:d>
                            <m:dPr>
                              <m:ctrlPr>
                                <a:rPr lang="es-ES" altLang="zh-CN" sz="1800" b="1" i="1">
                                  <a:latin typeface="Cambria Math" panose="02040503050406030204" pitchFamily="18" charset="0"/>
                                  <a:ea typeface="Times New Roman"/>
                                  <a:cs typeface="Times New Roman"/>
                                  <a:sym typeface="Times New Roman"/>
                                </a:rPr>
                              </m:ctrlPr>
                            </m:dPr>
                            <m:e>
                              <m:r>
                                <a:rPr lang="es-ES" altLang="zh-CN" sz="1800" b="1" i="1">
                                  <a:latin typeface="Cambria Math" panose="02040503050406030204" pitchFamily="18" charset="0"/>
                                  <a:ea typeface="Times New Roman"/>
                                  <a:cs typeface="Times New Roman"/>
                                  <a:sym typeface="Times New Roman"/>
                                </a:rPr>
                                <m:t>𝒚</m:t>
                              </m:r>
                              <m:r>
                                <a:rPr lang="es-ES" altLang="zh-CN" sz="1800" b="1" i="1">
                                  <a:latin typeface="Cambria Math" panose="02040503050406030204" pitchFamily="18" charset="0"/>
                                  <a:ea typeface="Times New Roman"/>
                                  <a:cs typeface="Times New Roman"/>
                                  <a:sym typeface="Times New Roman"/>
                                </a:rPr>
                                <m:t>=</m:t>
                              </m:r>
                              <m:r>
                                <a:rPr lang="en-US" altLang="zh-CN" sz="1800" b="1" i="1" smtClean="0">
                                  <a:latin typeface="Cambria Math" panose="02040503050406030204" pitchFamily="18" charset="0"/>
                                  <a:ea typeface="Times New Roman"/>
                                  <a:cs typeface="Times New Roman"/>
                                  <a:sym typeface="Times New Roman"/>
                                </a:rPr>
                                <m:t>𝟎</m:t>
                              </m:r>
                            </m:e>
                          </m:d>
                        </m:num>
                        <m:den>
                          <m:r>
                            <a:rPr lang="es-ES" altLang="zh-CN" sz="1800" b="1" i="1">
                              <a:latin typeface="Cambria Math" panose="02040503050406030204" pitchFamily="18" charset="0"/>
                              <a:ea typeface="Times New Roman"/>
                              <a:cs typeface="Times New Roman"/>
                              <a:sym typeface="Times New Roman"/>
                            </a:rPr>
                            <m:t>𝒑</m:t>
                          </m:r>
                          <m:d>
                            <m:dPr>
                              <m:ctrlPr>
                                <a:rPr lang="es-ES" altLang="zh-CN" sz="1800" b="1" i="1">
                                  <a:latin typeface="Cambria Math" panose="02040503050406030204" pitchFamily="18" charset="0"/>
                                  <a:ea typeface="Times New Roman"/>
                                  <a:cs typeface="Times New Roman"/>
                                  <a:sym typeface="Times New Roman"/>
                                </a:rPr>
                              </m:ctrlPr>
                            </m:dPr>
                            <m:e>
                              <m:r>
                                <a:rPr lang="es-ES" altLang="zh-CN" sz="1800" b="1" i="1">
                                  <a:latin typeface="Cambria Math" panose="02040503050406030204" pitchFamily="18" charset="0"/>
                                  <a:ea typeface="Times New Roman"/>
                                  <a:cs typeface="Times New Roman"/>
                                  <a:sym typeface="Times New Roman"/>
                                </a:rPr>
                                <m:t>𝒚</m:t>
                              </m:r>
                              <m:r>
                                <a:rPr lang="es-ES" altLang="zh-CN" sz="1800" b="1" i="1">
                                  <a:latin typeface="Cambria Math" panose="02040503050406030204" pitchFamily="18" charset="0"/>
                                  <a:ea typeface="Times New Roman"/>
                                  <a:cs typeface="Times New Roman"/>
                                  <a:sym typeface="Times New Roman"/>
                                </a:rPr>
                                <m:t>=</m:t>
                              </m:r>
                              <m:r>
                                <a:rPr lang="en-US" altLang="zh-CN" sz="1800" b="1" i="1" smtClean="0">
                                  <a:latin typeface="Cambria Math" panose="02040503050406030204" pitchFamily="18" charset="0"/>
                                  <a:ea typeface="Times New Roman"/>
                                  <a:cs typeface="Times New Roman"/>
                                  <a:sym typeface="Times New Roman"/>
                                </a:rPr>
                                <m:t>𝟎</m:t>
                              </m:r>
                            </m:e>
                          </m:d>
                        </m:den>
                      </m:f>
                    </m:oMath>
                  </m:oMathPara>
                </a14:m>
                <a:endParaRPr lang="zh-CN" altLang="en-US" sz="1800" dirty="0"/>
              </a:p>
            </p:txBody>
          </p:sp>
        </mc:Choice>
        <mc:Fallback xmlns="">
          <p:sp>
            <p:nvSpPr>
              <p:cNvPr id="3" name="文本框 2">
                <a:extLst>
                  <a:ext uri="{FF2B5EF4-FFF2-40B4-BE49-F238E27FC236}">
                    <a16:creationId xmlns:a16="http://schemas.microsoft.com/office/drawing/2014/main" id="{22039789-3559-17E6-201A-59A8DF320B5E}"/>
                  </a:ext>
                </a:extLst>
              </p:cNvPr>
              <p:cNvSpPr txBox="1">
                <a:spLocks noRot="1" noChangeAspect="1" noMove="1" noResize="1" noEditPoints="1" noAdjustHandles="1" noChangeArrowheads="1" noChangeShapeType="1" noTextEdit="1"/>
              </p:cNvSpPr>
              <p:nvPr/>
            </p:nvSpPr>
            <p:spPr>
              <a:xfrm>
                <a:off x="6869500" y="251907"/>
                <a:ext cx="6096000" cy="677301"/>
              </a:xfrm>
              <a:prstGeom prst="rect">
                <a:avLst/>
              </a:prstGeom>
              <a:blipFill>
                <a:blip r:embed="rId5"/>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5">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3d44f2775a5_0_41"/>
          <p:cNvSpPr txBox="1">
            <a:spLocks noGrp="1"/>
          </p:cNvSpPr>
          <p:nvPr>
            <p:ph type="title"/>
          </p:nvPr>
        </p:nvSpPr>
        <p:spPr>
          <a:xfrm>
            <a:off x="1461050" y="344764"/>
            <a:ext cx="9892800" cy="8772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ormorant"/>
              <a:buNone/>
            </a:pPr>
            <a:r>
              <a:rPr lang="en-US"/>
              <a:t>Maximum Likelihood Label Shift (MLLS)</a:t>
            </a:r>
            <a:endParaRPr>
              <a:solidFill>
                <a:srgbClr val="8C6D2C"/>
              </a:solidFill>
            </a:endParaRPr>
          </a:p>
        </p:txBody>
      </p:sp>
      <p:sp>
        <p:nvSpPr>
          <p:cNvPr id="114" name="Google Shape;114;g3d44f2775a5_0_41"/>
          <p:cNvSpPr txBox="1">
            <a:spLocks noGrp="1"/>
          </p:cNvSpPr>
          <p:nvPr>
            <p:ph type="body" idx="1"/>
          </p:nvPr>
        </p:nvSpPr>
        <p:spPr>
          <a:xfrm>
            <a:off x="1152293" y="1401425"/>
            <a:ext cx="11039632" cy="4775400"/>
          </a:xfrm>
          <a:prstGeom prst="rect">
            <a:avLst/>
          </a:prstGeom>
          <a:noFill/>
          <a:ln>
            <a:noFill/>
          </a:ln>
        </p:spPr>
        <p:txBody>
          <a:bodyPr spcFirstLastPara="1" wrap="square" lIns="91425" tIns="45700" rIns="91425" bIns="45700" anchor="t" anchorCtr="0">
            <a:normAutofit/>
          </a:bodyPr>
          <a:lstStyle/>
          <a:p>
            <a:pPr marL="457200" lvl="0" indent="-387350" algn="l" rtl="0">
              <a:lnSpc>
                <a:spcPct val="15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MLLS approaches this problem from a </a:t>
            </a:r>
            <a:r>
              <a:rPr lang="en-US" sz="2500" b="1" dirty="0">
                <a:latin typeface="Times New Roman"/>
                <a:ea typeface="Times New Roman"/>
                <a:cs typeface="Times New Roman"/>
                <a:sym typeface="Times New Roman"/>
              </a:rPr>
              <a:t>likelihood perspective</a:t>
            </a:r>
            <a:r>
              <a:rPr lang="en-US" sz="2500" dirty="0">
                <a:latin typeface="Times New Roman"/>
                <a:ea typeface="Times New Roman"/>
                <a:cs typeface="Times New Roman"/>
                <a:sym typeface="Times New Roman"/>
              </a:rPr>
              <a:t>: it looks for weights that make the reweighted source model fit the unlabeled target data well. </a:t>
            </a:r>
            <a:endParaRPr sz="2500" dirty="0">
              <a:latin typeface="Times New Roman"/>
              <a:ea typeface="Times New Roman"/>
              <a:cs typeface="Times New Roman"/>
              <a:sym typeface="Times New Roman"/>
            </a:endParaRPr>
          </a:p>
          <a:p>
            <a:pPr marL="457200" lvl="0" indent="-387350" algn="l" rtl="0">
              <a:lnSpc>
                <a:spcPct val="15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This leads to an optimization problem, rather than a linear system like BBSE.</a:t>
            </a:r>
            <a:endParaRPr sz="2500" dirty="0">
              <a:latin typeface="Times New Roman"/>
              <a:ea typeface="Times New Roman"/>
              <a:cs typeface="Times New Roman"/>
              <a:sym typeface="Times New Roman"/>
            </a:endParaRPr>
          </a:p>
          <a:p>
            <a:pPr marL="457200" lvl="0" indent="-387350" algn="l" rtl="0">
              <a:lnSpc>
                <a:spcPct val="15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The target labels are </a:t>
            </a:r>
            <a:r>
              <a:rPr lang="en-US" sz="2500" b="1" dirty="0">
                <a:latin typeface="Times New Roman"/>
                <a:ea typeface="Times New Roman"/>
                <a:cs typeface="Times New Roman"/>
                <a:sym typeface="Times New Roman"/>
              </a:rPr>
              <a:t>not observed</a:t>
            </a:r>
            <a:r>
              <a:rPr lang="en-US" sz="2500" dirty="0">
                <a:latin typeface="Times New Roman"/>
                <a:ea typeface="Times New Roman"/>
                <a:cs typeface="Times New Roman"/>
                <a:sym typeface="Times New Roman"/>
              </a:rPr>
              <a:t>, so the optimization is naturally an </a:t>
            </a:r>
            <a:r>
              <a:rPr lang="en-US" sz="2500" b="1" dirty="0">
                <a:latin typeface="Times New Roman"/>
                <a:ea typeface="Times New Roman"/>
                <a:cs typeface="Times New Roman"/>
                <a:sym typeface="Times New Roman"/>
              </a:rPr>
              <a:t>incomplete-data</a:t>
            </a:r>
            <a:r>
              <a:rPr lang="en-US" sz="2500" dirty="0">
                <a:latin typeface="Times New Roman"/>
                <a:ea typeface="Times New Roman"/>
                <a:cs typeface="Times New Roman"/>
                <a:sym typeface="Times New Roman"/>
              </a:rPr>
              <a:t> problem. </a:t>
            </a:r>
            <a:endParaRPr sz="2500" dirty="0">
              <a:latin typeface="Times New Roman"/>
              <a:ea typeface="Times New Roman"/>
              <a:cs typeface="Times New Roman"/>
              <a:sym typeface="Times New Roman"/>
            </a:endParaRPr>
          </a:p>
          <a:p>
            <a:pPr marL="457200" lvl="0" indent="-387350" algn="l" rtl="0">
              <a:lnSpc>
                <a:spcPct val="15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Therefore, a natural tool for this setting is the </a:t>
            </a:r>
            <a:r>
              <a:rPr lang="en-US" sz="2500" b="1" dirty="0">
                <a:latin typeface="Times New Roman"/>
                <a:ea typeface="Times New Roman"/>
                <a:cs typeface="Times New Roman"/>
                <a:sym typeface="Times New Roman"/>
              </a:rPr>
              <a:t>EM algorithm¹</a:t>
            </a:r>
            <a:r>
              <a:rPr lang="en-US" sz="2500" dirty="0">
                <a:latin typeface="Times New Roman"/>
                <a:ea typeface="Times New Roman"/>
                <a:cs typeface="Times New Roman"/>
                <a:sym typeface="Times New Roman"/>
              </a:rPr>
              <a:t>, which is designed for maximum likelihood estimation with missing or latent variables.</a:t>
            </a:r>
          </a:p>
        </p:txBody>
      </p:sp>
      <p:sp>
        <p:nvSpPr>
          <p:cNvPr id="2" name="文本框 1">
            <a:extLst>
              <a:ext uri="{FF2B5EF4-FFF2-40B4-BE49-F238E27FC236}">
                <a16:creationId xmlns:a16="http://schemas.microsoft.com/office/drawing/2014/main" id="{0C087E47-6DAF-685B-6420-621A7A335031}"/>
              </a:ext>
            </a:extLst>
          </p:cNvPr>
          <p:cNvSpPr txBox="1"/>
          <p:nvPr/>
        </p:nvSpPr>
        <p:spPr>
          <a:xfrm>
            <a:off x="1152293" y="5484327"/>
            <a:ext cx="10229386" cy="1513235"/>
          </a:xfrm>
          <a:prstGeom prst="rect">
            <a:avLst/>
          </a:prstGeom>
          <a:noFill/>
        </p:spPr>
        <p:txBody>
          <a:bodyPr wrap="square" rtlCol="0">
            <a:spAutoFit/>
          </a:bodyPr>
          <a:lstStyle/>
          <a:p>
            <a:pPr>
              <a:spcAft>
                <a:spcPts val="300"/>
              </a:spcAft>
            </a:pPr>
            <a:r>
              <a:rPr lang="en-US" altLang="zh-CN" b="1" dirty="0">
                <a:solidFill>
                  <a:schemeClr val="bg2"/>
                </a:solidFill>
                <a:latin typeface="Times New Roman" panose="02020603050405020304" pitchFamily="18" charset="0"/>
                <a:cs typeface="Times New Roman" panose="02020603050405020304" pitchFamily="18" charset="0"/>
              </a:rPr>
              <a:t>1. </a:t>
            </a:r>
            <a:r>
              <a:rPr lang="zh-CN" altLang="zh-CN" b="1" dirty="0">
                <a:solidFill>
                  <a:schemeClr val="bg2"/>
                </a:solidFill>
                <a:latin typeface="Times New Roman" panose="02020603050405020304" pitchFamily="18" charset="0"/>
                <a:cs typeface="Times New Roman" panose="02020603050405020304" pitchFamily="18" charset="0"/>
              </a:rPr>
              <a:t>Garg, Saurabh, Yifan Wu, Sivaraman Balakrishnan, and Zachary C. Lipton. 2020. “A Unified View of Label Shift Estimation.” </a:t>
            </a:r>
            <a:r>
              <a:rPr lang="zh-CN" altLang="zh-CN" b="1" i="1" dirty="0">
                <a:solidFill>
                  <a:schemeClr val="bg2"/>
                </a:solidFill>
                <a:latin typeface="Times New Roman" panose="02020603050405020304" pitchFamily="18" charset="0"/>
                <a:cs typeface="Times New Roman" panose="02020603050405020304" pitchFamily="18" charset="0"/>
              </a:rPr>
              <a:t>arXiv [Cs.LG]</a:t>
            </a:r>
            <a:r>
              <a:rPr lang="zh-CN" altLang="zh-CN" b="1" dirty="0">
                <a:solidFill>
                  <a:schemeClr val="bg2"/>
                </a:solidFill>
                <a:latin typeface="Times New Roman" panose="02020603050405020304" pitchFamily="18" charset="0"/>
                <a:cs typeface="Times New Roman" panose="02020603050405020304" pitchFamily="18" charset="0"/>
              </a:rPr>
              <a:t>. arXiv. </a:t>
            </a:r>
            <a:r>
              <a:rPr lang="zh-CN" altLang="zh-CN" b="1" dirty="0">
                <a:solidFill>
                  <a:schemeClr val="bg2"/>
                </a:solidFill>
                <a:latin typeface="Times New Roman" panose="02020603050405020304" pitchFamily="18" charset="0"/>
                <a:cs typeface="Times New Roman" panose="02020603050405020304" pitchFamily="18" charset="0"/>
                <a:hlinkClick r:id="rId3"/>
              </a:rPr>
              <a:t>http://arxiv.org/abs/2003.07554</a:t>
            </a:r>
            <a:r>
              <a:rPr lang="zh-CN" altLang="zh-CN" b="1" dirty="0">
                <a:solidFill>
                  <a:schemeClr val="bg2"/>
                </a:solidFill>
                <a:latin typeface="Times New Roman" panose="02020603050405020304" pitchFamily="18" charset="0"/>
                <a:cs typeface="Times New Roman" panose="02020603050405020304" pitchFamily="18" charset="0"/>
              </a:rPr>
              <a:t>.</a:t>
            </a:r>
            <a:r>
              <a:rPr lang="en-US" altLang="zh-CN" b="1" dirty="0">
                <a:solidFill>
                  <a:schemeClr val="bg2"/>
                </a:solidFill>
                <a:latin typeface="Times New Roman" panose="02020603050405020304" pitchFamily="18" charset="0"/>
                <a:cs typeface="Times New Roman" panose="02020603050405020304" pitchFamily="18" charset="0"/>
              </a:rPr>
              <a:t> </a:t>
            </a:r>
          </a:p>
          <a:p>
            <a:pPr>
              <a:spcAft>
                <a:spcPts val="300"/>
              </a:spcAft>
            </a:pPr>
            <a:r>
              <a:rPr lang="zh-CN" altLang="zh-CN" b="1" dirty="0">
                <a:solidFill>
                  <a:schemeClr val="bg2"/>
                </a:solidFill>
                <a:latin typeface="Times New Roman" panose="02020603050405020304" pitchFamily="18" charset="0"/>
                <a:cs typeface="Times New Roman" panose="02020603050405020304" pitchFamily="18" charset="0"/>
              </a:rPr>
              <a:t>Saerens, Marco, Patrice Latinne, and Christine Decaestecker. 2002. “Adjusting the Outputs of a Classifier to New a Priori Probabilities: A Simple Procedure.” Neural Computation 14 (1): 21–41.</a:t>
            </a:r>
            <a:endParaRPr lang="en-US" altLang="zh-CN" b="1" dirty="0">
              <a:solidFill>
                <a:schemeClr val="bg2"/>
              </a:solidFill>
              <a:latin typeface="Times New Roman" panose="02020603050405020304" pitchFamily="18" charset="0"/>
              <a:cs typeface="Times New Roman" panose="02020603050405020304" pitchFamily="18" charset="0"/>
            </a:endParaRPr>
          </a:p>
          <a:p>
            <a:pPr>
              <a:spcAft>
                <a:spcPts val="300"/>
              </a:spcAft>
            </a:pPr>
            <a:r>
              <a:rPr lang="zh-CN" altLang="zh-CN" b="1" dirty="0">
                <a:solidFill>
                  <a:schemeClr val="bg2"/>
                </a:solidFill>
                <a:latin typeface="Times New Roman" panose="02020603050405020304" pitchFamily="18" charset="0"/>
                <a:cs typeface="Times New Roman" panose="02020603050405020304" pitchFamily="18" charset="0"/>
              </a:rPr>
              <a:t>Dempster, A. P., N. M. Laird, and D. B. Rubin. 1977. “Maximum Likelihood from Incomplete Data via the EM Algorithm.” Journal of the Royal Statistical Society 39 (1): 1–38.</a:t>
            </a:r>
            <a:endParaRPr lang="zh-CN" altLang="zh-CN"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3d44f2775a5_0_46"/>
          <p:cNvSpPr txBox="1">
            <a:spLocks noGrp="1"/>
          </p:cNvSpPr>
          <p:nvPr>
            <p:ph type="title"/>
          </p:nvPr>
        </p:nvSpPr>
        <p:spPr>
          <a:xfrm>
            <a:off x="1461050" y="344764"/>
            <a:ext cx="9892800" cy="877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200"/>
              <a:buFont typeface="Cormorant"/>
              <a:buNone/>
            </a:pPr>
            <a:r>
              <a:rPr lang="en-US" dirty="0"/>
              <a:t>EM Algorithm</a:t>
            </a:r>
            <a:endParaRPr dirty="0">
              <a:solidFill>
                <a:srgbClr val="8C6D2C"/>
              </a:solidFill>
            </a:endParaRPr>
          </a:p>
        </p:txBody>
      </p:sp>
      <p:graphicFrame>
        <p:nvGraphicFramePr>
          <p:cNvPr id="4" name="表格 3">
            <a:extLst>
              <a:ext uri="{FF2B5EF4-FFF2-40B4-BE49-F238E27FC236}">
                <a16:creationId xmlns:a16="http://schemas.microsoft.com/office/drawing/2014/main" id="{97B4822A-8AEE-A06F-392B-7A3D101FAB29}"/>
              </a:ext>
            </a:extLst>
          </p:cNvPr>
          <p:cNvGraphicFramePr>
            <a:graphicFrameLocks noGrp="1"/>
          </p:cNvGraphicFramePr>
          <p:nvPr>
            <p:extLst>
              <p:ext uri="{D42A27DB-BD31-4B8C-83A1-F6EECF244321}">
                <p14:modId xmlns:p14="http://schemas.microsoft.com/office/powerpoint/2010/main" val="152154836"/>
              </p:ext>
            </p:extLst>
          </p:nvPr>
        </p:nvGraphicFramePr>
        <p:xfrm>
          <a:off x="1461050" y="1357846"/>
          <a:ext cx="1157246" cy="1524000"/>
        </p:xfrm>
        <a:graphic>
          <a:graphicData uri="http://schemas.openxmlformats.org/drawingml/2006/table">
            <a:tbl>
              <a:tblPr firstRow="1" bandRow="1">
                <a:tableStyleId>{9F483FC4-A8E0-496E-99EA-8A9381747193}</a:tableStyleId>
              </a:tblPr>
              <a:tblGrid>
                <a:gridCol w="1157246">
                  <a:extLst>
                    <a:ext uri="{9D8B030D-6E8A-4147-A177-3AD203B41FA5}">
                      <a16:colId xmlns:a16="http://schemas.microsoft.com/office/drawing/2014/main" val="3032611145"/>
                    </a:ext>
                  </a:extLst>
                </a:gridCol>
              </a:tblGrid>
              <a:tr h="239669">
                <a:tc>
                  <a:txBody>
                    <a:bodyPr/>
                    <a:lstStyle/>
                    <a:p>
                      <a:endParaRPr lang="zh-CN" altLang="en-US" dirty="0"/>
                    </a:p>
                  </a:txBody>
                  <a:tcPr>
                    <a:solidFill>
                      <a:schemeClr val="accent1"/>
                    </a:solidFill>
                  </a:tcPr>
                </a:tc>
                <a:extLst>
                  <a:ext uri="{0D108BD9-81ED-4DB2-BD59-A6C34878D82A}">
                    <a16:rowId xmlns:a16="http://schemas.microsoft.com/office/drawing/2014/main" val="1911330652"/>
                  </a:ext>
                </a:extLst>
              </a:tr>
              <a:tr h="239669">
                <a:tc>
                  <a:txBody>
                    <a:bodyPr/>
                    <a:lstStyle/>
                    <a:p>
                      <a:endParaRPr lang="zh-CN" altLang="en-US" dirty="0"/>
                    </a:p>
                  </a:txBody>
                  <a:tcPr>
                    <a:solidFill>
                      <a:schemeClr val="accent1"/>
                    </a:solidFill>
                  </a:tcPr>
                </a:tc>
                <a:extLst>
                  <a:ext uri="{0D108BD9-81ED-4DB2-BD59-A6C34878D82A}">
                    <a16:rowId xmlns:a16="http://schemas.microsoft.com/office/drawing/2014/main" val="1546450014"/>
                  </a:ext>
                </a:extLst>
              </a:tr>
              <a:tr h="239669">
                <a:tc>
                  <a:txBody>
                    <a:bodyPr/>
                    <a:lstStyle/>
                    <a:p>
                      <a:endParaRPr lang="zh-CN" altLang="en-US" dirty="0"/>
                    </a:p>
                  </a:txBody>
                  <a:tcPr>
                    <a:solidFill>
                      <a:schemeClr val="accent1"/>
                    </a:solidFill>
                  </a:tcPr>
                </a:tc>
                <a:extLst>
                  <a:ext uri="{0D108BD9-81ED-4DB2-BD59-A6C34878D82A}">
                    <a16:rowId xmlns:a16="http://schemas.microsoft.com/office/drawing/2014/main" val="1150142606"/>
                  </a:ext>
                </a:extLst>
              </a:tr>
              <a:tr h="239669">
                <a:tc>
                  <a:txBody>
                    <a:bodyPr/>
                    <a:lstStyle/>
                    <a:p>
                      <a:endParaRPr lang="zh-CN" altLang="en-US" dirty="0"/>
                    </a:p>
                  </a:txBody>
                  <a:tcPr>
                    <a:solidFill>
                      <a:schemeClr val="accent1"/>
                    </a:solidFill>
                  </a:tcPr>
                </a:tc>
                <a:extLst>
                  <a:ext uri="{0D108BD9-81ED-4DB2-BD59-A6C34878D82A}">
                    <a16:rowId xmlns:a16="http://schemas.microsoft.com/office/drawing/2014/main" val="2440788633"/>
                  </a:ext>
                </a:extLst>
              </a:tr>
              <a:tr h="239669">
                <a:tc>
                  <a:txBody>
                    <a:bodyPr/>
                    <a:lstStyle/>
                    <a:p>
                      <a:endParaRPr lang="zh-CN" altLang="en-US" dirty="0"/>
                    </a:p>
                  </a:txBody>
                  <a:tcPr>
                    <a:solidFill>
                      <a:srgbClr val="FF0000"/>
                    </a:solidFill>
                  </a:tcPr>
                </a:tc>
                <a:extLst>
                  <a:ext uri="{0D108BD9-81ED-4DB2-BD59-A6C34878D82A}">
                    <a16:rowId xmlns:a16="http://schemas.microsoft.com/office/drawing/2014/main" val="2101843987"/>
                  </a:ext>
                </a:extLst>
              </a:tr>
            </a:tbl>
          </a:graphicData>
        </a:graphic>
      </p:graphicFrame>
      <p:graphicFrame>
        <p:nvGraphicFramePr>
          <p:cNvPr id="7" name="表格 6">
            <a:extLst>
              <a:ext uri="{FF2B5EF4-FFF2-40B4-BE49-F238E27FC236}">
                <a16:creationId xmlns:a16="http://schemas.microsoft.com/office/drawing/2014/main" id="{450EE46C-2FF8-A74B-57E8-8339E997FDDD}"/>
              </a:ext>
            </a:extLst>
          </p:cNvPr>
          <p:cNvGraphicFramePr>
            <a:graphicFrameLocks noGrp="1"/>
          </p:cNvGraphicFramePr>
          <p:nvPr>
            <p:extLst>
              <p:ext uri="{D42A27DB-BD31-4B8C-83A1-F6EECF244321}">
                <p14:modId xmlns:p14="http://schemas.microsoft.com/office/powerpoint/2010/main" val="3291145041"/>
              </p:ext>
            </p:extLst>
          </p:nvPr>
        </p:nvGraphicFramePr>
        <p:xfrm>
          <a:off x="4324222" y="1357846"/>
          <a:ext cx="1157246" cy="1524000"/>
        </p:xfrm>
        <a:graphic>
          <a:graphicData uri="http://schemas.openxmlformats.org/drawingml/2006/table">
            <a:tbl>
              <a:tblPr firstRow="1" bandRow="1">
                <a:tableStyleId>{9F483FC4-A8E0-496E-99EA-8A9381747193}</a:tableStyleId>
              </a:tblPr>
              <a:tblGrid>
                <a:gridCol w="1157246">
                  <a:extLst>
                    <a:ext uri="{9D8B030D-6E8A-4147-A177-3AD203B41FA5}">
                      <a16:colId xmlns:a16="http://schemas.microsoft.com/office/drawing/2014/main" val="3032611145"/>
                    </a:ext>
                  </a:extLst>
                </a:gridCol>
              </a:tblGrid>
              <a:tr h="223132">
                <a:tc>
                  <a:txBody>
                    <a:bodyPr/>
                    <a:lstStyle/>
                    <a:p>
                      <a:endParaRPr lang="zh-CN" altLang="en-US" dirty="0"/>
                    </a:p>
                  </a:txBody>
                  <a:tcPr>
                    <a:solidFill>
                      <a:srgbClr val="FF0000"/>
                    </a:solidFill>
                  </a:tcPr>
                </a:tc>
                <a:extLst>
                  <a:ext uri="{0D108BD9-81ED-4DB2-BD59-A6C34878D82A}">
                    <a16:rowId xmlns:a16="http://schemas.microsoft.com/office/drawing/2014/main" val="1911330652"/>
                  </a:ext>
                </a:extLst>
              </a:tr>
              <a:tr h="223132">
                <a:tc>
                  <a:txBody>
                    <a:bodyPr/>
                    <a:lstStyle/>
                    <a:p>
                      <a:endParaRPr lang="zh-CN" altLang="en-US" dirty="0"/>
                    </a:p>
                  </a:txBody>
                  <a:tcPr>
                    <a:solidFill>
                      <a:srgbClr val="FF0000"/>
                    </a:solidFill>
                  </a:tcPr>
                </a:tc>
                <a:extLst>
                  <a:ext uri="{0D108BD9-81ED-4DB2-BD59-A6C34878D82A}">
                    <a16:rowId xmlns:a16="http://schemas.microsoft.com/office/drawing/2014/main" val="1546450014"/>
                  </a:ext>
                </a:extLst>
              </a:tr>
              <a:tr h="223132">
                <a:tc>
                  <a:txBody>
                    <a:bodyPr/>
                    <a:lstStyle/>
                    <a:p>
                      <a:endParaRPr lang="zh-CN" altLang="en-US" dirty="0"/>
                    </a:p>
                  </a:txBody>
                  <a:tcPr>
                    <a:solidFill>
                      <a:srgbClr val="FF0000"/>
                    </a:solidFill>
                  </a:tcPr>
                </a:tc>
                <a:extLst>
                  <a:ext uri="{0D108BD9-81ED-4DB2-BD59-A6C34878D82A}">
                    <a16:rowId xmlns:a16="http://schemas.microsoft.com/office/drawing/2014/main" val="1150142606"/>
                  </a:ext>
                </a:extLst>
              </a:tr>
              <a:tr h="223132">
                <a:tc>
                  <a:txBody>
                    <a:bodyPr/>
                    <a:lstStyle/>
                    <a:p>
                      <a:endParaRPr lang="zh-CN" altLang="en-US" dirty="0"/>
                    </a:p>
                  </a:txBody>
                  <a:tcPr>
                    <a:solidFill>
                      <a:srgbClr val="FF0000"/>
                    </a:solidFill>
                  </a:tcPr>
                </a:tc>
                <a:extLst>
                  <a:ext uri="{0D108BD9-81ED-4DB2-BD59-A6C34878D82A}">
                    <a16:rowId xmlns:a16="http://schemas.microsoft.com/office/drawing/2014/main" val="2440788633"/>
                  </a:ext>
                </a:extLst>
              </a:tr>
              <a:tr h="223132">
                <a:tc>
                  <a:txBody>
                    <a:bodyPr/>
                    <a:lstStyle/>
                    <a:p>
                      <a:endParaRPr lang="zh-CN" altLang="en-US" dirty="0"/>
                    </a:p>
                  </a:txBody>
                  <a:tcPr>
                    <a:solidFill>
                      <a:schemeClr val="accent1"/>
                    </a:solidFill>
                  </a:tcPr>
                </a:tc>
                <a:extLst>
                  <a:ext uri="{0D108BD9-81ED-4DB2-BD59-A6C34878D82A}">
                    <a16:rowId xmlns:a16="http://schemas.microsoft.com/office/drawing/2014/main" val="2101843987"/>
                  </a:ext>
                </a:extLst>
              </a:tr>
            </a:tbl>
          </a:graphicData>
        </a:graphic>
      </p:graphicFrame>
      <p:sp>
        <p:nvSpPr>
          <p:cNvPr id="8" name="流程图: 过程 7">
            <a:extLst>
              <a:ext uri="{FF2B5EF4-FFF2-40B4-BE49-F238E27FC236}">
                <a16:creationId xmlns:a16="http://schemas.microsoft.com/office/drawing/2014/main" id="{6F6D40C9-D5BD-C636-4180-1A4EA8C66963}"/>
              </a:ext>
            </a:extLst>
          </p:cNvPr>
          <p:cNvSpPr/>
          <p:nvPr/>
        </p:nvSpPr>
        <p:spPr>
          <a:xfrm>
            <a:off x="3014059" y="1873961"/>
            <a:ext cx="914400" cy="446049"/>
          </a:xfrm>
          <a:prstGeom prst="flowChart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2"/>
                </a:solidFill>
                <a:latin typeface="Times New Roman" panose="02020603050405020304" pitchFamily="18" charset="0"/>
                <a:cs typeface="Times New Roman" panose="02020603050405020304" pitchFamily="18" charset="0"/>
              </a:rPr>
              <a:t>Classifier</a:t>
            </a:r>
            <a:endParaRPr lang="zh-CN" altLang="en-US" b="1" dirty="0">
              <a:solidFill>
                <a:schemeClr val="bg2"/>
              </a:solidFill>
              <a:latin typeface="Times New Roman" panose="02020603050405020304" pitchFamily="18" charset="0"/>
              <a:cs typeface="Times New Roman" panose="02020603050405020304" pitchFamily="18" charset="0"/>
            </a:endParaRPr>
          </a:p>
        </p:txBody>
      </p:sp>
      <p:sp>
        <p:nvSpPr>
          <p:cNvPr id="9" name="箭头: 右 8">
            <a:extLst>
              <a:ext uri="{FF2B5EF4-FFF2-40B4-BE49-F238E27FC236}">
                <a16:creationId xmlns:a16="http://schemas.microsoft.com/office/drawing/2014/main" id="{23954C82-5D61-5B18-E2D5-D8B35A7FD7A2}"/>
              </a:ext>
            </a:extLst>
          </p:cNvPr>
          <p:cNvSpPr/>
          <p:nvPr/>
        </p:nvSpPr>
        <p:spPr>
          <a:xfrm>
            <a:off x="2741165" y="2074127"/>
            <a:ext cx="170985"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右 9">
            <a:extLst>
              <a:ext uri="{FF2B5EF4-FFF2-40B4-BE49-F238E27FC236}">
                <a16:creationId xmlns:a16="http://schemas.microsoft.com/office/drawing/2014/main" id="{58B42633-E9BD-9BC8-A128-65C0E1034ABB}"/>
              </a:ext>
            </a:extLst>
          </p:cNvPr>
          <p:cNvSpPr/>
          <p:nvPr/>
        </p:nvSpPr>
        <p:spPr>
          <a:xfrm>
            <a:off x="4011474" y="2074127"/>
            <a:ext cx="170985"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右 10">
            <a:extLst>
              <a:ext uri="{FF2B5EF4-FFF2-40B4-BE49-F238E27FC236}">
                <a16:creationId xmlns:a16="http://schemas.microsoft.com/office/drawing/2014/main" id="{7ED34621-D445-EDE0-C485-F44697E13056}"/>
              </a:ext>
            </a:extLst>
          </p:cNvPr>
          <p:cNvSpPr/>
          <p:nvPr/>
        </p:nvSpPr>
        <p:spPr>
          <a:xfrm>
            <a:off x="5634385" y="2083231"/>
            <a:ext cx="170985"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0A2EBF9F-D8B8-8718-6A7D-68ADA337CF4F}"/>
              </a:ext>
            </a:extLst>
          </p:cNvPr>
          <p:cNvSpPr txBox="1"/>
          <p:nvPr/>
        </p:nvSpPr>
        <p:spPr>
          <a:xfrm>
            <a:off x="1542826" y="1008238"/>
            <a:ext cx="993694" cy="307777"/>
          </a:xfrm>
          <a:prstGeom prst="rect">
            <a:avLst/>
          </a:prstGeom>
          <a:noFill/>
        </p:spPr>
        <p:txBody>
          <a:bodyPr wrap="square">
            <a:spAutoFit/>
          </a:bodyPr>
          <a:lstStyle/>
          <a:p>
            <a:pPr algn="ctr"/>
            <a:r>
              <a:rPr lang="en-US" altLang="zh-CN" b="1" dirty="0">
                <a:solidFill>
                  <a:schemeClr val="bg2"/>
                </a:solidFill>
                <a:latin typeface="Times New Roman" panose="02020603050405020304" pitchFamily="18" charset="0"/>
                <a:cs typeface="Times New Roman" panose="02020603050405020304" pitchFamily="18" charset="0"/>
              </a:rPr>
              <a:t>Source</a:t>
            </a:r>
            <a:endParaRPr lang="zh-CN" altLang="en-US" b="1" dirty="0">
              <a:solidFill>
                <a:schemeClr val="bg2"/>
              </a:solidFill>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54371B33-42A7-AFC6-FB6D-AC6E6F04AF96}"/>
              </a:ext>
            </a:extLst>
          </p:cNvPr>
          <p:cNvSpPr txBox="1"/>
          <p:nvPr/>
        </p:nvSpPr>
        <p:spPr>
          <a:xfrm>
            <a:off x="4415908" y="1008237"/>
            <a:ext cx="973873" cy="307777"/>
          </a:xfrm>
          <a:prstGeom prst="rect">
            <a:avLst/>
          </a:prstGeom>
          <a:noFill/>
        </p:spPr>
        <p:txBody>
          <a:bodyPr wrap="square">
            <a:spAutoFit/>
          </a:bodyPr>
          <a:lstStyle/>
          <a:p>
            <a:pPr algn="ctr"/>
            <a:r>
              <a:rPr lang="en-US" altLang="zh-CN" b="1" dirty="0">
                <a:solidFill>
                  <a:schemeClr val="bg2"/>
                </a:solidFill>
                <a:latin typeface="Times New Roman" panose="02020603050405020304" pitchFamily="18" charset="0"/>
                <a:cs typeface="Times New Roman" panose="02020603050405020304" pitchFamily="18" charset="0"/>
              </a:rPr>
              <a:t>Target</a:t>
            </a:r>
            <a:endParaRPr lang="zh-CN" altLang="en-US" b="1" dirty="0">
              <a:solidFill>
                <a:schemeClr val="bg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FC8CE75D-588F-36A0-3C71-2BC4FA354B55}"/>
                  </a:ext>
                </a:extLst>
              </p:cNvPr>
              <p:cNvSpPr txBox="1"/>
              <p:nvPr/>
            </p:nvSpPr>
            <p:spPr>
              <a:xfrm>
                <a:off x="6077651" y="1671773"/>
                <a:ext cx="1202637" cy="9143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ES" altLang="zh-CN" i="1" smtClean="0">
                              <a:latin typeface="Cambria Math" panose="02040503050406030204" pitchFamily="18" charset="0"/>
                            </a:rPr>
                          </m:ctrlPr>
                        </m:sSupPr>
                        <m:e>
                          <m:r>
                            <a:rPr lang="es-ES" altLang="zh-CN" i="1">
                              <a:latin typeface="Cambria Math" panose="02040503050406030204" pitchFamily="18" charset="0"/>
                            </a:rPr>
                            <m:t>𝑞</m:t>
                          </m:r>
                        </m:e>
                        <m:sup>
                          <m:r>
                            <a:rPr lang="es-ES" altLang="zh-CN" i="1">
                              <a:latin typeface="Cambria Math" panose="02040503050406030204" pitchFamily="18" charset="0"/>
                            </a:rPr>
                            <m:t>∗</m:t>
                          </m:r>
                        </m:sup>
                      </m:sSup>
                      <m:d>
                        <m:dPr>
                          <m:ctrlPr>
                            <a:rPr lang="es-ES" altLang="zh-CN" i="1">
                              <a:latin typeface="Cambria Math" panose="02040503050406030204" pitchFamily="18" charset="0"/>
                            </a:rPr>
                          </m:ctrlPr>
                        </m:dPr>
                        <m:e>
                          <m:sSub>
                            <m:sSubPr>
                              <m:ctrlPr>
                                <a:rPr lang="es-ES" altLang="zh-CN" i="1">
                                  <a:latin typeface="Cambria Math" panose="02040503050406030204" pitchFamily="18" charset="0"/>
                                </a:rPr>
                              </m:ctrlPr>
                            </m:sSubPr>
                            <m:e>
                              <m:r>
                                <a:rPr lang="es-ES" altLang="zh-CN" i="1">
                                  <a:latin typeface="Cambria Math" panose="02040503050406030204" pitchFamily="18" charset="0"/>
                                </a:rPr>
                                <m:t>𝑦</m:t>
                              </m:r>
                            </m:e>
                            <m:sub>
                              <m:r>
                                <a:rPr lang="es-ES" altLang="zh-CN" i="1">
                                  <a:latin typeface="Cambria Math" panose="02040503050406030204" pitchFamily="18" charset="0"/>
                                </a:rPr>
                                <m:t>1</m:t>
                              </m:r>
                            </m:sub>
                          </m:sSub>
                          <m:r>
                            <a:rPr lang="es-ES" altLang="zh-CN" i="1">
                              <a:latin typeface="Cambria Math" panose="02040503050406030204" pitchFamily="18" charset="0"/>
                            </a:rPr>
                            <m:t>=</m:t>
                          </m:r>
                          <m:r>
                            <a:rPr lang="es-ES" altLang="zh-CN" i="1">
                              <a:latin typeface="Cambria Math" panose="02040503050406030204" pitchFamily="18" charset="0"/>
                            </a:rPr>
                            <m:t>1</m:t>
                          </m:r>
                        </m:e>
                      </m:d>
                      <m:r>
                        <a:rPr lang="es-ES" altLang="zh-CN" i="1">
                          <a:latin typeface="Cambria Math" panose="02040503050406030204" pitchFamily="18" charset="0"/>
                        </a:rPr>
                        <m:t>, </m:t>
                      </m:r>
                    </m:oMath>
                  </m:oMathPara>
                </a14:m>
                <a:endParaRPr lang="en-US" altLang="zh-CN"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es-ES" altLang="zh-CN" i="1">
                              <a:latin typeface="Cambria Math" panose="02040503050406030204" pitchFamily="18" charset="0"/>
                            </a:rPr>
                          </m:ctrlPr>
                        </m:sSupPr>
                        <m:e>
                          <m:r>
                            <a:rPr lang="es-ES" altLang="zh-CN" i="1">
                              <a:latin typeface="Cambria Math" panose="02040503050406030204" pitchFamily="18" charset="0"/>
                            </a:rPr>
                            <m:t>𝑞</m:t>
                          </m:r>
                        </m:e>
                        <m:sup>
                          <m:r>
                            <a:rPr lang="es-ES" altLang="zh-CN" i="1">
                              <a:latin typeface="Cambria Math" panose="02040503050406030204" pitchFamily="18" charset="0"/>
                            </a:rPr>
                            <m:t>∗</m:t>
                          </m:r>
                        </m:sup>
                      </m:sSup>
                      <m:d>
                        <m:dPr>
                          <m:ctrlPr>
                            <a:rPr lang="es-ES" altLang="zh-CN" i="1">
                              <a:latin typeface="Cambria Math" panose="02040503050406030204" pitchFamily="18" charset="0"/>
                            </a:rPr>
                          </m:ctrlPr>
                        </m:dPr>
                        <m:e>
                          <m:sSub>
                            <m:sSubPr>
                              <m:ctrlPr>
                                <a:rPr lang="es-ES" altLang="zh-CN" i="1">
                                  <a:latin typeface="Cambria Math" panose="02040503050406030204" pitchFamily="18" charset="0"/>
                                </a:rPr>
                              </m:ctrlPr>
                            </m:sSubPr>
                            <m:e>
                              <m:r>
                                <a:rPr lang="es-ES" altLang="zh-CN" i="1">
                                  <a:latin typeface="Cambria Math" panose="02040503050406030204" pitchFamily="18" charset="0"/>
                                </a:rPr>
                                <m:t>𝑦</m:t>
                              </m:r>
                            </m:e>
                            <m:sub>
                              <m:r>
                                <a:rPr lang="es-ES" altLang="zh-CN" i="1">
                                  <a:latin typeface="Cambria Math" panose="02040503050406030204" pitchFamily="18" charset="0"/>
                                </a:rPr>
                                <m:t>2</m:t>
                              </m:r>
                            </m:sub>
                          </m:sSub>
                          <m:r>
                            <a:rPr lang="es-ES" altLang="zh-CN" i="1">
                              <a:latin typeface="Cambria Math" panose="02040503050406030204" pitchFamily="18" charset="0"/>
                            </a:rPr>
                            <m:t>=</m:t>
                          </m:r>
                          <m:r>
                            <a:rPr lang="es-ES" altLang="zh-CN" i="1">
                              <a:latin typeface="Cambria Math" panose="02040503050406030204" pitchFamily="18" charset="0"/>
                            </a:rPr>
                            <m:t>1</m:t>
                          </m:r>
                        </m:e>
                      </m:d>
                      <m:r>
                        <a:rPr lang="es-ES" altLang="zh-CN" i="1">
                          <a:latin typeface="Cambria Math" panose="02040503050406030204" pitchFamily="18" charset="0"/>
                        </a:rPr>
                        <m:t>, </m:t>
                      </m:r>
                    </m:oMath>
                  </m:oMathPara>
                </a14:m>
                <a:endParaRPr lang="en-US" altLang="zh-CN"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es-ES" altLang="zh-CN" i="1">
                              <a:latin typeface="Cambria Math" panose="02040503050406030204" pitchFamily="18" charset="0"/>
                            </a:rPr>
                          </m:ctrlPr>
                        </m:sSupPr>
                        <m:e>
                          <m:r>
                            <a:rPr lang="es-ES" altLang="zh-CN" i="1">
                              <a:latin typeface="Cambria Math" panose="02040503050406030204" pitchFamily="18" charset="0"/>
                            </a:rPr>
                            <m:t>𝑞</m:t>
                          </m:r>
                        </m:e>
                        <m:sup>
                          <m:r>
                            <a:rPr lang="es-ES" altLang="zh-CN" i="1">
                              <a:latin typeface="Cambria Math" panose="02040503050406030204" pitchFamily="18" charset="0"/>
                            </a:rPr>
                            <m:t>∗</m:t>
                          </m:r>
                        </m:sup>
                      </m:sSup>
                      <m:d>
                        <m:dPr>
                          <m:ctrlPr>
                            <a:rPr lang="es-ES" altLang="zh-CN" i="1">
                              <a:latin typeface="Cambria Math" panose="02040503050406030204" pitchFamily="18" charset="0"/>
                            </a:rPr>
                          </m:ctrlPr>
                        </m:dPr>
                        <m:e>
                          <m:sSub>
                            <m:sSubPr>
                              <m:ctrlPr>
                                <a:rPr lang="es-ES" altLang="zh-CN" i="1">
                                  <a:latin typeface="Cambria Math" panose="02040503050406030204" pitchFamily="18" charset="0"/>
                                </a:rPr>
                              </m:ctrlPr>
                            </m:sSubPr>
                            <m:e>
                              <m:r>
                                <a:rPr lang="es-ES" altLang="zh-CN" i="1">
                                  <a:latin typeface="Cambria Math" panose="02040503050406030204" pitchFamily="18" charset="0"/>
                                </a:rPr>
                                <m:t>𝑦</m:t>
                              </m:r>
                            </m:e>
                            <m:sub>
                              <m:r>
                                <a:rPr lang="es-ES" altLang="zh-CN" i="1">
                                  <a:latin typeface="Cambria Math" panose="02040503050406030204" pitchFamily="18" charset="0"/>
                                </a:rPr>
                                <m:t>3</m:t>
                              </m:r>
                            </m:sub>
                          </m:sSub>
                          <m:r>
                            <a:rPr lang="es-ES" altLang="zh-CN" i="1">
                              <a:latin typeface="Cambria Math" panose="02040503050406030204" pitchFamily="18" charset="0"/>
                            </a:rPr>
                            <m:t>=</m:t>
                          </m:r>
                          <m:r>
                            <a:rPr lang="es-ES" altLang="zh-CN" i="1">
                              <a:latin typeface="Cambria Math" panose="02040503050406030204" pitchFamily="18" charset="0"/>
                            </a:rPr>
                            <m:t>1</m:t>
                          </m:r>
                        </m:e>
                      </m:d>
                      <m:r>
                        <a:rPr lang="en-US" altLang="zh-CN" b="0" i="1" smtClean="0">
                          <a:latin typeface="Cambria Math" panose="02040503050406030204" pitchFamily="18" charset="0"/>
                        </a:rPr>
                        <m:t>… </m:t>
                      </m:r>
                    </m:oMath>
                  </m:oMathPara>
                </a14:m>
                <a:endParaRPr lang="en-US" altLang="zh-CN" dirty="0"/>
              </a:p>
              <a:p>
                <a:endParaRPr lang="zh-CN" altLang="en-US" dirty="0"/>
              </a:p>
            </p:txBody>
          </p:sp>
        </mc:Choice>
        <mc:Fallback xmlns="">
          <p:sp>
            <p:nvSpPr>
              <p:cNvPr id="16" name="文本框 15">
                <a:extLst>
                  <a:ext uri="{FF2B5EF4-FFF2-40B4-BE49-F238E27FC236}">
                    <a16:creationId xmlns:a16="http://schemas.microsoft.com/office/drawing/2014/main" id="{FC8CE75D-588F-36A0-3C71-2BC4FA354B55}"/>
                  </a:ext>
                </a:extLst>
              </p:cNvPr>
              <p:cNvSpPr txBox="1">
                <a:spLocks noRot="1" noChangeAspect="1" noMove="1" noResize="1" noEditPoints="1" noAdjustHandles="1" noChangeArrowheads="1" noChangeShapeType="1" noTextEdit="1"/>
              </p:cNvSpPr>
              <p:nvPr/>
            </p:nvSpPr>
            <p:spPr>
              <a:xfrm>
                <a:off x="6077651" y="1671773"/>
                <a:ext cx="1202637" cy="914353"/>
              </a:xfrm>
              <a:prstGeom prst="rect">
                <a:avLst/>
              </a:prstGeom>
              <a:blipFill>
                <a:blip r:embed="rId3"/>
                <a:stretch>
                  <a:fillRect t="-3333" r="-2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E2DA30AA-A7AC-EBB1-1DF7-F79EB95DF5DF}"/>
                  </a:ext>
                </a:extLst>
              </p:cNvPr>
              <p:cNvSpPr txBox="1"/>
              <p:nvPr/>
            </p:nvSpPr>
            <p:spPr>
              <a:xfrm>
                <a:off x="7360856" y="1068934"/>
                <a:ext cx="4111080" cy="400110"/>
              </a:xfrm>
              <a:prstGeom prst="rect">
                <a:avLst/>
              </a:prstGeom>
              <a:noFill/>
            </p:spPr>
            <p:txBody>
              <a:bodyPr wrap="square">
                <a:spAutoFit/>
              </a:bodyPr>
              <a:lstStyle/>
              <a:p>
                <a:pPr algn="ctr"/>
                <a:r>
                  <a:rPr lang="en-US" altLang="zh-CN" sz="2000" b="1" dirty="0">
                    <a:solidFill>
                      <a:schemeClr val="bg2"/>
                    </a:solidFill>
                    <a:latin typeface="Times New Roman" panose="02020603050405020304" pitchFamily="18" charset="0"/>
                    <a:cs typeface="Times New Roman" panose="02020603050405020304" pitchFamily="18" charset="0"/>
                  </a:rPr>
                  <a:t>Initialize</a:t>
                </a:r>
                <a:r>
                  <a:rPr lang="zh-CN" altLang="en-US" sz="2000" b="1" dirty="0">
                    <a:solidFill>
                      <a:schemeClr val="bg2"/>
                    </a:solidFill>
                    <a:latin typeface="Times New Roman" panose="02020603050405020304" pitchFamily="18" charset="0"/>
                    <a:cs typeface="Times New Roman" panose="02020603050405020304" pitchFamily="18" charset="0"/>
                  </a:rPr>
                  <a:t>：</a:t>
                </a:r>
                <a14:m>
                  <m:oMath xmlns:m="http://schemas.openxmlformats.org/officeDocument/2006/math">
                    <m:sSup>
                      <m:sSupPr>
                        <m:ctrlPr>
                          <a:rPr lang="en-US" altLang="zh-CN" sz="2000" b="1" i="1" smtClean="0">
                            <a:solidFill>
                              <a:schemeClr val="bg2"/>
                            </a:solidFill>
                            <a:latin typeface="Cambria Math" panose="02040503050406030204" pitchFamily="18" charset="0"/>
                            <a:cs typeface="Times New Roman" panose="02020603050405020304" pitchFamily="18" charset="0"/>
                          </a:rPr>
                        </m:ctrlPr>
                      </m:sSupPr>
                      <m:e>
                        <m:r>
                          <a:rPr lang="en-US" altLang="zh-CN" sz="2000" b="1" i="1">
                            <a:solidFill>
                              <a:schemeClr val="bg2"/>
                            </a:solidFill>
                            <a:latin typeface="Cambria Math" panose="02040503050406030204" pitchFamily="18" charset="0"/>
                            <a:cs typeface="Times New Roman" panose="02020603050405020304" pitchFamily="18" charset="0"/>
                          </a:rPr>
                          <m:t>𝒒</m:t>
                        </m:r>
                      </m:e>
                      <m:sup>
                        <m:r>
                          <a:rPr lang="en-US" altLang="zh-CN" sz="2000" b="1" i="1" smtClean="0">
                            <a:solidFill>
                              <a:schemeClr val="bg2"/>
                            </a:solidFill>
                            <a:latin typeface="Cambria Math" panose="02040503050406030204" pitchFamily="18" charset="0"/>
                            <a:cs typeface="Times New Roman" panose="02020603050405020304" pitchFamily="18" charset="0"/>
                          </a:rPr>
                          <m:t>0</m:t>
                        </m:r>
                      </m:sup>
                    </m:sSup>
                    <m:r>
                      <a:rPr lang="en-US" altLang="zh-CN" sz="2000" b="1" i="1" smtClean="0">
                        <a:solidFill>
                          <a:schemeClr val="bg2"/>
                        </a:solidFill>
                        <a:latin typeface="Cambria Math" panose="02040503050406030204" pitchFamily="18" charset="0"/>
                        <a:cs typeface="Times New Roman" panose="02020603050405020304" pitchFamily="18" charset="0"/>
                      </a:rPr>
                      <m:t>(</m:t>
                    </m:r>
                    <m:r>
                      <a:rPr lang="en-US" altLang="zh-CN" sz="2000" b="1" i="1" smtClean="0">
                        <a:solidFill>
                          <a:schemeClr val="bg2"/>
                        </a:solidFill>
                        <a:latin typeface="Cambria Math" panose="02040503050406030204" pitchFamily="18" charset="0"/>
                        <a:cs typeface="Times New Roman" panose="02020603050405020304" pitchFamily="18" charset="0"/>
                      </a:rPr>
                      <m:t>𝒚</m:t>
                    </m:r>
                    <m:r>
                      <a:rPr lang="en-US" altLang="zh-CN" sz="2000" b="1" i="1" smtClean="0">
                        <a:solidFill>
                          <a:schemeClr val="bg2"/>
                        </a:solidFill>
                        <a:latin typeface="Cambria Math" panose="02040503050406030204" pitchFamily="18" charset="0"/>
                        <a:cs typeface="Times New Roman" panose="02020603050405020304" pitchFamily="18" charset="0"/>
                      </a:rPr>
                      <m:t>=</m:t>
                    </m:r>
                    <m:r>
                      <a:rPr lang="en-US" altLang="zh-CN" sz="2000" b="1" i="1" smtClean="0">
                        <a:solidFill>
                          <a:schemeClr val="bg2"/>
                        </a:solidFill>
                        <a:latin typeface="Cambria Math" panose="02040503050406030204" pitchFamily="18" charset="0"/>
                        <a:cs typeface="Times New Roman" panose="02020603050405020304" pitchFamily="18" charset="0"/>
                      </a:rPr>
                      <m:t>𝟏</m:t>
                    </m:r>
                    <m:r>
                      <a:rPr lang="en-US" altLang="zh-CN" sz="2000" b="1" i="1" smtClean="0">
                        <a:solidFill>
                          <a:schemeClr val="bg2"/>
                        </a:solidFill>
                        <a:latin typeface="Cambria Math" panose="02040503050406030204" pitchFamily="18" charset="0"/>
                        <a:cs typeface="Times New Roman" panose="02020603050405020304" pitchFamily="18" charset="0"/>
                      </a:rPr>
                      <m:t>)= </m:t>
                    </m:r>
                    <m:r>
                      <a:rPr lang="en-US" altLang="zh-CN" sz="2000" b="1" i="1" smtClean="0">
                        <a:solidFill>
                          <a:schemeClr val="bg2"/>
                        </a:solidFill>
                        <a:latin typeface="Cambria Math" panose="02040503050406030204" pitchFamily="18" charset="0"/>
                        <a:cs typeface="Times New Roman" panose="02020603050405020304" pitchFamily="18" charset="0"/>
                      </a:rPr>
                      <m:t>𝒑</m:t>
                    </m:r>
                    <m:r>
                      <a:rPr lang="en-US" altLang="zh-CN" sz="2000" b="1" i="1" smtClean="0">
                        <a:solidFill>
                          <a:schemeClr val="bg2"/>
                        </a:solidFill>
                        <a:latin typeface="Cambria Math" panose="02040503050406030204" pitchFamily="18" charset="0"/>
                        <a:cs typeface="Times New Roman" panose="02020603050405020304" pitchFamily="18" charset="0"/>
                      </a:rPr>
                      <m:t>(</m:t>
                    </m:r>
                    <m:r>
                      <a:rPr lang="en-US" altLang="zh-CN" sz="2000" b="1" i="1" smtClean="0">
                        <a:solidFill>
                          <a:schemeClr val="bg2"/>
                        </a:solidFill>
                        <a:latin typeface="Cambria Math" panose="02040503050406030204" pitchFamily="18" charset="0"/>
                        <a:cs typeface="Times New Roman" panose="02020603050405020304" pitchFamily="18" charset="0"/>
                      </a:rPr>
                      <m:t>𝒚</m:t>
                    </m:r>
                    <m:r>
                      <a:rPr lang="en-US" altLang="zh-CN" sz="2000" b="1" i="1" smtClean="0">
                        <a:solidFill>
                          <a:schemeClr val="bg2"/>
                        </a:solidFill>
                        <a:latin typeface="Cambria Math" panose="02040503050406030204" pitchFamily="18" charset="0"/>
                        <a:cs typeface="Times New Roman" panose="02020603050405020304" pitchFamily="18" charset="0"/>
                      </a:rPr>
                      <m:t>=</m:t>
                    </m:r>
                    <m:r>
                      <a:rPr lang="en-US" altLang="zh-CN" sz="2000" b="1" i="1" smtClean="0">
                        <a:solidFill>
                          <a:schemeClr val="bg2"/>
                        </a:solidFill>
                        <a:latin typeface="Cambria Math" panose="02040503050406030204" pitchFamily="18" charset="0"/>
                        <a:cs typeface="Times New Roman" panose="02020603050405020304" pitchFamily="18" charset="0"/>
                      </a:rPr>
                      <m:t>𝟏</m:t>
                    </m:r>
                    <m:r>
                      <a:rPr lang="en-US" altLang="zh-CN" sz="2000" b="1" i="1" smtClean="0">
                        <a:solidFill>
                          <a:schemeClr val="bg2"/>
                        </a:solidFill>
                        <a:latin typeface="Cambria Math" panose="02040503050406030204" pitchFamily="18" charset="0"/>
                        <a:cs typeface="Times New Roman" panose="02020603050405020304" pitchFamily="18" charset="0"/>
                      </a:rPr>
                      <m:t>)</m:t>
                    </m:r>
                  </m:oMath>
                </a14:m>
                <a:endParaRPr lang="zh-CN" altLang="en-US" sz="2000" b="1" dirty="0">
                  <a:solidFill>
                    <a:schemeClr val="bg2"/>
                  </a:solidFill>
                  <a:latin typeface="Times New Roman" panose="02020603050405020304" pitchFamily="18" charset="0"/>
                  <a:cs typeface="Times New Roman" panose="02020603050405020304" pitchFamily="18" charset="0"/>
                </a:endParaRPr>
              </a:p>
            </p:txBody>
          </p:sp>
        </mc:Choice>
        <mc:Fallback xmlns="">
          <p:sp>
            <p:nvSpPr>
              <p:cNvPr id="19" name="文本框 18">
                <a:extLst>
                  <a:ext uri="{FF2B5EF4-FFF2-40B4-BE49-F238E27FC236}">
                    <a16:creationId xmlns:a16="http://schemas.microsoft.com/office/drawing/2014/main" id="{E2DA30AA-A7AC-EBB1-1DF7-F79EB95DF5DF}"/>
                  </a:ext>
                </a:extLst>
              </p:cNvPr>
              <p:cNvSpPr txBox="1">
                <a:spLocks noRot="1" noChangeAspect="1" noMove="1" noResize="1" noEditPoints="1" noAdjustHandles="1" noChangeArrowheads="1" noChangeShapeType="1" noTextEdit="1"/>
              </p:cNvSpPr>
              <p:nvPr/>
            </p:nvSpPr>
            <p:spPr>
              <a:xfrm>
                <a:off x="7360856" y="1068934"/>
                <a:ext cx="4111080" cy="400110"/>
              </a:xfrm>
              <a:prstGeom prst="rect">
                <a:avLst/>
              </a:prstGeom>
              <a:blipFill>
                <a:blip r:embed="rId4"/>
                <a:stretch>
                  <a:fillRect t="-7576" b="-25758"/>
                </a:stretch>
              </a:blipFill>
            </p:spPr>
            <p:txBody>
              <a:bodyPr/>
              <a:lstStyle/>
              <a:p>
                <a:r>
                  <a:rPr lang="zh-CN" altLang="en-US">
                    <a:noFill/>
                  </a:rPr>
                  <a:t> </a:t>
                </a:r>
              </a:p>
            </p:txBody>
          </p:sp>
        </mc:Fallback>
      </mc:AlternateContent>
      <p:pic>
        <p:nvPicPr>
          <p:cNvPr id="2050" name="Picture 2">
            <a:extLst>
              <a:ext uri="{FF2B5EF4-FFF2-40B4-BE49-F238E27FC236}">
                <a16:creationId xmlns:a16="http://schemas.microsoft.com/office/drawing/2014/main" id="{39708634-842C-014F-D8E9-C7DB4FE7F5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10004" y="1512161"/>
            <a:ext cx="1412783" cy="87351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a:extLst>
              <a:ext uri="{FF2B5EF4-FFF2-40B4-BE49-F238E27FC236}">
                <a16:creationId xmlns:a16="http://schemas.microsoft.com/office/drawing/2014/main" id="{D58923E1-C986-A413-820D-59843F769B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22787" y="1505897"/>
            <a:ext cx="1412783" cy="87351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837BCDC7-E237-5D06-CE7D-0B84CD9A922A}"/>
                  </a:ext>
                </a:extLst>
              </p:cNvPr>
              <p:cNvSpPr txBox="1"/>
              <p:nvPr/>
            </p:nvSpPr>
            <p:spPr>
              <a:xfrm>
                <a:off x="683324" y="3307973"/>
                <a:ext cx="6596964" cy="3010952"/>
              </a:xfrm>
              <a:prstGeom prst="rect">
                <a:avLst/>
              </a:prstGeom>
              <a:noFill/>
            </p:spPr>
            <p:txBody>
              <a:bodyPr wrap="square">
                <a:spAutoFit/>
              </a:bodyPr>
              <a:lstStyle/>
              <a:p>
                <a:pPr algn="ctr"/>
                <a:r>
                  <a:rPr lang="en-US" altLang="zh-CN" sz="2000" dirty="0">
                    <a:solidFill>
                      <a:schemeClr val="bg2"/>
                    </a:solidFill>
                    <a:latin typeface="Times New Roman" panose="02020603050405020304" pitchFamily="18" charset="0"/>
                    <a:cs typeface="Times New Roman" panose="02020603050405020304" pitchFamily="18" charset="0"/>
                  </a:rPr>
                  <a:t>Update Rule</a:t>
                </a:r>
                <a:r>
                  <a:rPr lang="zh-CN" altLang="en-US" sz="2000" dirty="0">
                    <a:solidFill>
                      <a:schemeClr val="bg2"/>
                    </a:solidFill>
                    <a:latin typeface="Times New Roman" panose="02020603050405020304" pitchFamily="18" charset="0"/>
                    <a:cs typeface="Times New Roman" panose="02020603050405020304" pitchFamily="18" charset="0"/>
                  </a:rPr>
                  <a:t>：</a:t>
                </a:r>
                <a14:m>
                  <m:oMath xmlns:m="http://schemas.openxmlformats.org/officeDocument/2006/math">
                    <m:sSup>
                      <m:sSupPr>
                        <m:ctrlPr>
                          <a:rPr lang="en-US" altLang="zh-CN" sz="2000" i="1" smtClean="0">
                            <a:solidFill>
                              <a:schemeClr val="bg2"/>
                            </a:solidFill>
                            <a:latin typeface="Cambria Math" panose="02040503050406030204" pitchFamily="18" charset="0"/>
                            <a:cs typeface="Times New Roman" panose="02020603050405020304" pitchFamily="18" charset="0"/>
                          </a:rPr>
                        </m:ctrlPr>
                      </m:sSupPr>
                      <m:e>
                        <m:r>
                          <a:rPr lang="en-US" altLang="zh-CN" sz="2000" b="0" i="1">
                            <a:solidFill>
                              <a:schemeClr val="bg2"/>
                            </a:solidFill>
                            <a:latin typeface="Cambria Math" panose="02040503050406030204" pitchFamily="18" charset="0"/>
                            <a:cs typeface="Times New Roman" panose="02020603050405020304" pitchFamily="18" charset="0"/>
                          </a:rPr>
                          <m:t>𝑞</m:t>
                        </m:r>
                      </m:e>
                      <m:sup>
                        <m:d>
                          <m:dPr>
                            <m:ctrlPr>
                              <a:rPr lang="en-US" altLang="zh-CN" sz="2000" i="1">
                                <a:solidFill>
                                  <a:schemeClr val="bg2"/>
                                </a:solidFill>
                                <a:latin typeface="Cambria Math" panose="02040503050406030204" pitchFamily="18" charset="0"/>
                                <a:cs typeface="Times New Roman" panose="02020603050405020304" pitchFamily="18" charset="0"/>
                              </a:rPr>
                            </m:ctrlPr>
                          </m:dPr>
                          <m:e>
                            <m:r>
                              <a:rPr lang="en-US" altLang="zh-CN" sz="2000" b="0" i="1">
                                <a:solidFill>
                                  <a:schemeClr val="bg2"/>
                                </a:solidFill>
                                <a:latin typeface="Cambria Math" panose="02040503050406030204" pitchFamily="18" charset="0"/>
                                <a:cs typeface="Times New Roman" panose="02020603050405020304" pitchFamily="18" charset="0"/>
                              </a:rPr>
                              <m:t>𝑡</m:t>
                            </m:r>
                            <m:r>
                              <a:rPr lang="en-US" altLang="zh-CN" sz="2000" b="0" i="1">
                                <a:solidFill>
                                  <a:schemeClr val="bg2"/>
                                </a:solidFill>
                                <a:latin typeface="Cambria Math" panose="02040503050406030204" pitchFamily="18" charset="0"/>
                                <a:cs typeface="Times New Roman" panose="02020603050405020304" pitchFamily="18" charset="0"/>
                              </a:rPr>
                              <m:t>+</m:t>
                            </m:r>
                            <m:r>
                              <a:rPr lang="en-US" altLang="zh-CN" sz="2000" b="0" i="1">
                                <a:solidFill>
                                  <a:schemeClr val="bg2"/>
                                </a:solidFill>
                                <a:latin typeface="Cambria Math" panose="02040503050406030204" pitchFamily="18" charset="0"/>
                                <a:cs typeface="Times New Roman" panose="02020603050405020304" pitchFamily="18" charset="0"/>
                              </a:rPr>
                              <m:t>1</m:t>
                            </m:r>
                          </m:e>
                        </m:d>
                      </m:sup>
                    </m:sSup>
                    <m:d>
                      <m:dPr>
                        <m:ctrlPr>
                          <a:rPr lang="en-US" altLang="zh-CN" sz="2000" i="1">
                            <a:solidFill>
                              <a:schemeClr val="bg2"/>
                            </a:solidFill>
                            <a:latin typeface="Cambria Math" panose="02040503050406030204" pitchFamily="18" charset="0"/>
                            <a:cs typeface="Times New Roman" panose="02020603050405020304" pitchFamily="18" charset="0"/>
                          </a:rPr>
                        </m:ctrlPr>
                      </m:dPr>
                      <m:e>
                        <m:r>
                          <a:rPr lang="en-US" altLang="zh-CN" sz="2000" b="0" i="1" smtClean="0">
                            <a:solidFill>
                              <a:schemeClr val="bg2"/>
                            </a:solidFill>
                            <a:latin typeface="Cambria Math" panose="02040503050406030204" pitchFamily="18" charset="0"/>
                            <a:cs typeface="Times New Roman" panose="02020603050405020304" pitchFamily="18" charset="0"/>
                          </a:rPr>
                          <m:t>𝑦</m:t>
                        </m:r>
                        <m:r>
                          <a:rPr lang="en-US" altLang="zh-CN" sz="2000" b="0" i="1" smtClean="0">
                            <a:solidFill>
                              <a:schemeClr val="bg2"/>
                            </a:solidFill>
                            <a:latin typeface="Cambria Math" panose="02040503050406030204" pitchFamily="18" charset="0"/>
                            <a:cs typeface="Times New Roman" panose="02020603050405020304" pitchFamily="18" charset="0"/>
                          </a:rPr>
                          <m:t>=</m:t>
                        </m:r>
                        <m:r>
                          <a:rPr lang="en-US" altLang="zh-CN" sz="2000" b="0" i="1" smtClean="0">
                            <a:solidFill>
                              <a:schemeClr val="bg2"/>
                            </a:solidFill>
                            <a:latin typeface="Cambria Math" panose="02040503050406030204" pitchFamily="18" charset="0"/>
                            <a:cs typeface="Times New Roman" panose="02020603050405020304" pitchFamily="18" charset="0"/>
                          </a:rPr>
                          <m:t>1</m:t>
                        </m:r>
                      </m:e>
                    </m:d>
                    <m:r>
                      <a:rPr lang="en-US" altLang="zh-CN" sz="2000" b="0" i="1">
                        <a:solidFill>
                          <a:schemeClr val="bg2"/>
                        </a:solidFill>
                        <a:latin typeface="Cambria Math" panose="02040503050406030204" pitchFamily="18" charset="0"/>
                        <a:cs typeface="Times New Roman" panose="02020603050405020304" pitchFamily="18" charset="0"/>
                      </a:rPr>
                      <m:t>=</m:t>
                    </m:r>
                    <m:f>
                      <m:fPr>
                        <m:ctrlPr>
                          <a:rPr lang="en-US" altLang="zh-CN" sz="2000" i="1">
                            <a:solidFill>
                              <a:schemeClr val="bg2"/>
                            </a:solidFill>
                            <a:latin typeface="Cambria Math" panose="02040503050406030204" pitchFamily="18" charset="0"/>
                            <a:cs typeface="Times New Roman" panose="02020603050405020304" pitchFamily="18" charset="0"/>
                          </a:rPr>
                        </m:ctrlPr>
                      </m:fPr>
                      <m:num>
                        <m:r>
                          <a:rPr lang="en-US" altLang="zh-CN" sz="2000" b="0" i="1">
                            <a:solidFill>
                              <a:schemeClr val="bg2"/>
                            </a:solidFill>
                            <a:latin typeface="Cambria Math" panose="02040503050406030204" pitchFamily="18" charset="0"/>
                            <a:cs typeface="Times New Roman" panose="02020603050405020304" pitchFamily="18" charset="0"/>
                          </a:rPr>
                          <m:t>1</m:t>
                        </m:r>
                      </m:num>
                      <m:den>
                        <m:r>
                          <a:rPr lang="en-US" altLang="zh-CN" sz="2000" b="0" i="1" smtClean="0">
                            <a:solidFill>
                              <a:schemeClr val="bg2"/>
                            </a:solidFill>
                            <a:latin typeface="Cambria Math" panose="02040503050406030204" pitchFamily="18" charset="0"/>
                            <a:cs typeface="Times New Roman" panose="02020603050405020304" pitchFamily="18" charset="0"/>
                          </a:rPr>
                          <m:t>𝑛</m:t>
                        </m:r>
                      </m:den>
                    </m:f>
                    <m:nary>
                      <m:naryPr>
                        <m:chr m:val="∑"/>
                        <m:ctrlPr>
                          <a:rPr lang="en-US" altLang="zh-CN" sz="2000" i="1">
                            <a:solidFill>
                              <a:schemeClr val="bg2"/>
                            </a:solidFill>
                            <a:latin typeface="Cambria Math" panose="02040503050406030204" pitchFamily="18" charset="0"/>
                            <a:cs typeface="Times New Roman" panose="02020603050405020304" pitchFamily="18" charset="0"/>
                          </a:rPr>
                        </m:ctrlPr>
                      </m:naryPr>
                      <m:sub>
                        <m:r>
                          <a:rPr lang="en-US" altLang="zh-CN" sz="2000" b="0" i="1">
                            <a:solidFill>
                              <a:schemeClr val="bg2"/>
                            </a:solidFill>
                            <a:latin typeface="Cambria Math" panose="02040503050406030204" pitchFamily="18" charset="0"/>
                            <a:cs typeface="Times New Roman" panose="02020603050405020304" pitchFamily="18" charset="0"/>
                          </a:rPr>
                          <m:t>𝑖</m:t>
                        </m:r>
                        <m:r>
                          <a:rPr lang="en-US" altLang="zh-CN" sz="2000" b="0" i="1">
                            <a:solidFill>
                              <a:schemeClr val="bg2"/>
                            </a:solidFill>
                            <a:latin typeface="Cambria Math" panose="02040503050406030204" pitchFamily="18" charset="0"/>
                            <a:cs typeface="Times New Roman" panose="02020603050405020304" pitchFamily="18" charset="0"/>
                          </a:rPr>
                          <m:t>=</m:t>
                        </m:r>
                        <m:r>
                          <a:rPr lang="en-US" altLang="zh-CN" sz="2000" b="0" i="1">
                            <a:solidFill>
                              <a:schemeClr val="bg2"/>
                            </a:solidFill>
                            <a:latin typeface="Cambria Math" panose="02040503050406030204" pitchFamily="18" charset="0"/>
                            <a:cs typeface="Times New Roman" panose="02020603050405020304" pitchFamily="18" charset="0"/>
                          </a:rPr>
                          <m:t>1</m:t>
                        </m:r>
                      </m:sub>
                      <m:sup>
                        <m:r>
                          <a:rPr lang="en-US" altLang="zh-CN" sz="2000" b="0" i="1" smtClean="0">
                            <a:solidFill>
                              <a:schemeClr val="bg2"/>
                            </a:solidFill>
                            <a:latin typeface="Cambria Math" panose="02040503050406030204" pitchFamily="18" charset="0"/>
                            <a:cs typeface="Times New Roman" panose="02020603050405020304" pitchFamily="18" charset="0"/>
                          </a:rPr>
                          <m:t>𝑛</m:t>
                        </m:r>
                      </m:sup>
                      <m:e>
                        <m:sSubSup>
                          <m:sSubSupPr>
                            <m:ctrlPr>
                              <a:rPr lang="en-US" altLang="zh-CN" sz="2000" i="1">
                                <a:solidFill>
                                  <a:schemeClr val="bg2"/>
                                </a:solidFill>
                                <a:latin typeface="Cambria Math" panose="02040503050406030204" pitchFamily="18" charset="0"/>
                                <a:cs typeface="Times New Roman" panose="02020603050405020304" pitchFamily="18" charset="0"/>
                              </a:rPr>
                            </m:ctrlPr>
                          </m:sSubSupPr>
                          <m:e>
                            <m:r>
                              <a:rPr lang="en-US" altLang="zh-CN" sz="2000" b="0" i="1">
                                <a:solidFill>
                                  <a:schemeClr val="bg2"/>
                                </a:solidFill>
                                <a:latin typeface="Cambria Math" panose="02040503050406030204" pitchFamily="18" charset="0"/>
                                <a:cs typeface="Times New Roman" panose="02020603050405020304" pitchFamily="18" charset="0"/>
                              </a:rPr>
                              <m:t>𝑟</m:t>
                            </m:r>
                          </m:e>
                          <m:sub>
                            <m:r>
                              <a:rPr lang="en-US" altLang="zh-CN" sz="2000" b="0" i="1">
                                <a:solidFill>
                                  <a:schemeClr val="bg2"/>
                                </a:solidFill>
                                <a:latin typeface="Cambria Math" panose="02040503050406030204" pitchFamily="18" charset="0"/>
                                <a:cs typeface="Times New Roman" panose="02020603050405020304" pitchFamily="18" charset="0"/>
                              </a:rPr>
                              <m:t>𝑖</m:t>
                            </m:r>
                            <m:r>
                              <a:rPr lang="en-US" altLang="zh-CN" sz="2000" b="0" i="1" smtClean="0">
                                <a:solidFill>
                                  <a:schemeClr val="bg2"/>
                                </a:solidFill>
                                <a:latin typeface="Cambria Math" panose="02040503050406030204" pitchFamily="18" charset="0"/>
                                <a:cs typeface="Times New Roman" panose="02020603050405020304" pitchFamily="18" charset="0"/>
                              </a:rPr>
                              <m:t>1</m:t>
                            </m:r>
                          </m:sub>
                          <m:sup>
                            <m:d>
                              <m:dPr>
                                <m:ctrlPr>
                                  <a:rPr lang="en-US" altLang="zh-CN" sz="2000" i="1">
                                    <a:solidFill>
                                      <a:schemeClr val="bg2"/>
                                    </a:solidFill>
                                    <a:latin typeface="Cambria Math" panose="02040503050406030204" pitchFamily="18" charset="0"/>
                                    <a:cs typeface="Times New Roman" panose="02020603050405020304" pitchFamily="18" charset="0"/>
                                  </a:rPr>
                                </m:ctrlPr>
                              </m:dPr>
                              <m:e>
                                <m:r>
                                  <a:rPr lang="en-US" altLang="zh-CN" sz="2000" b="0" i="1">
                                    <a:solidFill>
                                      <a:schemeClr val="bg2"/>
                                    </a:solidFill>
                                    <a:latin typeface="Cambria Math" panose="02040503050406030204" pitchFamily="18" charset="0"/>
                                    <a:cs typeface="Times New Roman" panose="02020603050405020304" pitchFamily="18" charset="0"/>
                                  </a:rPr>
                                  <m:t>𝑡</m:t>
                                </m:r>
                              </m:e>
                            </m:d>
                          </m:sup>
                        </m:sSubSup>
                      </m:e>
                    </m:nary>
                    <m:r>
                      <a:rPr lang="en-US" altLang="zh-CN" sz="2000" b="0" i="1" smtClean="0">
                        <a:solidFill>
                          <a:schemeClr val="bg2"/>
                        </a:solidFill>
                        <a:latin typeface="Cambria Math" panose="02040503050406030204" pitchFamily="18" charset="0"/>
                        <a:cs typeface="Times New Roman" panose="02020603050405020304" pitchFamily="18" charset="0"/>
                      </a:rPr>
                      <m:t>,</m:t>
                    </m:r>
                  </m:oMath>
                </a14:m>
                <a:endParaRPr lang="en-US" altLang="zh-CN" sz="2000" i="1" dirty="0">
                  <a:solidFill>
                    <a:schemeClr val="bg2"/>
                  </a:solidFill>
                  <a:latin typeface="Cambria Math" panose="020405030504060302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altLang="zh-CN" sz="2000" b="0" i="1" smtClean="0">
                          <a:solidFill>
                            <a:schemeClr val="bg2"/>
                          </a:solidFill>
                          <a:latin typeface="Cambria Math" panose="02040503050406030204" pitchFamily="18" charset="0"/>
                          <a:cs typeface="Times New Roman" panose="02020603050405020304" pitchFamily="18" charset="0"/>
                        </a:rPr>
                        <m:t>𝑤</m:t>
                      </m:r>
                      <m:r>
                        <a:rPr lang="en-US" altLang="zh-CN" sz="2000" b="0" i="1" smtClean="0">
                          <a:solidFill>
                            <a:schemeClr val="bg2"/>
                          </a:solidFill>
                          <a:latin typeface="Cambria Math" panose="02040503050406030204" pitchFamily="18" charset="0"/>
                          <a:cs typeface="Times New Roman" panose="02020603050405020304" pitchFamily="18" charset="0"/>
                        </a:rPr>
                        <m:t>h</m:t>
                      </m:r>
                      <m:r>
                        <a:rPr lang="en-US" altLang="zh-CN" sz="2000" b="0" i="1" smtClean="0">
                          <a:solidFill>
                            <a:schemeClr val="bg2"/>
                          </a:solidFill>
                          <a:latin typeface="Cambria Math" panose="02040503050406030204" pitchFamily="18" charset="0"/>
                          <a:cs typeface="Times New Roman" panose="02020603050405020304" pitchFamily="18" charset="0"/>
                        </a:rPr>
                        <m:t>𝑒𝑟𝑒</m:t>
                      </m:r>
                      <m:r>
                        <a:rPr lang="en-US" altLang="zh-CN" sz="2000" b="0" i="1" smtClean="0">
                          <a:solidFill>
                            <a:schemeClr val="bg2"/>
                          </a:solidFill>
                          <a:latin typeface="Cambria Math" panose="02040503050406030204" pitchFamily="18" charset="0"/>
                          <a:cs typeface="Times New Roman" panose="02020603050405020304" pitchFamily="18" charset="0"/>
                        </a:rPr>
                        <m:t> </m:t>
                      </m:r>
                      <m:r>
                        <a:rPr lang="en-US" altLang="zh-CN" sz="2000" b="0" i="1" smtClean="0">
                          <a:solidFill>
                            <a:schemeClr val="bg2"/>
                          </a:solidFill>
                          <a:latin typeface="Cambria Math" panose="02040503050406030204" pitchFamily="18" charset="0"/>
                          <a:cs typeface="Times New Roman" panose="02020603050405020304" pitchFamily="18" charset="0"/>
                        </a:rPr>
                        <m:t>𝑛</m:t>
                      </m:r>
                      <m:r>
                        <a:rPr lang="en-US" altLang="zh-CN" sz="2000" b="0" i="1" smtClean="0">
                          <a:solidFill>
                            <a:schemeClr val="bg2"/>
                          </a:solidFill>
                          <a:latin typeface="Cambria Math" panose="02040503050406030204" pitchFamily="18" charset="0"/>
                          <a:cs typeface="Times New Roman" panose="02020603050405020304" pitchFamily="18" charset="0"/>
                        </a:rPr>
                        <m:t>= </m:t>
                      </m:r>
                      <m:r>
                        <a:rPr lang="en-US" altLang="zh-CN" sz="2000" b="0" i="1" smtClean="0">
                          <a:solidFill>
                            <a:schemeClr val="bg2"/>
                          </a:solidFill>
                          <a:latin typeface="Cambria Math" panose="02040503050406030204" pitchFamily="18" charset="0"/>
                          <a:cs typeface="Times New Roman" panose="02020603050405020304" pitchFamily="18" charset="0"/>
                        </a:rPr>
                        <m:t>𝑠𝑎𝑚𝑝𝑙𝑒</m:t>
                      </m:r>
                      <m:r>
                        <a:rPr lang="en-US" altLang="zh-CN" sz="2000" b="0" i="1" smtClean="0">
                          <a:solidFill>
                            <a:schemeClr val="bg2"/>
                          </a:solidFill>
                          <a:latin typeface="Cambria Math" panose="02040503050406030204" pitchFamily="18" charset="0"/>
                          <a:cs typeface="Times New Roman" panose="02020603050405020304" pitchFamily="18" charset="0"/>
                        </a:rPr>
                        <m:t> </m:t>
                      </m:r>
                      <m:r>
                        <a:rPr lang="en-US" altLang="zh-CN" sz="2000" b="0" i="1" smtClean="0">
                          <a:solidFill>
                            <a:schemeClr val="bg2"/>
                          </a:solidFill>
                          <a:latin typeface="Cambria Math" panose="02040503050406030204" pitchFamily="18" charset="0"/>
                          <a:cs typeface="Times New Roman" panose="02020603050405020304" pitchFamily="18" charset="0"/>
                        </a:rPr>
                        <m:t>𝑠𝑖𝑧𝑒</m:t>
                      </m:r>
                    </m:oMath>
                  </m:oMathPara>
                </a14:m>
                <a:endParaRPr lang="en-US" altLang="zh-CN" sz="2000" i="1" dirty="0">
                  <a:solidFill>
                    <a:schemeClr val="bg2"/>
                  </a:solidFill>
                  <a:latin typeface="Cambria Math" panose="02040503050406030204" pitchFamily="18" charset="0"/>
                  <a:cs typeface="Times New Roman" panose="02020603050405020304" pitchFamily="18" charset="0"/>
                </a:endParaRPr>
              </a:p>
              <a:p>
                <a:pPr algn="ctr"/>
                <a:endParaRPr lang="en-US" altLang="zh-CN" sz="2000" i="1" dirty="0">
                  <a:solidFill>
                    <a:schemeClr val="bg2"/>
                  </a:solidFill>
                  <a:latin typeface="Cambria Math" panose="020405030504060302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sSubSup>
                        <m:sSubSupPr>
                          <m:ctrlPr>
                            <a:rPr lang="en-US" altLang="zh-CN" sz="2000" i="1" smtClean="0">
                              <a:solidFill>
                                <a:schemeClr val="bg2"/>
                              </a:solidFill>
                              <a:latin typeface="Cambria Math" panose="02040503050406030204" pitchFamily="18" charset="0"/>
                              <a:cs typeface="Times New Roman" panose="02020603050405020304" pitchFamily="18" charset="0"/>
                            </a:rPr>
                          </m:ctrlPr>
                        </m:sSubSupPr>
                        <m:e>
                          <m:r>
                            <a:rPr lang="en-US" altLang="zh-CN" sz="2000" b="0" i="1">
                              <a:solidFill>
                                <a:schemeClr val="bg2"/>
                              </a:solidFill>
                              <a:latin typeface="Cambria Math" panose="02040503050406030204" pitchFamily="18" charset="0"/>
                              <a:cs typeface="Times New Roman" panose="02020603050405020304" pitchFamily="18" charset="0"/>
                            </a:rPr>
                            <m:t>𝑟</m:t>
                          </m:r>
                        </m:e>
                        <m:sub>
                          <m:r>
                            <a:rPr lang="en-US" altLang="zh-CN" sz="2000" b="0" i="1">
                              <a:solidFill>
                                <a:schemeClr val="bg2"/>
                              </a:solidFill>
                              <a:latin typeface="Cambria Math" panose="02040503050406030204" pitchFamily="18" charset="0"/>
                              <a:cs typeface="Times New Roman" panose="02020603050405020304" pitchFamily="18" charset="0"/>
                            </a:rPr>
                            <m:t>𝑖</m:t>
                          </m:r>
                          <m:r>
                            <a:rPr lang="en-US" altLang="zh-CN" sz="2000" b="0" i="1" smtClean="0">
                              <a:solidFill>
                                <a:schemeClr val="bg2"/>
                              </a:solidFill>
                              <a:latin typeface="Cambria Math" panose="02040503050406030204" pitchFamily="18" charset="0"/>
                              <a:cs typeface="Times New Roman" panose="02020603050405020304" pitchFamily="18" charset="0"/>
                            </a:rPr>
                            <m:t>1</m:t>
                          </m:r>
                        </m:sub>
                        <m:sup>
                          <m:d>
                            <m:dPr>
                              <m:ctrlPr>
                                <a:rPr lang="en-US" altLang="zh-CN" sz="2000" i="1">
                                  <a:solidFill>
                                    <a:schemeClr val="bg2"/>
                                  </a:solidFill>
                                  <a:latin typeface="Cambria Math" panose="02040503050406030204" pitchFamily="18" charset="0"/>
                                  <a:cs typeface="Times New Roman" panose="02020603050405020304" pitchFamily="18" charset="0"/>
                                </a:rPr>
                              </m:ctrlPr>
                            </m:dPr>
                            <m:e>
                              <m:r>
                                <a:rPr lang="en-US" altLang="zh-CN" sz="2000" b="0" i="1">
                                  <a:solidFill>
                                    <a:schemeClr val="bg2"/>
                                  </a:solidFill>
                                  <a:latin typeface="Cambria Math" panose="02040503050406030204" pitchFamily="18" charset="0"/>
                                  <a:cs typeface="Times New Roman" panose="02020603050405020304" pitchFamily="18" charset="0"/>
                                </a:rPr>
                                <m:t>𝑡</m:t>
                              </m:r>
                            </m:e>
                          </m:d>
                        </m:sup>
                      </m:sSubSup>
                      <m:r>
                        <a:rPr lang="en-US" altLang="zh-CN" sz="2000" b="0" i="1">
                          <a:solidFill>
                            <a:schemeClr val="bg2"/>
                          </a:solidFill>
                          <a:latin typeface="Cambria Math" panose="02040503050406030204" pitchFamily="18" charset="0"/>
                          <a:cs typeface="Times New Roman" panose="02020603050405020304" pitchFamily="18" charset="0"/>
                        </a:rPr>
                        <m:t>=</m:t>
                      </m:r>
                      <m:f>
                        <m:fPr>
                          <m:ctrlPr>
                            <a:rPr lang="en-US" altLang="zh-CN" sz="2000" i="1" smtClean="0">
                              <a:solidFill>
                                <a:schemeClr val="bg2"/>
                              </a:solidFill>
                              <a:latin typeface="Cambria Math" panose="02040503050406030204" pitchFamily="18" charset="0"/>
                              <a:cs typeface="Times New Roman" panose="02020603050405020304" pitchFamily="18" charset="0"/>
                            </a:rPr>
                          </m:ctrlPr>
                        </m:fPr>
                        <m:num>
                          <m:sSup>
                            <m:sSupPr>
                              <m:ctrlPr>
                                <a:rPr lang="es-ES" altLang="zh-CN" sz="2000" i="1" smtClean="0">
                                  <a:latin typeface="Cambria Math" panose="02040503050406030204" pitchFamily="18" charset="0"/>
                                </a:rPr>
                              </m:ctrlPr>
                            </m:sSupPr>
                            <m:e>
                              <m:r>
                                <a:rPr lang="es-ES" altLang="zh-CN" sz="2000" b="0" i="1">
                                  <a:latin typeface="Cambria Math" panose="02040503050406030204" pitchFamily="18" charset="0"/>
                                </a:rPr>
                                <m:t>𝑞</m:t>
                              </m:r>
                            </m:e>
                            <m:sup>
                              <m:r>
                                <a:rPr lang="es-ES" altLang="zh-CN" sz="2000" b="0" i="1">
                                  <a:latin typeface="Cambria Math" panose="02040503050406030204" pitchFamily="18" charset="0"/>
                                </a:rPr>
                                <m:t>∗</m:t>
                              </m:r>
                            </m:sup>
                          </m:sSup>
                          <m:d>
                            <m:dPr>
                              <m:ctrlPr>
                                <a:rPr lang="es-ES" altLang="zh-CN" sz="2000" i="1">
                                  <a:latin typeface="Cambria Math" panose="02040503050406030204" pitchFamily="18" charset="0"/>
                                </a:rPr>
                              </m:ctrlPr>
                            </m:dPr>
                            <m:e>
                              <m:r>
                                <a:rPr lang="en-US" altLang="zh-CN" sz="2000" b="0" i="1">
                                  <a:latin typeface="Cambria Math" panose="02040503050406030204" pitchFamily="18" charset="0"/>
                                </a:rPr>
                                <m:t>𝑦</m:t>
                              </m:r>
                              <m:r>
                                <a:rPr lang="es-ES" altLang="zh-CN" sz="2000" b="0" i="1">
                                  <a:latin typeface="Cambria Math" panose="02040503050406030204" pitchFamily="18" charset="0"/>
                                </a:rPr>
                                <m:t>=</m:t>
                              </m:r>
                              <m:r>
                                <a:rPr lang="es-ES" altLang="zh-CN" sz="2000" b="0" i="1">
                                  <a:latin typeface="Cambria Math" panose="02040503050406030204" pitchFamily="18" charset="0"/>
                                </a:rPr>
                                <m:t>1</m:t>
                              </m:r>
                            </m:e>
                          </m:d>
                          <m:r>
                            <a:rPr lang="en-US" altLang="zh-CN" sz="2000" b="0" i="1" smtClean="0">
                              <a:solidFill>
                                <a:schemeClr val="bg2"/>
                              </a:solidFill>
                              <a:latin typeface="Cambria Math" panose="02040503050406030204" pitchFamily="18" charset="0"/>
                              <a:ea typeface="Cambria Math" panose="02040503050406030204" pitchFamily="18" charset="0"/>
                            </a:rPr>
                            <m:t>×</m:t>
                          </m:r>
                          <m:f>
                            <m:fPr>
                              <m:ctrlPr>
                                <a:rPr lang="en-US" altLang="zh-CN" sz="2000" i="1" smtClean="0">
                                  <a:solidFill>
                                    <a:schemeClr val="bg2"/>
                                  </a:solidFill>
                                  <a:latin typeface="Cambria Math" panose="02040503050406030204" pitchFamily="18" charset="0"/>
                                  <a:cs typeface="Times New Roman" panose="02020603050405020304" pitchFamily="18" charset="0"/>
                                </a:rPr>
                              </m:ctrlPr>
                            </m:fPr>
                            <m:num>
                              <m:sSup>
                                <m:sSupPr>
                                  <m:ctrlPr>
                                    <a:rPr lang="en-US" altLang="zh-CN" sz="2000" i="1">
                                      <a:solidFill>
                                        <a:schemeClr val="bg2"/>
                                      </a:solidFill>
                                      <a:latin typeface="Cambria Math" panose="02040503050406030204" pitchFamily="18" charset="0"/>
                                      <a:cs typeface="Times New Roman" panose="02020603050405020304" pitchFamily="18" charset="0"/>
                                    </a:rPr>
                                  </m:ctrlPr>
                                </m:sSupPr>
                                <m:e>
                                  <m:r>
                                    <a:rPr lang="en-US" altLang="zh-CN" sz="2000" b="0" i="1">
                                      <a:solidFill>
                                        <a:schemeClr val="bg2"/>
                                      </a:solidFill>
                                      <a:latin typeface="Cambria Math" panose="02040503050406030204" pitchFamily="18" charset="0"/>
                                      <a:cs typeface="Times New Roman" panose="02020603050405020304" pitchFamily="18" charset="0"/>
                                    </a:rPr>
                                    <m:t>𝑞</m:t>
                                  </m:r>
                                </m:e>
                                <m:sup>
                                  <m:r>
                                    <a:rPr lang="en-US" altLang="zh-CN" sz="2000" b="0" i="1">
                                      <a:solidFill>
                                        <a:schemeClr val="bg2"/>
                                      </a:solidFill>
                                      <a:latin typeface="Cambria Math" panose="02040503050406030204" pitchFamily="18" charset="0"/>
                                      <a:cs typeface="Times New Roman" panose="02020603050405020304" pitchFamily="18" charset="0"/>
                                    </a:rPr>
                                    <m:t>(</m:t>
                                  </m:r>
                                  <m:r>
                                    <a:rPr lang="en-US" altLang="zh-CN" sz="2000" b="0" i="1">
                                      <a:solidFill>
                                        <a:schemeClr val="bg2"/>
                                      </a:solidFill>
                                      <a:latin typeface="Cambria Math" panose="02040503050406030204" pitchFamily="18" charset="0"/>
                                      <a:cs typeface="Times New Roman" panose="02020603050405020304" pitchFamily="18" charset="0"/>
                                    </a:rPr>
                                    <m:t>𝑡</m:t>
                                  </m:r>
                                  <m:r>
                                    <a:rPr lang="en-US" altLang="zh-CN" sz="2000" b="0" i="1">
                                      <a:solidFill>
                                        <a:schemeClr val="bg2"/>
                                      </a:solidFill>
                                      <a:latin typeface="Cambria Math" panose="02040503050406030204" pitchFamily="18" charset="0"/>
                                      <a:cs typeface="Times New Roman" panose="02020603050405020304" pitchFamily="18" charset="0"/>
                                    </a:rPr>
                                    <m:t>)</m:t>
                                  </m:r>
                                </m:sup>
                              </m:sSup>
                              <m:r>
                                <a:rPr lang="en-US" altLang="zh-CN" sz="2000" b="0" i="1">
                                  <a:solidFill>
                                    <a:schemeClr val="bg2"/>
                                  </a:solidFill>
                                  <a:latin typeface="Cambria Math" panose="02040503050406030204" pitchFamily="18" charset="0"/>
                                  <a:cs typeface="Times New Roman" panose="02020603050405020304" pitchFamily="18" charset="0"/>
                                </a:rPr>
                                <m:t>(</m:t>
                              </m:r>
                              <m:r>
                                <a:rPr lang="en-US" altLang="zh-CN" sz="2000" b="0" i="1">
                                  <a:solidFill>
                                    <a:schemeClr val="bg2"/>
                                  </a:solidFill>
                                  <a:latin typeface="Cambria Math" panose="02040503050406030204" pitchFamily="18" charset="0"/>
                                  <a:cs typeface="Times New Roman" panose="02020603050405020304" pitchFamily="18" charset="0"/>
                                </a:rPr>
                                <m:t>𝑦</m:t>
                              </m:r>
                              <m:r>
                                <a:rPr lang="en-US" altLang="zh-CN" sz="2000" b="0" i="1">
                                  <a:solidFill>
                                    <a:schemeClr val="bg2"/>
                                  </a:solidFill>
                                  <a:latin typeface="Cambria Math" panose="02040503050406030204" pitchFamily="18" charset="0"/>
                                  <a:cs typeface="Times New Roman" panose="02020603050405020304" pitchFamily="18" charset="0"/>
                                </a:rPr>
                                <m:t>=</m:t>
                              </m:r>
                              <m:r>
                                <a:rPr lang="en-US" altLang="zh-CN" sz="2000" b="0" i="1">
                                  <a:solidFill>
                                    <a:schemeClr val="bg2"/>
                                  </a:solidFill>
                                  <a:latin typeface="Cambria Math" panose="02040503050406030204" pitchFamily="18" charset="0"/>
                                  <a:cs typeface="Times New Roman" panose="02020603050405020304" pitchFamily="18" charset="0"/>
                                </a:rPr>
                                <m:t>1</m:t>
                              </m:r>
                              <m:r>
                                <a:rPr lang="en-US" altLang="zh-CN" sz="2000" b="0" i="1">
                                  <a:solidFill>
                                    <a:schemeClr val="bg2"/>
                                  </a:solidFill>
                                  <a:latin typeface="Cambria Math" panose="02040503050406030204" pitchFamily="18" charset="0"/>
                                  <a:cs typeface="Times New Roman" panose="02020603050405020304" pitchFamily="18" charset="0"/>
                                </a:rPr>
                                <m:t>)</m:t>
                              </m:r>
                            </m:num>
                            <m:den>
                              <m:r>
                                <a:rPr lang="en-US" altLang="zh-CN" sz="2000" b="0" i="1" smtClean="0">
                                  <a:solidFill>
                                    <a:schemeClr val="bg2"/>
                                  </a:solidFill>
                                  <a:latin typeface="Cambria Math" panose="02040503050406030204" pitchFamily="18" charset="0"/>
                                  <a:cs typeface="Times New Roman" panose="02020603050405020304" pitchFamily="18" charset="0"/>
                                </a:rPr>
                                <m:t>𝑝</m:t>
                              </m:r>
                              <m:r>
                                <a:rPr lang="en-US" altLang="zh-CN" sz="2000" b="0" i="1" smtClean="0">
                                  <a:solidFill>
                                    <a:schemeClr val="bg2"/>
                                  </a:solidFill>
                                  <a:latin typeface="Cambria Math" panose="02040503050406030204" pitchFamily="18" charset="0"/>
                                  <a:cs typeface="Times New Roman" panose="02020603050405020304" pitchFamily="18" charset="0"/>
                                </a:rPr>
                                <m:t>(</m:t>
                              </m:r>
                              <m:r>
                                <a:rPr lang="en-US" altLang="zh-CN" sz="2000" b="0" i="1" smtClean="0">
                                  <a:solidFill>
                                    <a:schemeClr val="bg2"/>
                                  </a:solidFill>
                                  <a:latin typeface="Cambria Math" panose="02040503050406030204" pitchFamily="18" charset="0"/>
                                  <a:cs typeface="Times New Roman" panose="02020603050405020304" pitchFamily="18" charset="0"/>
                                </a:rPr>
                                <m:t>𝑦</m:t>
                              </m:r>
                              <m:r>
                                <a:rPr lang="en-US" altLang="zh-CN" sz="2000" b="0" i="1" smtClean="0">
                                  <a:solidFill>
                                    <a:schemeClr val="bg2"/>
                                  </a:solidFill>
                                  <a:latin typeface="Cambria Math" panose="02040503050406030204" pitchFamily="18" charset="0"/>
                                  <a:cs typeface="Times New Roman" panose="02020603050405020304" pitchFamily="18" charset="0"/>
                                </a:rPr>
                                <m:t>=</m:t>
                              </m:r>
                              <m:r>
                                <a:rPr lang="en-US" altLang="zh-CN" sz="2000" b="0" i="1" smtClean="0">
                                  <a:solidFill>
                                    <a:schemeClr val="bg2"/>
                                  </a:solidFill>
                                  <a:latin typeface="Cambria Math" panose="02040503050406030204" pitchFamily="18" charset="0"/>
                                  <a:cs typeface="Times New Roman" panose="02020603050405020304" pitchFamily="18" charset="0"/>
                                </a:rPr>
                                <m:t>1</m:t>
                              </m:r>
                              <m:r>
                                <a:rPr lang="en-US" altLang="zh-CN" sz="2000" b="0" i="1" smtClean="0">
                                  <a:solidFill>
                                    <a:schemeClr val="bg2"/>
                                  </a:solidFill>
                                  <a:latin typeface="Cambria Math" panose="02040503050406030204" pitchFamily="18" charset="0"/>
                                  <a:cs typeface="Times New Roman" panose="02020603050405020304" pitchFamily="18" charset="0"/>
                                </a:rPr>
                                <m:t>)</m:t>
                              </m:r>
                            </m:den>
                          </m:f>
                        </m:num>
                        <m:den>
                          <m:nary>
                            <m:naryPr>
                              <m:chr m:val="∑"/>
                              <m:ctrlPr>
                                <a:rPr lang="en-US" altLang="zh-CN" sz="2000" i="1">
                                  <a:solidFill>
                                    <a:schemeClr val="bg2"/>
                                  </a:solidFill>
                                  <a:latin typeface="Cambria Math" panose="02040503050406030204" pitchFamily="18" charset="0"/>
                                  <a:cs typeface="Times New Roman" panose="02020603050405020304" pitchFamily="18" charset="0"/>
                                </a:rPr>
                              </m:ctrlPr>
                            </m:naryPr>
                            <m:sub>
                              <m:r>
                                <a:rPr lang="en-US" altLang="zh-CN" sz="2000" b="0" i="1">
                                  <a:solidFill>
                                    <a:schemeClr val="bg2"/>
                                  </a:solidFill>
                                  <a:latin typeface="Cambria Math" panose="02040503050406030204" pitchFamily="18" charset="0"/>
                                  <a:cs typeface="Times New Roman" panose="02020603050405020304" pitchFamily="18" charset="0"/>
                                </a:rPr>
                                <m:t>ℓ</m:t>
                              </m:r>
                              <m:r>
                                <a:rPr lang="en-US" altLang="zh-CN" sz="2000" b="0" i="1">
                                  <a:solidFill>
                                    <a:schemeClr val="bg2"/>
                                  </a:solidFill>
                                  <a:latin typeface="Cambria Math" panose="02040503050406030204" pitchFamily="18" charset="0"/>
                                  <a:cs typeface="Times New Roman" panose="02020603050405020304" pitchFamily="18" charset="0"/>
                                </a:rPr>
                                <m:t>=</m:t>
                              </m:r>
                              <m:r>
                                <a:rPr lang="en-US" altLang="zh-CN" sz="2000" b="0" i="1" smtClean="0">
                                  <a:solidFill>
                                    <a:schemeClr val="bg2"/>
                                  </a:solidFill>
                                  <a:latin typeface="Cambria Math" panose="02040503050406030204" pitchFamily="18" charset="0"/>
                                  <a:cs typeface="Times New Roman" panose="02020603050405020304" pitchFamily="18" charset="0"/>
                                </a:rPr>
                                <m:t>0</m:t>
                              </m:r>
                            </m:sub>
                            <m:sup>
                              <m:r>
                                <a:rPr lang="en-US" altLang="zh-CN" sz="2000" b="0" i="1">
                                  <a:solidFill>
                                    <a:schemeClr val="bg2"/>
                                  </a:solidFill>
                                  <a:latin typeface="Cambria Math" panose="02040503050406030204" pitchFamily="18" charset="0"/>
                                  <a:cs typeface="Times New Roman" panose="02020603050405020304" pitchFamily="18" charset="0"/>
                                </a:rPr>
                                <m:t>𝑘</m:t>
                              </m:r>
                            </m:sup>
                            <m:e>
                              <m:sSup>
                                <m:sSupPr>
                                  <m:ctrlPr>
                                    <a:rPr lang="es-ES" altLang="zh-CN" sz="2000" i="1">
                                      <a:latin typeface="Cambria Math" panose="02040503050406030204" pitchFamily="18" charset="0"/>
                                    </a:rPr>
                                  </m:ctrlPr>
                                </m:sSupPr>
                                <m:e>
                                  <m:r>
                                    <a:rPr lang="es-ES" altLang="zh-CN" sz="2000" b="0" i="1">
                                      <a:latin typeface="Cambria Math" panose="02040503050406030204" pitchFamily="18" charset="0"/>
                                    </a:rPr>
                                    <m:t>𝑞</m:t>
                                  </m:r>
                                </m:e>
                                <m:sup>
                                  <m:r>
                                    <a:rPr lang="es-ES" altLang="zh-CN" sz="2000" b="0" i="1">
                                      <a:latin typeface="Cambria Math" panose="02040503050406030204" pitchFamily="18" charset="0"/>
                                    </a:rPr>
                                    <m:t>∗</m:t>
                                  </m:r>
                                </m:sup>
                              </m:sSup>
                              <m:d>
                                <m:dPr>
                                  <m:ctrlPr>
                                    <a:rPr lang="es-ES" altLang="zh-CN" sz="2000" i="1">
                                      <a:latin typeface="Cambria Math" panose="02040503050406030204" pitchFamily="18" charset="0"/>
                                    </a:rPr>
                                  </m:ctrlPr>
                                </m:dPr>
                                <m:e>
                                  <m:r>
                                    <a:rPr lang="en-US" altLang="zh-CN" sz="2000" b="0" i="1">
                                      <a:latin typeface="Cambria Math" panose="02040503050406030204" pitchFamily="18" charset="0"/>
                                    </a:rPr>
                                    <m:t>𝑦</m:t>
                                  </m:r>
                                  <m:r>
                                    <a:rPr lang="es-ES" altLang="zh-CN" sz="2000" b="0" i="1">
                                      <a:latin typeface="Cambria Math" panose="02040503050406030204" pitchFamily="18" charset="0"/>
                                    </a:rPr>
                                    <m:t>=</m:t>
                                  </m:r>
                                  <m:r>
                                    <a:rPr lang="en-US" altLang="zh-CN" sz="2000" b="0" i="1">
                                      <a:solidFill>
                                        <a:schemeClr val="bg2"/>
                                      </a:solidFill>
                                      <a:latin typeface="Cambria Math" panose="02040503050406030204" pitchFamily="18" charset="0"/>
                                      <a:cs typeface="Times New Roman" panose="02020603050405020304" pitchFamily="18" charset="0"/>
                                    </a:rPr>
                                    <m:t>ℓ</m:t>
                                  </m:r>
                                </m:e>
                              </m:d>
                            </m:e>
                          </m:nary>
                          <m:f>
                            <m:fPr>
                              <m:ctrlPr>
                                <a:rPr lang="en-US" altLang="zh-CN" sz="2000" i="1">
                                  <a:solidFill>
                                    <a:schemeClr val="bg2"/>
                                  </a:solidFill>
                                  <a:latin typeface="Cambria Math" panose="02040503050406030204" pitchFamily="18" charset="0"/>
                                  <a:cs typeface="Times New Roman" panose="02020603050405020304" pitchFamily="18" charset="0"/>
                                </a:rPr>
                              </m:ctrlPr>
                            </m:fPr>
                            <m:num>
                              <m:sSup>
                                <m:sSupPr>
                                  <m:ctrlPr>
                                    <a:rPr lang="en-US" altLang="zh-CN" sz="2000" i="1">
                                      <a:solidFill>
                                        <a:schemeClr val="bg2"/>
                                      </a:solidFill>
                                      <a:latin typeface="Cambria Math" panose="02040503050406030204" pitchFamily="18" charset="0"/>
                                      <a:cs typeface="Times New Roman" panose="02020603050405020304" pitchFamily="18" charset="0"/>
                                    </a:rPr>
                                  </m:ctrlPr>
                                </m:sSupPr>
                                <m:e>
                                  <m:r>
                                    <a:rPr lang="en-US" altLang="zh-CN" sz="2000" b="0" i="1">
                                      <a:solidFill>
                                        <a:schemeClr val="bg2"/>
                                      </a:solidFill>
                                      <a:latin typeface="Cambria Math" panose="02040503050406030204" pitchFamily="18" charset="0"/>
                                      <a:cs typeface="Times New Roman" panose="02020603050405020304" pitchFamily="18" charset="0"/>
                                    </a:rPr>
                                    <m:t>𝑞</m:t>
                                  </m:r>
                                </m:e>
                                <m:sup>
                                  <m:r>
                                    <a:rPr lang="en-US" altLang="zh-CN" sz="2000" b="0" i="1">
                                      <a:solidFill>
                                        <a:schemeClr val="bg2"/>
                                      </a:solidFill>
                                      <a:latin typeface="Cambria Math" panose="02040503050406030204" pitchFamily="18" charset="0"/>
                                      <a:cs typeface="Times New Roman" panose="02020603050405020304" pitchFamily="18" charset="0"/>
                                    </a:rPr>
                                    <m:t>(</m:t>
                                  </m:r>
                                  <m:r>
                                    <a:rPr lang="en-US" altLang="zh-CN" sz="2000" b="0" i="1">
                                      <a:solidFill>
                                        <a:schemeClr val="bg2"/>
                                      </a:solidFill>
                                      <a:latin typeface="Cambria Math" panose="02040503050406030204" pitchFamily="18" charset="0"/>
                                      <a:cs typeface="Times New Roman" panose="02020603050405020304" pitchFamily="18" charset="0"/>
                                    </a:rPr>
                                    <m:t>𝑡</m:t>
                                  </m:r>
                                  <m:r>
                                    <a:rPr lang="en-US" altLang="zh-CN" sz="2000" b="0" i="1">
                                      <a:solidFill>
                                        <a:schemeClr val="bg2"/>
                                      </a:solidFill>
                                      <a:latin typeface="Cambria Math" panose="02040503050406030204" pitchFamily="18" charset="0"/>
                                      <a:cs typeface="Times New Roman" panose="02020603050405020304" pitchFamily="18" charset="0"/>
                                    </a:rPr>
                                    <m:t>)</m:t>
                                  </m:r>
                                </m:sup>
                              </m:sSup>
                              <m:r>
                                <a:rPr lang="en-US" altLang="zh-CN" sz="2000" b="0" i="1">
                                  <a:solidFill>
                                    <a:schemeClr val="bg2"/>
                                  </a:solidFill>
                                  <a:latin typeface="Cambria Math" panose="02040503050406030204" pitchFamily="18" charset="0"/>
                                  <a:cs typeface="Times New Roman" panose="02020603050405020304" pitchFamily="18" charset="0"/>
                                </a:rPr>
                                <m:t>(</m:t>
                              </m:r>
                              <m:r>
                                <a:rPr lang="en-US" altLang="zh-CN" sz="2000" b="0" i="1">
                                  <a:solidFill>
                                    <a:schemeClr val="bg2"/>
                                  </a:solidFill>
                                  <a:latin typeface="Cambria Math" panose="02040503050406030204" pitchFamily="18" charset="0"/>
                                  <a:cs typeface="Times New Roman" panose="02020603050405020304" pitchFamily="18" charset="0"/>
                                </a:rPr>
                                <m:t>𝑦</m:t>
                              </m:r>
                              <m:r>
                                <a:rPr lang="en-US" altLang="zh-CN" sz="2000" b="0" i="1">
                                  <a:solidFill>
                                    <a:schemeClr val="bg2"/>
                                  </a:solidFill>
                                  <a:latin typeface="Cambria Math" panose="02040503050406030204" pitchFamily="18" charset="0"/>
                                  <a:cs typeface="Times New Roman" panose="02020603050405020304" pitchFamily="18" charset="0"/>
                                </a:rPr>
                                <m:t>=</m:t>
                              </m:r>
                              <m:r>
                                <a:rPr lang="en-US" altLang="zh-CN" sz="2000" b="0" i="1">
                                  <a:solidFill>
                                    <a:schemeClr val="bg2"/>
                                  </a:solidFill>
                                  <a:latin typeface="Cambria Math" panose="02040503050406030204" pitchFamily="18" charset="0"/>
                                  <a:cs typeface="Times New Roman" panose="02020603050405020304" pitchFamily="18" charset="0"/>
                                </a:rPr>
                                <m:t>ℓ</m:t>
                              </m:r>
                              <m:r>
                                <a:rPr lang="en-US" altLang="zh-CN" sz="2000" b="0" i="1">
                                  <a:solidFill>
                                    <a:schemeClr val="bg2"/>
                                  </a:solidFill>
                                  <a:latin typeface="Cambria Math" panose="02040503050406030204" pitchFamily="18" charset="0"/>
                                  <a:cs typeface="Times New Roman" panose="02020603050405020304" pitchFamily="18" charset="0"/>
                                </a:rPr>
                                <m:t>)</m:t>
                              </m:r>
                            </m:num>
                            <m:den>
                              <m:r>
                                <a:rPr lang="en-US" altLang="zh-CN" sz="2000" b="0" i="1">
                                  <a:solidFill>
                                    <a:schemeClr val="bg2"/>
                                  </a:solidFill>
                                  <a:latin typeface="Cambria Math" panose="02040503050406030204" pitchFamily="18" charset="0"/>
                                  <a:cs typeface="Times New Roman" panose="02020603050405020304" pitchFamily="18" charset="0"/>
                                </a:rPr>
                                <m:t>𝑝</m:t>
                              </m:r>
                              <m:r>
                                <a:rPr lang="en-US" altLang="zh-CN" sz="2000" b="0" i="1">
                                  <a:solidFill>
                                    <a:schemeClr val="bg2"/>
                                  </a:solidFill>
                                  <a:latin typeface="Cambria Math" panose="02040503050406030204" pitchFamily="18" charset="0"/>
                                  <a:cs typeface="Times New Roman" panose="02020603050405020304" pitchFamily="18" charset="0"/>
                                </a:rPr>
                                <m:t>(</m:t>
                              </m:r>
                              <m:r>
                                <a:rPr lang="en-US" altLang="zh-CN" sz="2000" b="0" i="1">
                                  <a:solidFill>
                                    <a:schemeClr val="bg2"/>
                                  </a:solidFill>
                                  <a:latin typeface="Cambria Math" panose="02040503050406030204" pitchFamily="18" charset="0"/>
                                  <a:cs typeface="Times New Roman" panose="02020603050405020304" pitchFamily="18" charset="0"/>
                                </a:rPr>
                                <m:t>𝑦</m:t>
                              </m:r>
                              <m:r>
                                <a:rPr lang="en-US" altLang="zh-CN" sz="2000" b="0" i="1">
                                  <a:solidFill>
                                    <a:schemeClr val="bg2"/>
                                  </a:solidFill>
                                  <a:latin typeface="Cambria Math" panose="02040503050406030204" pitchFamily="18" charset="0"/>
                                  <a:cs typeface="Times New Roman" panose="02020603050405020304" pitchFamily="18" charset="0"/>
                                </a:rPr>
                                <m:t>=</m:t>
                              </m:r>
                              <m:r>
                                <a:rPr lang="en-US" altLang="zh-CN" sz="2000" b="0" i="1">
                                  <a:solidFill>
                                    <a:schemeClr val="bg2"/>
                                  </a:solidFill>
                                  <a:latin typeface="Cambria Math" panose="02040503050406030204" pitchFamily="18" charset="0"/>
                                  <a:cs typeface="Times New Roman" panose="02020603050405020304" pitchFamily="18" charset="0"/>
                                </a:rPr>
                                <m:t>ℓ</m:t>
                              </m:r>
                              <m:r>
                                <a:rPr lang="en-US" altLang="zh-CN" sz="2000" b="0" i="1">
                                  <a:solidFill>
                                    <a:schemeClr val="bg2"/>
                                  </a:solidFill>
                                  <a:latin typeface="Cambria Math" panose="02040503050406030204" pitchFamily="18" charset="0"/>
                                  <a:cs typeface="Times New Roman" panose="02020603050405020304" pitchFamily="18" charset="0"/>
                                </a:rPr>
                                <m:t>)</m:t>
                              </m:r>
                            </m:den>
                          </m:f>
                        </m:den>
                      </m:f>
                      <m:r>
                        <a:rPr lang="en-US" altLang="zh-CN" sz="2000" b="0" i="1" smtClean="0">
                          <a:solidFill>
                            <a:schemeClr val="bg2"/>
                          </a:solidFill>
                          <a:latin typeface="Cambria Math" panose="02040503050406030204" pitchFamily="18" charset="0"/>
                          <a:cs typeface="Times New Roman" panose="02020603050405020304" pitchFamily="18" charset="0"/>
                        </a:rPr>
                        <m:t>, </m:t>
                      </m:r>
                    </m:oMath>
                  </m:oMathPara>
                </a14:m>
                <a:endParaRPr lang="en-US" altLang="zh-CN" sz="2000" i="1" dirty="0">
                  <a:solidFill>
                    <a:schemeClr val="bg2"/>
                  </a:solidFill>
                  <a:latin typeface="Cambria Math" panose="020405030504060302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altLang="zh-CN" sz="2000" b="0" i="1" smtClean="0">
                          <a:solidFill>
                            <a:schemeClr val="bg2"/>
                          </a:solidFill>
                          <a:latin typeface="Cambria Math" panose="02040503050406030204" pitchFamily="18" charset="0"/>
                          <a:cs typeface="Times New Roman" panose="02020603050405020304" pitchFamily="18" charset="0"/>
                        </a:rPr>
                        <m:t>𝑤</m:t>
                      </m:r>
                      <m:r>
                        <a:rPr lang="en-US" altLang="zh-CN" sz="2000" b="0" i="1" smtClean="0">
                          <a:solidFill>
                            <a:schemeClr val="bg2"/>
                          </a:solidFill>
                          <a:latin typeface="Cambria Math" panose="02040503050406030204" pitchFamily="18" charset="0"/>
                          <a:cs typeface="Times New Roman" panose="02020603050405020304" pitchFamily="18" charset="0"/>
                        </a:rPr>
                        <m:t>h</m:t>
                      </m:r>
                      <m:r>
                        <a:rPr lang="en-US" altLang="zh-CN" sz="2000" b="0" i="1" smtClean="0">
                          <a:solidFill>
                            <a:schemeClr val="bg2"/>
                          </a:solidFill>
                          <a:latin typeface="Cambria Math" panose="02040503050406030204" pitchFamily="18" charset="0"/>
                          <a:cs typeface="Times New Roman" panose="02020603050405020304" pitchFamily="18" charset="0"/>
                        </a:rPr>
                        <m:t>𝑒𝑟𝑒</m:t>
                      </m:r>
                      <m:r>
                        <a:rPr lang="en-US" altLang="zh-CN" sz="2000" b="0" i="1" smtClean="0">
                          <a:solidFill>
                            <a:schemeClr val="bg2"/>
                          </a:solidFill>
                          <a:latin typeface="Cambria Math" panose="02040503050406030204" pitchFamily="18" charset="0"/>
                          <a:cs typeface="Times New Roman" panose="02020603050405020304" pitchFamily="18" charset="0"/>
                        </a:rPr>
                        <m:t> </m:t>
                      </m:r>
                      <m:r>
                        <a:rPr lang="en-US" altLang="zh-CN" sz="2000" b="0" i="1" smtClean="0">
                          <a:solidFill>
                            <a:schemeClr val="bg2"/>
                          </a:solidFill>
                          <a:latin typeface="Cambria Math" panose="02040503050406030204" pitchFamily="18" charset="0"/>
                          <a:cs typeface="Times New Roman" panose="02020603050405020304" pitchFamily="18" charset="0"/>
                        </a:rPr>
                        <m:t>𝑘</m:t>
                      </m:r>
                      <m:r>
                        <a:rPr lang="en-US" altLang="zh-CN" sz="2000" b="0" i="1" smtClean="0">
                          <a:solidFill>
                            <a:schemeClr val="bg2"/>
                          </a:solidFill>
                          <a:latin typeface="Cambria Math" panose="02040503050406030204" pitchFamily="18" charset="0"/>
                          <a:cs typeface="Times New Roman" panose="02020603050405020304" pitchFamily="18" charset="0"/>
                        </a:rPr>
                        <m:t> = # </m:t>
                      </m:r>
                      <m:r>
                        <a:rPr lang="en-US" altLang="zh-CN" sz="2000" b="0" i="1" smtClean="0">
                          <a:solidFill>
                            <a:schemeClr val="bg2"/>
                          </a:solidFill>
                          <a:latin typeface="Cambria Math" panose="02040503050406030204" pitchFamily="18" charset="0"/>
                          <a:cs typeface="Times New Roman" panose="02020603050405020304" pitchFamily="18" charset="0"/>
                        </a:rPr>
                        <m:t>𝑜𝑓</m:t>
                      </m:r>
                      <m:r>
                        <a:rPr lang="en-US" altLang="zh-CN" sz="2000" b="0" i="1" smtClean="0">
                          <a:solidFill>
                            <a:schemeClr val="bg2"/>
                          </a:solidFill>
                          <a:latin typeface="Cambria Math" panose="02040503050406030204" pitchFamily="18" charset="0"/>
                          <a:cs typeface="Times New Roman" panose="02020603050405020304" pitchFamily="18" charset="0"/>
                        </a:rPr>
                        <m:t> </m:t>
                      </m:r>
                      <m:r>
                        <a:rPr lang="en-US" altLang="zh-CN" sz="2000" b="0" i="1" smtClean="0">
                          <a:solidFill>
                            <a:schemeClr val="bg2"/>
                          </a:solidFill>
                          <a:latin typeface="Cambria Math" panose="02040503050406030204" pitchFamily="18" charset="0"/>
                          <a:cs typeface="Times New Roman" panose="02020603050405020304" pitchFamily="18" charset="0"/>
                        </a:rPr>
                        <m:t>𝑙𝑎𝑏𝑒𝑙𝑠</m:t>
                      </m:r>
                      <m:r>
                        <a:rPr lang="en-US" altLang="zh-CN" sz="2000" b="0" i="1" smtClean="0">
                          <a:solidFill>
                            <a:schemeClr val="bg2"/>
                          </a:solidFill>
                          <a:latin typeface="Cambria Math" panose="02040503050406030204" pitchFamily="18" charset="0"/>
                          <a:cs typeface="Times New Roman" panose="02020603050405020304" pitchFamily="18" charset="0"/>
                        </a:rPr>
                        <m:t> </m:t>
                      </m:r>
                    </m:oMath>
                  </m:oMathPara>
                </a14:m>
                <a:endParaRPr lang="en-US" altLang="zh-CN" sz="2000" dirty="0">
                  <a:solidFill>
                    <a:schemeClr val="bg2"/>
                  </a:solidFill>
                  <a:latin typeface="Times New Roman" panose="02020603050405020304" pitchFamily="18" charset="0"/>
                  <a:cs typeface="Times New Roman" panose="02020603050405020304" pitchFamily="18" charset="0"/>
                </a:endParaRPr>
              </a:p>
              <a:p>
                <a:pPr algn="ctr"/>
                <a:endParaRPr lang="zh-CN" altLang="en-US" sz="2000" dirty="0">
                  <a:solidFill>
                    <a:schemeClr val="bg2"/>
                  </a:solidFill>
                  <a:latin typeface="Times New Roman" panose="02020603050405020304" pitchFamily="18" charset="0"/>
                  <a:cs typeface="Times New Roman" panose="02020603050405020304" pitchFamily="18" charset="0"/>
                </a:endParaRPr>
              </a:p>
            </p:txBody>
          </p:sp>
        </mc:Choice>
        <mc:Fallback xmlns="">
          <p:sp>
            <p:nvSpPr>
              <p:cNvPr id="23" name="文本框 22">
                <a:extLst>
                  <a:ext uri="{FF2B5EF4-FFF2-40B4-BE49-F238E27FC236}">
                    <a16:creationId xmlns:a16="http://schemas.microsoft.com/office/drawing/2014/main" id="{837BCDC7-E237-5D06-CE7D-0B84CD9A922A}"/>
                  </a:ext>
                </a:extLst>
              </p:cNvPr>
              <p:cNvSpPr txBox="1">
                <a:spLocks noRot="1" noChangeAspect="1" noMove="1" noResize="1" noEditPoints="1" noAdjustHandles="1" noChangeArrowheads="1" noChangeShapeType="1" noTextEdit="1"/>
              </p:cNvSpPr>
              <p:nvPr/>
            </p:nvSpPr>
            <p:spPr>
              <a:xfrm>
                <a:off x="683324" y="3307973"/>
                <a:ext cx="6596964" cy="301095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4A711AB6-EAF0-7A5E-AE3F-5C154DD417C8}"/>
                  </a:ext>
                </a:extLst>
              </p:cNvPr>
              <p:cNvSpPr txBox="1"/>
              <p:nvPr/>
            </p:nvSpPr>
            <p:spPr>
              <a:xfrm>
                <a:off x="6181034" y="2820737"/>
                <a:ext cx="6477000" cy="536942"/>
              </a:xfrm>
              <a:prstGeom prst="rect">
                <a:avLst/>
              </a:prstGeom>
              <a:noFill/>
            </p:spPr>
            <p:txBody>
              <a:bodyPr wrap="square">
                <a:spAutoFit/>
              </a:bodyPr>
              <a:lstStyle/>
              <a:p>
                <a:pPr algn="ctr"/>
                <a:r>
                  <a:rPr lang="en-US" altLang="zh-CN" sz="2000" b="1" dirty="0">
                    <a:solidFill>
                      <a:schemeClr val="bg2"/>
                    </a:solidFill>
                    <a:latin typeface="Times New Roman" panose="02020603050405020304" pitchFamily="18" charset="0"/>
                    <a:cs typeface="Times New Roman" panose="02020603050405020304" pitchFamily="18" charset="0"/>
                  </a:rPr>
                  <a:t>Update</a:t>
                </a:r>
                <a:r>
                  <a:rPr lang="zh-CN" altLang="en-US" sz="2000" b="1" dirty="0">
                    <a:solidFill>
                      <a:schemeClr val="bg2"/>
                    </a:solidFill>
                    <a:latin typeface="Times New Roman" panose="02020603050405020304" pitchFamily="18" charset="0"/>
                    <a:cs typeface="Times New Roman" panose="02020603050405020304" pitchFamily="18" charset="0"/>
                  </a:rPr>
                  <a:t>：</a:t>
                </a:r>
                <a14:m>
                  <m:oMath xmlns:m="http://schemas.openxmlformats.org/officeDocument/2006/math">
                    <m:sSup>
                      <m:sSupPr>
                        <m:ctrlPr>
                          <a:rPr lang="en-US" altLang="zh-CN" sz="2000" b="1" i="1">
                            <a:solidFill>
                              <a:schemeClr val="bg2"/>
                            </a:solidFill>
                            <a:latin typeface="Cambria Math" panose="02040503050406030204" pitchFamily="18" charset="0"/>
                            <a:cs typeface="Times New Roman" panose="02020603050405020304" pitchFamily="18" charset="0"/>
                          </a:rPr>
                        </m:ctrlPr>
                      </m:sSupPr>
                      <m:e>
                        <m:r>
                          <a:rPr lang="en-US" altLang="zh-CN" sz="2000" b="1" i="1">
                            <a:solidFill>
                              <a:schemeClr val="bg2"/>
                            </a:solidFill>
                            <a:latin typeface="Cambria Math" panose="02040503050406030204" pitchFamily="18" charset="0"/>
                            <a:cs typeface="Times New Roman" panose="02020603050405020304" pitchFamily="18" charset="0"/>
                          </a:rPr>
                          <m:t>𝒒</m:t>
                        </m:r>
                      </m:e>
                      <m:sup>
                        <m:d>
                          <m:dPr>
                            <m:ctrlPr>
                              <a:rPr lang="en-US" altLang="zh-CN" sz="2000" b="1" i="1">
                                <a:solidFill>
                                  <a:schemeClr val="bg2"/>
                                </a:solidFill>
                                <a:latin typeface="Cambria Math" panose="02040503050406030204" pitchFamily="18" charset="0"/>
                                <a:cs typeface="Times New Roman" panose="02020603050405020304" pitchFamily="18" charset="0"/>
                              </a:rPr>
                            </m:ctrlPr>
                          </m:dPr>
                          <m:e>
                            <m:r>
                              <a:rPr lang="en-US" altLang="zh-CN" sz="2000" b="1" i="1">
                                <a:solidFill>
                                  <a:schemeClr val="bg2"/>
                                </a:solidFill>
                                <a:latin typeface="Cambria Math" panose="02040503050406030204" pitchFamily="18" charset="0"/>
                                <a:cs typeface="Times New Roman" panose="02020603050405020304" pitchFamily="18" charset="0"/>
                              </a:rPr>
                              <m:t>𝒕</m:t>
                            </m:r>
                            <m:r>
                              <a:rPr lang="en-US" altLang="zh-CN" sz="2000" b="1" i="1">
                                <a:solidFill>
                                  <a:schemeClr val="bg2"/>
                                </a:solidFill>
                                <a:latin typeface="Cambria Math" panose="02040503050406030204" pitchFamily="18" charset="0"/>
                                <a:cs typeface="Times New Roman" panose="02020603050405020304" pitchFamily="18" charset="0"/>
                              </a:rPr>
                              <m:t>+</m:t>
                            </m:r>
                            <m:r>
                              <a:rPr lang="en-US" altLang="zh-CN" sz="2000" b="1" i="1">
                                <a:solidFill>
                                  <a:schemeClr val="bg2"/>
                                </a:solidFill>
                                <a:latin typeface="Cambria Math" panose="02040503050406030204" pitchFamily="18" charset="0"/>
                                <a:cs typeface="Times New Roman" panose="02020603050405020304" pitchFamily="18" charset="0"/>
                              </a:rPr>
                              <m:t>𝟏</m:t>
                            </m:r>
                          </m:e>
                        </m:d>
                      </m:sup>
                    </m:sSup>
                    <m:d>
                      <m:dPr>
                        <m:ctrlPr>
                          <a:rPr lang="en-US" altLang="zh-CN" sz="2000" b="1" i="1">
                            <a:solidFill>
                              <a:schemeClr val="bg2"/>
                            </a:solidFill>
                            <a:latin typeface="Cambria Math" panose="02040503050406030204" pitchFamily="18" charset="0"/>
                            <a:cs typeface="Times New Roman" panose="02020603050405020304" pitchFamily="18" charset="0"/>
                          </a:rPr>
                        </m:ctrlPr>
                      </m:dPr>
                      <m:e>
                        <m:r>
                          <a:rPr lang="en-US" altLang="zh-CN" sz="2000" b="1" i="1">
                            <a:solidFill>
                              <a:schemeClr val="bg2"/>
                            </a:solidFill>
                            <a:latin typeface="Cambria Math" panose="02040503050406030204" pitchFamily="18" charset="0"/>
                            <a:cs typeface="Times New Roman" panose="02020603050405020304" pitchFamily="18" charset="0"/>
                          </a:rPr>
                          <m:t>𝒚</m:t>
                        </m:r>
                        <m:r>
                          <a:rPr lang="en-US" altLang="zh-CN" sz="2000" b="1" i="1">
                            <a:solidFill>
                              <a:schemeClr val="bg2"/>
                            </a:solidFill>
                            <a:latin typeface="Cambria Math" panose="02040503050406030204" pitchFamily="18" charset="0"/>
                            <a:cs typeface="Times New Roman" panose="02020603050405020304" pitchFamily="18" charset="0"/>
                          </a:rPr>
                          <m:t>=</m:t>
                        </m:r>
                        <m:r>
                          <a:rPr lang="en-US" altLang="zh-CN" sz="2000" b="1" i="1">
                            <a:solidFill>
                              <a:schemeClr val="bg2"/>
                            </a:solidFill>
                            <a:latin typeface="Cambria Math" panose="02040503050406030204" pitchFamily="18" charset="0"/>
                            <a:cs typeface="Times New Roman" panose="02020603050405020304" pitchFamily="18" charset="0"/>
                          </a:rPr>
                          <m:t>𝟏</m:t>
                        </m:r>
                      </m:e>
                    </m:d>
                    <m:r>
                      <a:rPr lang="en-US" altLang="zh-CN" sz="2000" b="1" i="1">
                        <a:solidFill>
                          <a:schemeClr val="bg2"/>
                        </a:solidFill>
                        <a:latin typeface="Cambria Math" panose="02040503050406030204" pitchFamily="18" charset="0"/>
                        <a:cs typeface="Times New Roman" panose="02020603050405020304" pitchFamily="18" charset="0"/>
                      </a:rPr>
                      <m:t>=</m:t>
                    </m:r>
                    <m:f>
                      <m:fPr>
                        <m:ctrlPr>
                          <a:rPr lang="en-US" altLang="zh-CN" sz="2000" b="1" i="1">
                            <a:solidFill>
                              <a:schemeClr val="bg2"/>
                            </a:solidFill>
                            <a:latin typeface="Cambria Math" panose="02040503050406030204" pitchFamily="18" charset="0"/>
                            <a:cs typeface="Times New Roman" panose="02020603050405020304" pitchFamily="18" charset="0"/>
                          </a:rPr>
                        </m:ctrlPr>
                      </m:fPr>
                      <m:num>
                        <m:r>
                          <a:rPr lang="en-US" altLang="zh-CN" sz="2000" b="1" i="1">
                            <a:solidFill>
                              <a:schemeClr val="bg2"/>
                            </a:solidFill>
                            <a:latin typeface="Cambria Math" panose="02040503050406030204" pitchFamily="18" charset="0"/>
                            <a:cs typeface="Times New Roman" panose="02020603050405020304" pitchFamily="18" charset="0"/>
                          </a:rPr>
                          <m:t>𝟏</m:t>
                        </m:r>
                      </m:num>
                      <m:den>
                        <m:r>
                          <a:rPr lang="en-US" altLang="zh-CN" sz="2000" b="1" i="1">
                            <a:solidFill>
                              <a:schemeClr val="bg2"/>
                            </a:solidFill>
                            <a:latin typeface="Cambria Math" panose="02040503050406030204" pitchFamily="18" charset="0"/>
                            <a:cs typeface="Times New Roman" panose="02020603050405020304" pitchFamily="18" charset="0"/>
                          </a:rPr>
                          <m:t>𝒏</m:t>
                        </m:r>
                      </m:den>
                    </m:f>
                    <m:nary>
                      <m:naryPr>
                        <m:chr m:val="∑"/>
                        <m:ctrlPr>
                          <a:rPr lang="en-US" altLang="zh-CN" sz="2000" b="1" i="1">
                            <a:solidFill>
                              <a:schemeClr val="bg2"/>
                            </a:solidFill>
                            <a:latin typeface="Cambria Math" panose="02040503050406030204" pitchFamily="18" charset="0"/>
                            <a:cs typeface="Times New Roman" panose="02020603050405020304" pitchFamily="18" charset="0"/>
                          </a:rPr>
                        </m:ctrlPr>
                      </m:naryPr>
                      <m:sub>
                        <m:r>
                          <a:rPr lang="en-US" altLang="zh-CN" sz="2000" b="1" i="1">
                            <a:solidFill>
                              <a:schemeClr val="bg2"/>
                            </a:solidFill>
                            <a:latin typeface="Cambria Math" panose="02040503050406030204" pitchFamily="18" charset="0"/>
                            <a:cs typeface="Times New Roman" panose="02020603050405020304" pitchFamily="18" charset="0"/>
                          </a:rPr>
                          <m:t>𝒊</m:t>
                        </m:r>
                        <m:r>
                          <a:rPr lang="en-US" altLang="zh-CN" sz="2000" b="1" i="1">
                            <a:solidFill>
                              <a:schemeClr val="bg2"/>
                            </a:solidFill>
                            <a:latin typeface="Cambria Math" panose="02040503050406030204" pitchFamily="18" charset="0"/>
                            <a:cs typeface="Times New Roman" panose="02020603050405020304" pitchFamily="18" charset="0"/>
                          </a:rPr>
                          <m:t>=</m:t>
                        </m:r>
                        <m:r>
                          <a:rPr lang="en-US" altLang="zh-CN" sz="2000" b="1" i="1">
                            <a:solidFill>
                              <a:schemeClr val="bg2"/>
                            </a:solidFill>
                            <a:latin typeface="Cambria Math" panose="02040503050406030204" pitchFamily="18" charset="0"/>
                            <a:cs typeface="Times New Roman" panose="02020603050405020304" pitchFamily="18" charset="0"/>
                          </a:rPr>
                          <m:t>𝟏</m:t>
                        </m:r>
                      </m:sub>
                      <m:sup>
                        <m:r>
                          <a:rPr lang="en-US" altLang="zh-CN" sz="2000" b="1" i="1">
                            <a:solidFill>
                              <a:schemeClr val="bg2"/>
                            </a:solidFill>
                            <a:latin typeface="Cambria Math" panose="02040503050406030204" pitchFamily="18" charset="0"/>
                            <a:cs typeface="Times New Roman" panose="02020603050405020304" pitchFamily="18" charset="0"/>
                          </a:rPr>
                          <m:t>𝒏</m:t>
                        </m:r>
                      </m:sup>
                      <m:e>
                        <m:sSubSup>
                          <m:sSubSupPr>
                            <m:ctrlPr>
                              <a:rPr lang="en-US" altLang="zh-CN" sz="2000" b="1" i="1">
                                <a:solidFill>
                                  <a:schemeClr val="bg2"/>
                                </a:solidFill>
                                <a:latin typeface="Cambria Math" panose="02040503050406030204" pitchFamily="18" charset="0"/>
                                <a:cs typeface="Times New Roman" panose="02020603050405020304" pitchFamily="18" charset="0"/>
                              </a:rPr>
                            </m:ctrlPr>
                          </m:sSubSupPr>
                          <m:e>
                            <m:r>
                              <a:rPr lang="en-US" altLang="zh-CN" sz="2000" b="1" i="1">
                                <a:solidFill>
                                  <a:schemeClr val="bg2"/>
                                </a:solidFill>
                                <a:latin typeface="Cambria Math" panose="02040503050406030204" pitchFamily="18" charset="0"/>
                                <a:cs typeface="Times New Roman" panose="02020603050405020304" pitchFamily="18" charset="0"/>
                              </a:rPr>
                              <m:t>𝒓</m:t>
                            </m:r>
                          </m:e>
                          <m:sub>
                            <m:r>
                              <a:rPr lang="en-US" altLang="zh-CN" sz="2000" b="1" i="1">
                                <a:solidFill>
                                  <a:schemeClr val="bg2"/>
                                </a:solidFill>
                                <a:latin typeface="Cambria Math" panose="02040503050406030204" pitchFamily="18" charset="0"/>
                                <a:cs typeface="Times New Roman" panose="02020603050405020304" pitchFamily="18" charset="0"/>
                              </a:rPr>
                              <m:t>𝒊</m:t>
                            </m:r>
                            <m:r>
                              <a:rPr lang="en-US" altLang="zh-CN" sz="2000" b="1" i="1">
                                <a:solidFill>
                                  <a:schemeClr val="bg2"/>
                                </a:solidFill>
                                <a:latin typeface="Cambria Math" panose="02040503050406030204" pitchFamily="18" charset="0"/>
                                <a:cs typeface="Times New Roman" panose="02020603050405020304" pitchFamily="18" charset="0"/>
                              </a:rPr>
                              <m:t>𝟏</m:t>
                            </m:r>
                          </m:sub>
                          <m:sup>
                            <m:d>
                              <m:dPr>
                                <m:ctrlPr>
                                  <a:rPr lang="en-US" altLang="zh-CN" sz="2000" b="1" i="1">
                                    <a:solidFill>
                                      <a:schemeClr val="bg2"/>
                                    </a:solidFill>
                                    <a:latin typeface="Cambria Math" panose="02040503050406030204" pitchFamily="18" charset="0"/>
                                    <a:cs typeface="Times New Roman" panose="02020603050405020304" pitchFamily="18" charset="0"/>
                                  </a:rPr>
                                </m:ctrlPr>
                              </m:dPr>
                              <m:e>
                                <m:r>
                                  <a:rPr lang="en-US" altLang="zh-CN" sz="2000" b="1" i="1">
                                    <a:solidFill>
                                      <a:schemeClr val="bg2"/>
                                    </a:solidFill>
                                    <a:latin typeface="Cambria Math" panose="02040503050406030204" pitchFamily="18" charset="0"/>
                                    <a:cs typeface="Times New Roman" panose="02020603050405020304" pitchFamily="18" charset="0"/>
                                  </a:rPr>
                                  <m:t>𝒕</m:t>
                                </m:r>
                              </m:e>
                            </m:d>
                          </m:sup>
                        </m:sSubSup>
                      </m:e>
                    </m:nary>
                  </m:oMath>
                </a14:m>
                <a:endParaRPr lang="zh-CN" altLang="en-US" sz="2000" b="1" dirty="0">
                  <a:solidFill>
                    <a:schemeClr val="bg2"/>
                  </a:solidFill>
                  <a:latin typeface="Times New Roman" panose="02020603050405020304" pitchFamily="18" charset="0"/>
                  <a:cs typeface="Times New Roman" panose="02020603050405020304" pitchFamily="18" charset="0"/>
                </a:endParaRPr>
              </a:p>
            </p:txBody>
          </p:sp>
        </mc:Choice>
        <mc:Fallback xmlns="">
          <p:sp>
            <p:nvSpPr>
              <p:cNvPr id="25" name="文本框 24">
                <a:extLst>
                  <a:ext uri="{FF2B5EF4-FFF2-40B4-BE49-F238E27FC236}">
                    <a16:creationId xmlns:a16="http://schemas.microsoft.com/office/drawing/2014/main" id="{4A711AB6-EAF0-7A5E-AE3F-5C154DD417C8}"/>
                  </a:ext>
                </a:extLst>
              </p:cNvPr>
              <p:cNvSpPr txBox="1">
                <a:spLocks noRot="1" noChangeAspect="1" noMove="1" noResize="1" noEditPoints="1" noAdjustHandles="1" noChangeArrowheads="1" noChangeShapeType="1" noTextEdit="1"/>
              </p:cNvSpPr>
              <p:nvPr/>
            </p:nvSpPr>
            <p:spPr>
              <a:xfrm>
                <a:off x="6181034" y="2820737"/>
                <a:ext cx="6477000" cy="536942"/>
              </a:xfrm>
              <a:prstGeom prst="rect">
                <a:avLst/>
              </a:prstGeom>
              <a:blipFill>
                <a:blip r:embed="rId7"/>
                <a:stretch>
                  <a:fillRect b="-6818"/>
                </a:stretch>
              </a:blipFill>
            </p:spPr>
            <p:txBody>
              <a:bodyPr/>
              <a:lstStyle/>
              <a:p>
                <a:r>
                  <a:rPr lang="zh-CN" altLang="en-US">
                    <a:noFill/>
                  </a:rPr>
                  <a:t> </a:t>
                </a:r>
              </a:p>
            </p:txBody>
          </p:sp>
        </mc:Fallback>
      </mc:AlternateContent>
      <p:pic>
        <p:nvPicPr>
          <p:cNvPr id="2052" name="Picture 4">
            <a:extLst>
              <a:ext uri="{FF2B5EF4-FFF2-40B4-BE49-F238E27FC236}">
                <a16:creationId xmlns:a16="http://schemas.microsoft.com/office/drawing/2014/main" id="{E1418722-FE70-0745-D87C-1012E62DF5C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10004" y="3307973"/>
            <a:ext cx="1599120" cy="98872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68A7A5AA-07A3-DB68-51B9-CA024616DDDC}"/>
                  </a:ext>
                </a:extLst>
              </p:cNvPr>
              <p:cNvSpPr txBox="1"/>
              <p:nvPr/>
            </p:nvSpPr>
            <p:spPr>
              <a:xfrm>
                <a:off x="6969038" y="3368892"/>
                <a:ext cx="1790171"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4000" b="1" i="0" smtClean="0">
                          <a:latin typeface="Cambria Math" panose="02040503050406030204" pitchFamily="18" charset="0"/>
                        </a:rPr>
                        <m:t>⋮</m:t>
                      </m:r>
                    </m:oMath>
                  </m:oMathPara>
                </a14:m>
                <a:endParaRPr lang="zh-CN" altLang="en-US" sz="4000" b="1" dirty="0"/>
              </a:p>
            </p:txBody>
          </p:sp>
        </mc:Choice>
        <mc:Fallback xmlns="">
          <p:sp>
            <p:nvSpPr>
              <p:cNvPr id="28" name="文本框 27">
                <a:extLst>
                  <a:ext uri="{FF2B5EF4-FFF2-40B4-BE49-F238E27FC236}">
                    <a16:creationId xmlns:a16="http://schemas.microsoft.com/office/drawing/2014/main" id="{68A7A5AA-07A3-DB68-51B9-CA024616DDDC}"/>
                  </a:ext>
                </a:extLst>
              </p:cNvPr>
              <p:cNvSpPr txBox="1">
                <a:spLocks noRot="1" noChangeAspect="1" noMove="1" noResize="1" noEditPoints="1" noAdjustHandles="1" noChangeArrowheads="1" noChangeShapeType="1" noTextEdit="1"/>
              </p:cNvSpPr>
              <p:nvPr/>
            </p:nvSpPr>
            <p:spPr>
              <a:xfrm>
                <a:off x="6969038" y="3368892"/>
                <a:ext cx="1790171" cy="615553"/>
              </a:xfrm>
              <a:prstGeom prst="rect">
                <a:avLst/>
              </a:prstGeom>
              <a:blipFill>
                <a:blip r:embed="rId9"/>
                <a:stretch>
                  <a:fillRect/>
                </a:stretch>
              </a:blipFill>
            </p:spPr>
            <p:txBody>
              <a:bodyPr/>
              <a:lstStyle/>
              <a:p>
                <a:r>
                  <a:rPr lang="zh-CN" altLang="en-US">
                    <a:noFill/>
                  </a:rPr>
                  <a:t> </a:t>
                </a:r>
              </a:p>
            </p:txBody>
          </p:sp>
        </mc:Fallback>
      </mc:AlternateContent>
      <p:sp>
        <p:nvSpPr>
          <p:cNvPr id="30" name="文本框 29">
            <a:extLst>
              <a:ext uri="{FF2B5EF4-FFF2-40B4-BE49-F238E27FC236}">
                <a16:creationId xmlns:a16="http://schemas.microsoft.com/office/drawing/2014/main" id="{D94D0386-8F03-8F8E-E082-280A4D7F6C13}"/>
              </a:ext>
            </a:extLst>
          </p:cNvPr>
          <p:cNvSpPr txBox="1"/>
          <p:nvPr/>
        </p:nvSpPr>
        <p:spPr>
          <a:xfrm>
            <a:off x="7360856" y="4446381"/>
            <a:ext cx="6709832" cy="400110"/>
          </a:xfrm>
          <a:prstGeom prst="rect">
            <a:avLst/>
          </a:prstGeom>
          <a:noFill/>
        </p:spPr>
        <p:txBody>
          <a:bodyPr wrap="square">
            <a:spAutoFit/>
          </a:bodyPr>
          <a:lstStyle/>
          <a:p>
            <a:r>
              <a:rPr lang="en-US" altLang="zh-CN" sz="2000" b="1" dirty="0">
                <a:solidFill>
                  <a:schemeClr val="bg2"/>
                </a:solidFill>
                <a:latin typeface="Times New Roman" panose="02020603050405020304" pitchFamily="18" charset="0"/>
                <a:cs typeface="Times New Roman" panose="02020603050405020304" pitchFamily="18" charset="0"/>
              </a:rPr>
              <a:t>Repeat Until Convergence:</a:t>
            </a:r>
            <a:endParaRPr lang="zh-CN" altLang="en-US" sz="2000" dirty="0"/>
          </a:p>
        </p:txBody>
      </p:sp>
      <p:pic>
        <p:nvPicPr>
          <p:cNvPr id="2054" name="Picture 6">
            <a:extLst>
              <a:ext uri="{FF2B5EF4-FFF2-40B4-BE49-F238E27FC236}">
                <a16:creationId xmlns:a16="http://schemas.microsoft.com/office/drawing/2014/main" id="{E4725241-AC37-BBE4-F79F-095A5C97F90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18098" y="4996177"/>
            <a:ext cx="1884142" cy="11649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5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5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xEl>
                                              <p:pRg st="0" end="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
                                            <p:txEl>
                                              <p:pRg st="1" end="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xEl>
                                              <p:pRg st="3" end="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3" grpId="0"/>
      <p:bldP spid="15" grpId="0"/>
      <p:bldP spid="16" grpId="0"/>
      <p:bldP spid="19" grpId="0"/>
      <p:bldP spid="25" grpId="0"/>
      <p:bldP spid="28" grpId="0"/>
      <p:bldP spid="3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g3d44f2775a5_0_61"/>
          <p:cNvSpPr txBox="1">
            <a:spLocks noGrp="1"/>
          </p:cNvSpPr>
          <p:nvPr>
            <p:ph type="title"/>
          </p:nvPr>
        </p:nvSpPr>
        <p:spPr>
          <a:xfrm>
            <a:off x="1461050" y="344764"/>
            <a:ext cx="9892800" cy="877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200"/>
              <a:buFont typeface="Cormorant"/>
              <a:buNone/>
            </a:pPr>
            <a:r>
              <a:rPr lang="en-US"/>
              <a:t>Calibration</a:t>
            </a:r>
            <a:endParaRPr>
              <a:solidFill>
                <a:srgbClr val="8C6D2C"/>
              </a:solidFill>
            </a:endParaRPr>
          </a:p>
        </p:txBody>
      </p:sp>
      <mc:AlternateContent xmlns:mc="http://schemas.openxmlformats.org/markup-compatibility/2006" xmlns:a14="http://schemas.microsoft.com/office/drawing/2010/main">
        <mc:Choice Requires="a14">
          <p:sp>
            <p:nvSpPr>
              <p:cNvPr id="139" name="Google Shape;139;g3d44f2775a5_0_61"/>
              <p:cNvSpPr txBox="1">
                <a:spLocks noGrp="1"/>
              </p:cNvSpPr>
              <p:nvPr>
                <p:ph type="body" idx="1"/>
              </p:nvPr>
            </p:nvSpPr>
            <p:spPr>
              <a:xfrm>
                <a:off x="1331900" y="1221975"/>
                <a:ext cx="5172000" cy="1956900"/>
              </a:xfrm>
              <a:prstGeom prst="rect">
                <a:avLst/>
              </a:prstGeom>
              <a:noFill/>
              <a:ln>
                <a:noFill/>
              </a:ln>
            </p:spPr>
            <p:txBody>
              <a:bodyPr spcFirstLastPara="1" wrap="square" lIns="91425" tIns="45700" rIns="91425" bIns="45700" anchor="t" anchorCtr="0">
                <a:normAutofit fontScale="55000" lnSpcReduction="20000"/>
              </a:bodyPr>
              <a:lstStyle/>
              <a:p>
                <a:pPr marL="69850" lvl="0" indent="0">
                  <a:lnSpc>
                    <a:spcPct val="170000"/>
                  </a:lnSpc>
                  <a:spcBef>
                    <a:spcPts val="0"/>
                  </a:spcBef>
                  <a:buSzPts val="2500"/>
                  <a:buNone/>
                </a:pPr>
                <a:r>
                  <a:rPr lang="en-US" altLang="zh-CN" b="1" dirty="0">
                    <a:latin typeface="Times New Roman"/>
                    <a:ea typeface="Times New Roman"/>
                    <a:cs typeface="Times New Roman"/>
                    <a:sym typeface="Times New Roman"/>
                  </a:rPr>
                  <a:t>Let </a:t>
                </a:r>
                <a14:m>
                  <m:oMath xmlns:m="http://schemas.openxmlformats.org/officeDocument/2006/math">
                    <m:r>
                      <a:rPr lang="es-ES" altLang="zh-CN" b="1" i="1" dirty="0">
                        <a:latin typeface="Cambria Math" panose="02040503050406030204" pitchFamily="18" charset="0"/>
                        <a:ea typeface="Times New Roman"/>
                        <a:cs typeface="Times New Roman"/>
                        <a:sym typeface="Times New Roman"/>
                      </a:rPr>
                      <m:t>𝒑</m:t>
                    </m:r>
                    <m:d>
                      <m:dPr>
                        <m:ctrlPr>
                          <a:rPr lang="es-ES" altLang="zh-CN" b="1" i="1" dirty="0">
                            <a:latin typeface="Cambria Math" panose="02040503050406030204" pitchFamily="18" charset="0"/>
                            <a:ea typeface="Times New Roman"/>
                            <a:cs typeface="Times New Roman"/>
                            <a:sym typeface="Times New Roman"/>
                          </a:rPr>
                        </m:ctrlPr>
                      </m:dPr>
                      <m:e>
                        <m:r>
                          <a:rPr lang="es-ES" altLang="zh-CN" b="1" i="1" dirty="0">
                            <a:latin typeface="Cambria Math" panose="02040503050406030204" pitchFamily="18" charset="0"/>
                            <a:ea typeface="Times New Roman"/>
                            <a:cs typeface="Times New Roman"/>
                            <a:sym typeface="Times New Roman"/>
                          </a:rPr>
                          <m:t>𝟏</m:t>
                        </m:r>
                      </m:e>
                    </m:d>
                    <m:r>
                      <a:rPr lang="es-ES" altLang="zh-CN" b="1" i="1" dirty="0">
                        <a:latin typeface="Cambria Math" panose="02040503050406030204" pitchFamily="18" charset="0"/>
                        <a:ea typeface="Times New Roman"/>
                        <a:cs typeface="Times New Roman"/>
                        <a:sym typeface="Times New Roman"/>
                      </a:rPr>
                      <m:t>≔</m:t>
                    </m:r>
                    <m:r>
                      <a:rPr lang="es-ES" altLang="zh-CN" b="1" i="1" dirty="0">
                        <a:latin typeface="Cambria Math" panose="02040503050406030204" pitchFamily="18" charset="0"/>
                        <a:ea typeface="Times New Roman"/>
                        <a:cs typeface="Times New Roman"/>
                        <a:sym typeface="Times New Roman"/>
                      </a:rPr>
                      <m:t>𝒑</m:t>
                    </m:r>
                    <m:d>
                      <m:dPr>
                        <m:sepChr m:val="∣"/>
                        <m:ctrlPr>
                          <a:rPr lang="es-ES" altLang="zh-CN" b="1" i="1" dirty="0">
                            <a:latin typeface="Cambria Math" panose="02040503050406030204" pitchFamily="18" charset="0"/>
                            <a:ea typeface="Times New Roman"/>
                            <a:cs typeface="Times New Roman"/>
                            <a:sym typeface="Times New Roman"/>
                          </a:rPr>
                        </m:ctrlPr>
                      </m:dPr>
                      <m:e>
                        <m:r>
                          <a:rPr lang="es-ES" altLang="zh-CN" b="1" i="1" dirty="0">
                            <a:latin typeface="Cambria Math" panose="02040503050406030204" pitchFamily="18" charset="0"/>
                            <a:ea typeface="Times New Roman"/>
                            <a:cs typeface="Times New Roman"/>
                            <a:sym typeface="Times New Roman"/>
                          </a:rPr>
                          <m:t>𝒚</m:t>
                        </m:r>
                        <m:r>
                          <a:rPr lang="es-ES" altLang="zh-CN" b="1" i="1" dirty="0">
                            <a:latin typeface="Cambria Math" panose="02040503050406030204" pitchFamily="18" charset="0"/>
                            <a:ea typeface="Times New Roman"/>
                            <a:cs typeface="Times New Roman"/>
                            <a:sym typeface="Times New Roman"/>
                          </a:rPr>
                          <m:t>=</m:t>
                        </m:r>
                        <m:r>
                          <a:rPr lang="es-ES" altLang="zh-CN" b="1" i="1" dirty="0">
                            <a:latin typeface="Cambria Math" panose="02040503050406030204" pitchFamily="18" charset="0"/>
                            <a:ea typeface="Times New Roman"/>
                            <a:cs typeface="Times New Roman"/>
                            <a:sym typeface="Times New Roman"/>
                          </a:rPr>
                          <m:t>𝟏</m:t>
                        </m:r>
                      </m:e>
                      <m:e>
                        <m:r>
                          <a:rPr lang="es-ES" altLang="zh-CN" b="1" i="1" dirty="0">
                            <a:latin typeface="Cambria Math" panose="02040503050406030204" pitchFamily="18" charset="0"/>
                            <a:ea typeface="Times New Roman"/>
                            <a:cs typeface="Times New Roman"/>
                            <a:sym typeface="Times New Roman"/>
                          </a:rPr>
                          <m:t>𝒙</m:t>
                        </m:r>
                      </m:e>
                    </m:d>
                  </m:oMath>
                </a14:m>
                <a:endParaRPr lang="en-US" altLang="zh-CN" b="1" dirty="0">
                  <a:latin typeface="Times New Roman"/>
                  <a:ea typeface="Times New Roman"/>
                  <a:cs typeface="Times New Roman"/>
                  <a:sym typeface="Times New Roman"/>
                </a:endParaRPr>
              </a:p>
              <a:p>
                <a:pPr marL="69850" lvl="0" indent="0">
                  <a:lnSpc>
                    <a:spcPct val="100000"/>
                  </a:lnSpc>
                  <a:spcBef>
                    <a:spcPts val="0"/>
                  </a:spcBef>
                  <a:buSzPts val="2500"/>
                  <a:buNone/>
                </a:pPr>
                <a14:m>
                  <m:oMathPara xmlns:m="http://schemas.openxmlformats.org/officeDocument/2006/math">
                    <m:oMathParaPr>
                      <m:jc m:val="centerGroup"/>
                    </m:oMathParaPr>
                    <m:oMath xmlns:m="http://schemas.openxmlformats.org/officeDocument/2006/math">
                      <m:sSub>
                        <m:sSubPr>
                          <m:ctrlPr>
                            <a:rPr lang="en-US" altLang="zh-CN" b="1" i="1" dirty="0">
                              <a:latin typeface="Cambria Math" panose="02040503050406030204" pitchFamily="18" charset="0"/>
                              <a:ea typeface="Times New Roman"/>
                              <a:cs typeface="Times New Roman"/>
                              <a:sym typeface="Times New Roman"/>
                            </a:rPr>
                          </m:ctrlPr>
                        </m:sSubPr>
                        <m:e>
                          <m:acc>
                            <m:accPr>
                              <m:chr m:val="̂"/>
                              <m:ctrlPr>
                                <a:rPr lang="en-US" altLang="zh-CN" b="1" i="1" dirty="0">
                                  <a:latin typeface="Cambria Math" panose="02040503050406030204" pitchFamily="18" charset="0"/>
                                  <a:ea typeface="Times New Roman"/>
                                  <a:cs typeface="Times New Roman"/>
                                  <a:sym typeface="Times New Roman"/>
                                </a:rPr>
                              </m:ctrlPr>
                            </m:accPr>
                            <m:e>
                              <m:r>
                                <a:rPr lang="en-US" altLang="zh-CN" b="1" i="1" dirty="0">
                                  <a:latin typeface="Cambria Math" panose="02040503050406030204" pitchFamily="18" charset="0"/>
                                  <a:ea typeface="Times New Roman"/>
                                  <a:cs typeface="Times New Roman"/>
                                  <a:sym typeface="Times New Roman"/>
                                </a:rPr>
                                <m:t>𝒒</m:t>
                              </m:r>
                            </m:e>
                          </m:acc>
                        </m:e>
                        <m:sub>
                          <m:r>
                            <m:rPr>
                              <m:nor/>
                            </m:rPr>
                            <a:rPr lang="en-US" altLang="zh-CN" b="1" dirty="0">
                              <a:latin typeface="Cambria Math" panose="02040503050406030204" pitchFamily="18" charset="0"/>
                              <a:ea typeface="Times New Roman"/>
                              <a:cs typeface="Times New Roman"/>
                              <a:sym typeface="Times New Roman"/>
                            </a:rPr>
                            <m:t>BBSE</m:t>
                          </m:r>
                        </m:sub>
                      </m:sSub>
                      <m:d>
                        <m:dPr>
                          <m:sepChr m:val="∣"/>
                          <m:ctrlPr>
                            <a:rPr lang="en-US" altLang="zh-CN" b="1" i="1" dirty="0">
                              <a:latin typeface="Cambria Math" panose="02040503050406030204" pitchFamily="18" charset="0"/>
                              <a:ea typeface="Times New Roman"/>
                              <a:cs typeface="Times New Roman"/>
                              <a:sym typeface="Times New Roman"/>
                            </a:rPr>
                          </m:ctrlPr>
                        </m:dPr>
                        <m:e>
                          <m:r>
                            <a:rPr lang="en-US" altLang="zh-CN" b="1" i="1" dirty="0">
                              <a:latin typeface="Cambria Math" panose="02040503050406030204" pitchFamily="18" charset="0"/>
                              <a:ea typeface="Times New Roman"/>
                              <a:cs typeface="Times New Roman"/>
                              <a:sym typeface="Times New Roman"/>
                            </a:rPr>
                            <m:t>𝒚</m:t>
                          </m:r>
                          <m:r>
                            <a:rPr lang="en-US" altLang="zh-CN" b="1" i="1" dirty="0">
                              <a:latin typeface="Cambria Math" panose="02040503050406030204" pitchFamily="18" charset="0"/>
                              <a:ea typeface="Times New Roman"/>
                              <a:cs typeface="Times New Roman"/>
                              <a:sym typeface="Times New Roman"/>
                            </a:rPr>
                            <m:t>=</m:t>
                          </m:r>
                          <m:r>
                            <a:rPr lang="en-US" altLang="zh-CN" b="1" i="1" dirty="0">
                              <a:latin typeface="Cambria Math" panose="02040503050406030204" pitchFamily="18" charset="0"/>
                              <a:ea typeface="Times New Roman"/>
                              <a:cs typeface="Times New Roman"/>
                              <a:sym typeface="Times New Roman"/>
                            </a:rPr>
                            <m:t>𝟏</m:t>
                          </m:r>
                        </m:e>
                        <m:e>
                          <m:r>
                            <a:rPr lang="en-US" altLang="zh-CN" b="1" i="1" dirty="0">
                              <a:latin typeface="Cambria Math" panose="02040503050406030204" pitchFamily="18" charset="0"/>
                              <a:ea typeface="Times New Roman"/>
                              <a:cs typeface="Times New Roman"/>
                              <a:sym typeface="Times New Roman"/>
                            </a:rPr>
                            <m:t>𝒙</m:t>
                          </m:r>
                        </m:e>
                      </m:d>
                      <m:r>
                        <a:rPr lang="en-US" altLang="zh-CN" b="1" i="1" dirty="0">
                          <a:latin typeface="Cambria Math" panose="02040503050406030204" pitchFamily="18" charset="0"/>
                          <a:ea typeface="Times New Roman"/>
                          <a:cs typeface="Times New Roman"/>
                          <a:sym typeface="Times New Roman"/>
                        </a:rPr>
                        <m:t>=</m:t>
                      </m:r>
                      <m:f>
                        <m:fPr>
                          <m:ctrlPr>
                            <a:rPr lang="en-US" altLang="zh-CN" b="1" i="1" dirty="0">
                              <a:latin typeface="Cambria Math" panose="02040503050406030204" pitchFamily="18" charset="0"/>
                              <a:ea typeface="Times New Roman"/>
                              <a:cs typeface="Times New Roman"/>
                              <a:sym typeface="Times New Roman"/>
                            </a:rPr>
                          </m:ctrlPr>
                        </m:fPr>
                        <m:num>
                          <m:sSubSup>
                            <m:sSubSupPr>
                              <m:ctrlPr>
                                <a:rPr lang="en-US" altLang="zh-CN" b="1" i="1" dirty="0">
                                  <a:latin typeface="Cambria Math" panose="02040503050406030204" pitchFamily="18" charset="0"/>
                                  <a:ea typeface="Times New Roman"/>
                                  <a:cs typeface="Times New Roman"/>
                                  <a:sym typeface="Times New Roman"/>
                                </a:rPr>
                              </m:ctrlPr>
                            </m:sSubSupPr>
                            <m:e>
                              <m:acc>
                                <m:accPr>
                                  <m:chr m:val="̂"/>
                                  <m:ctrlPr>
                                    <a:rPr lang="en-US" altLang="zh-CN" b="1" i="1" dirty="0">
                                      <a:latin typeface="Cambria Math" panose="02040503050406030204" pitchFamily="18" charset="0"/>
                                      <a:ea typeface="Times New Roman"/>
                                      <a:cs typeface="Times New Roman"/>
                                      <a:sym typeface="Times New Roman"/>
                                    </a:rPr>
                                  </m:ctrlPr>
                                </m:accPr>
                                <m:e>
                                  <m:r>
                                    <a:rPr lang="en-US" altLang="zh-CN" b="1" i="1" dirty="0">
                                      <a:latin typeface="Cambria Math" panose="02040503050406030204" pitchFamily="18" charset="0"/>
                                      <a:ea typeface="Times New Roman"/>
                                      <a:cs typeface="Times New Roman"/>
                                      <a:sym typeface="Times New Roman"/>
                                    </a:rPr>
                                    <m:t>𝒘</m:t>
                                  </m:r>
                                </m:e>
                              </m:acc>
                            </m:e>
                            <m:sub>
                              <m:r>
                                <a:rPr lang="en-US" altLang="zh-CN" b="1" i="1" dirty="0">
                                  <a:latin typeface="Cambria Math" panose="02040503050406030204" pitchFamily="18" charset="0"/>
                                  <a:ea typeface="Times New Roman"/>
                                  <a:cs typeface="Times New Roman"/>
                                  <a:sym typeface="Times New Roman"/>
                                </a:rPr>
                                <m:t>𝟏</m:t>
                              </m:r>
                            </m:sub>
                            <m:sup>
                              <m:r>
                                <m:rPr>
                                  <m:nor/>
                                </m:rPr>
                                <a:rPr lang="en-US" altLang="zh-CN" b="1" dirty="0">
                                  <a:latin typeface="Cambria Math" panose="02040503050406030204" pitchFamily="18" charset="0"/>
                                  <a:ea typeface="Times New Roman"/>
                                  <a:cs typeface="Times New Roman"/>
                                  <a:sym typeface="Times New Roman"/>
                                </a:rPr>
                                <m:t>BBSE</m:t>
                              </m:r>
                            </m:sup>
                          </m:sSubSup>
                          <m:r>
                            <a:rPr lang="en-US" altLang="zh-CN" b="1" i="1" dirty="0">
                              <a:latin typeface="Cambria Math" panose="02040503050406030204" pitchFamily="18" charset="0"/>
                              <a:ea typeface="Times New Roman"/>
                              <a:cs typeface="Times New Roman"/>
                              <a:sym typeface="Times New Roman"/>
                            </a:rPr>
                            <m:t> </m:t>
                          </m:r>
                          <m:r>
                            <a:rPr lang="en-US" altLang="zh-CN" b="1" i="1" dirty="0">
                              <a:latin typeface="Cambria Math" panose="02040503050406030204" pitchFamily="18" charset="0"/>
                              <a:ea typeface="Times New Roman"/>
                              <a:cs typeface="Times New Roman"/>
                              <a:sym typeface="Times New Roman"/>
                            </a:rPr>
                            <m:t>𝒑</m:t>
                          </m:r>
                          <m:d>
                            <m:dPr>
                              <m:ctrlPr>
                                <a:rPr lang="en-US" altLang="zh-CN" b="1" i="1" dirty="0">
                                  <a:latin typeface="Cambria Math" panose="02040503050406030204" pitchFamily="18" charset="0"/>
                                  <a:ea typeface="Times New Roman"/>
                                  <a:cs typeface="Times New Roman"/>
                                  <a:sym typeface="Times New Roman"/>
                                </a:rPr>
                              </m:ctrlPr>
                            </m:dPr>
                            <m:e>
                              <m:r>
                                <a:rPr lang="en-US" altLang="zh-CN" b="1" i="1" dirty="0">
                                  <a:latin typeface="Cambria Math" panose="02040503050406030204" pitchFamily="18" charset="0"/>
                                  <a:ea typeface="Times New Roman"/>
                                  <a:cs typeface="Times New Roman"/>
                                  <a:sym typeface="Times New Roman"/>
                                </a:rPr>
                                <m:t>𝟏</m:t>
                              </m:r>
                            </m:e>
                          </m:d>
                        </m:num>
                        <m:den>
                          <m:sSubSup>
                            <m:sSubSupPr>
                              <m:ctrlPr>
                                <a:rPr lang="en-US" altLang="zh-CN" b="1" i="1" dirty="0">
                                  <a:latin typeface="Cambria Math" panose="02040503050406030204" pitchFamily="18" charset="0"/>
                                  <a:ea typeface="Times New Roman"/>
                                  <a:cs typeface="Times New Roman"/>
                                  <a:sym typeface="Times New Roman"/>
                                </a:rPr>
                              </m:ctrlPr>
                            </m:sSubSupPr>
                            <m:e>
                              <m:acc>
                                <m:accPr>
                                  <m:chr m:val="̂"/>
                                  <m:ctrlPr>
                                    <a:rPr lang="en-US" altLang="zh-CN" b="1" i="1" dirty="0">
                                      <a:latin typeface="Cambria Math" panose="02040503050406030204" pitchFamily="18" charset="0"/>
                                      <a:ea typeface="Times New Roman"/>
                                      <a:cs typeface="Times New Roman"/>
                                      <a:sym typeface="Times New Roman"/>
                                    </a:rPr>
                                  </m:ctrlPr>
                                </m:accPr>
                                <m:e>
                                  <m:r>
                                    <a:rPr lang="en-US" altLang="zh-CN" b="1" i="1" dirty="0">
                                      <a:latin typeface="Cambria Math" panose="02040503050406030204" pitchFamily="18" charset="0"/>
                                      <a:ea typeface="Times New Roman"/>
                                      <a:cs typeface="Times New Roman"/>
                                      <a:sym typeface="Times New Roman"/>
                                    </a:rPr>
                                    <m:t>𝒘</m:t>
                                  </m:r>
                                </m:e>
                              </m:acc>
                            </m:e>
                            <m:sub>
                              <m:r>
                                <a:rPr lang="en-US" altLang="zh-CN" b="1" i="1" dirty="0">
                                  <a:latin typeface="Cambria Math" panose="02040503050406030204" pitchFamily="18" charset="0"/>
                                  <a:ea typeface="Times New Roman"/>
                                  <a:cs typeface="Times New Roman"/>
                                  <a:sym typeface="Times New Roman"/>
                                </a:rPr>
                                <m:t>𝟏</m:t>
                              </m:r>
                            </m:sub>
                            <m:sup>
                              <m:r>
                                <m:rPr>
                                  <m:nor/>
                                </m:rPr>
                                <a:rPr lang="en-US" altLang="zh-CN" b="1" dirty="0">
                                  <a:latin typeface="Cambria Math" panose="02040503050406030204" pitchFamily="18" charset="0"/>
                                  <a:ea typeface="Times New Roman"/>
                                  <a:cs typeface="Times New Roman"/>
                                  <a:sym typeface="Times New Roman"/>
                                </a:rPr>
                                <m:t>BBSE</m:t>
                              </m:r>
                            </m:sup>
                          </m:sSubSup>
                          <m:r>
                            <a:rPr lang="en-US" altLang="zh-CN" b="1" i="1" dirty="0">
                              <a:latin typeface="Cambria Math" panose="02040503050406030204" pitchFamily="18" charset="0"/>
                              <a:ea typeface="Times New Roman"/>
                              <a:cs typeface="Times New Roman"/>
                              <a:sym typeface="Times New Roman"/>
                            </a:rPr>
                            <m:t> </m:t>
                          </m:r>
                          <m:r>
                            <a:rPr lang="en-US" altLang="zh-CN" b="1" i="1" dirty="0">
                              <a:latin typeface="Cambria Math" panose="02040503050406030204" pitchFamily="18" charset="0"/>
                              <a:ea typeface="Times New Roman"/>
                              <a:cs typeface="Times New Roman"/>
                              <a:sym typeface="Times New Roman"/>
                            </a:rPr>
                            <m:t>𝒑</m:t>
                          </m:r>
                          <m:d>
                            <m:dPr>
                              <m:ctrlPr>
                                <a:rPr lang="en-US" altLang="zh-CN" b="1" i="1" dirty="0">
                                  <a:latin typeface="Cambria Math" panose="02040503050406030204" pitchFamily="18" charset="0"/>
                                  <a:ea typeface="Times New Roman"/>
                                  <a:cs typeface="Times New Roman"/>
                                  <a:sym typeface="Times New Roman"/>
                                </a:rPr>
                              </m:ctrlPr>
                            </m:dPr>
                            <m:e>
                              <m:r>
                                <a:rPr lang="en-US" altLang="zh-CN" b="1" i="1" dirty="0">
                                  <a:latin typeface="Cambria Math" panose="02040503050406030204" pitchFamily="18" charset="0"/>
                                  <a:ea typeface="Times New Roman"/>
                                  <a:cs typeface="Times New Roman"/>
                                  <a:sym typeface="Times New Roman"/>
                                </a:rPr>
                                <m:t>𝟏</m:t>
                              </m:r>
                            </m:e>
                          </m:d>
                          <m:r>
                            <a:rPr lang="en-US" altLang="zh-CN" b="1" i="1" dirty="0">
                              <a:latin typeface="Cambria Math" panose="02040503050406030204" pitchFamily="18" charset="0"/>
                              <a:ea typeface="Times New Roman"/>
                              <a:cs typeface="Times New Roman"/>
                              <a:sym typeface="Times New Roman"/>
                            </a:rPr>
                            <m:t>+</m:t>
                          </m:r>
                          <m:sSubSup>
                            <m:sSubSupPr>
                              <m:ctrlPr>
                                <a:rPr lang="en-US" altLang="zh-CN" b="1" i="1" dirty="0">
                                  <a:latin typeface="Cambria Math" panose="02040503050406030204" pitchFamily="18" charset="0"/>
                                  <a:ea typeface="Times New Roman"/>
                                  <a:cs typeface="Times New Roman"/>
                                  <a:sym typeface="Times New Roman"/>
                                </a:rPr>
                              </m:ctrlPr>
                            </m:sSubSupPr>
                            <m:e>
                              <m:acc>
                                <m:accPr>
                                  <m:chr m:val="̂"/>
                                  <m:ctrlPr>
                                    <a:rPr lang="en-US" altLang="zh-CN" b="1" i="1" dirty="0">
                                      <a:latin typeface="Cambria Math" panose="02040503050406030204" pitchFamily="18" charset="0"/>
                                      <a:ea typeface="Times New Roman"/>
                                      <a:cs typeface="Times New Roman"/>
                                      <a:sym typeface="Times New Roman"/>
                                    </a:rPr>
                                  </m:ctrlPr>
                                </m:accPr>
                                <m:e>
                                  <m:r>
                                    <a:rPr lang="en-US" altLang="zh-CN" b="1" i="1" dirty="0">
                                      <a:latin typeface="Cambria Math" panose="02040503050406030204" pitchFamily="18" charset="0"/>
                                      <a:ea typeface="Times New Roman"/>
                                      <a:cs typeface="Times New Roman"/>
                                      <a:sym typeface="Times New Roman"/>
                                    </a:rPr>
                                    <m:t>𝒘</m:t>
                                  </m:r>
                                </m:e>
                              </m:acc>
                            </m:e>
                            <m:sub>
                              <m:r>
                                <a:rPr lang="en-US" altLang="zh-CN" b="1" i="1" dirty="0">
                                  <a:latin typeface="Cambria Math" panose="02040503050406030204" pitchFamily="18" charset="0"/>
                                  <a:ea typeface="Times New Roman"/>
                                  <a:cs typeface="Times New Roman"/>
                                  <a:sym typeface="Times New Roman"/>
                                </a:rPr>
                                <m:t>𝟎</m:t>
                              </m:r>
                            </m:sub>
                            <m:sup>
                              <m:r>
                                <m:rPr>
                                  <m:nor/>
                                </m:rPr>
                                <a:rPr lang="en-US" altLang="zh-CN" b="1" dirty="0">
                                  <a:latin typeface="Cambria Math" panose="02040503050406030204" pitchFamily="18" charset="0"/>
                                  <a:ea typeface="Times New Roman"/>
                                  <a:cs typeface="Times New Roman"/>
                                  <a:sym typeface="Times New Roman"/>
                                </a:rPr>
                                <m:t>BBSE</m:t>
                              </m:r>
                            </m:sup>
                          </m:sSubSup>
                          <m:r>
                            <a:rPr lang="en-US" altLang="zh-CN" b="1" i="1" dirty="0">
                              <a:latin typeface="Cambria Math" panose="02040503050406030204" pitchFamily="18" charset="0"/>
                              <a:ea typeface="Times New Roman"/>
                              <a:cs typeface="Times New Roman"/>
                              <a:sym typeface="Times New Roman"/>
                            </a:rPr>
                            <m:t> </m:t>
                          </m:r>
                          <m:d>
                            <m:dPr>
                              <m:begChr m:val="["/>
                              <m:endChr m:val="]"/>
                              <m:ctrlPr>
                                <a:rPr lang="en-US" altLang="zh-CN" b="1" i="1" dirty="0">
                                  <a:latin typeface="Cambria Math" panose="02040503050406030204" pitchFamily="18" charset="0"/>
                                  <a:ea typeface="Times New Roman"/>
                                  <a:cs typeface="Times New Roman"/>
                                  <a:sym typeface="Times New Roman"/>
                                </a:rPr>
                              </m:ctrlPr>
                            </m:dPr>
                            <m:e>
                              <m:r>
                                <a:rPr lang="en-US" altLang="zh-CN" b="1" i="1" dirty="0">
                                  <a:latin typeface="Cambria Math" panose="02040503050406030204" pitchFamily="18" charset="0"/>
                                  <a:ea typeface="Times New Roman"/>
                                  <a:cs typeface="Times New Roman"/>
                                  <a:sym typeface="Times New Roman"/>
                                </a:rPr>
                                <m:t>𝟏</m:t>
                              </m:r>
                              <m:r>
                                <a:rPr lang="en-US" altLang="zh-CN" b="1" i="1" dirty="0">
                                  <a:latin typeface="Cambria Math" panose="02040503050406030204" pitchFamily="18" charset="0"/>
                                  <a:ea typeface="Times New Roman"/>
                                  <a:cs typeface="Times New Roman"/>
                                  <a:sym typeface="Times New Roman"/>
                                </a:rPr>
                                <m:t>−</m:t>
                              </m:r>
                              <m:r>
                                <a:rPr lang="en-US" altLang="zh-CN" b="1" i="1" dirty="0">
                                  <a:latin typeface="Cambria Math" panose="02040503050406030204" pitchFamily="18" charset="0"/>
                                  <a:ea typeface="Times New Roman"/>
                                  <a:cs typeface="Times New Roman"/>
                                  <a:sym typeface="Times New Roman"/>
                                </a:rPr>
                                <m:t>𝒑</m:t>
                              </m:r>
                              <m:d>
                                <m:dPr>
                                  <m:ctrlPr>
                                    <a:rPr lang="en-US" altLang="zh-CN" b="1" i="1" dirty="0">
                                      <a:latin typeface="Cambria Math" panose="02040503050406030204" pitchFamily="18" charset="0"/>
                                      <a:ea typeface="Times New Roman"/>
                                      <a:cs typeface="Times New Roman"/>
                                      <a:sym typeface="Times New Roman"/>
                                    </a:rPr>
                                  </m:ctrlPr>
                                </m:dPr>
                                <m:e>
                                  <m:r>
                                    <a:rPr lang="en-US" altLang="zh-CN" b="1" i="1" dirty="0">
                                      <a:latin typeface="Cambria Math" panose="02040503050406030204" pitchFamily="18" charset="0"/>
                                      <a:ea typeface="Times New Roman"/>
                                      <a:cs typeface="Times New Roman"/>
                                      <a:sym typeface="Times New Roman"/>
                                    </a:rPr>
                                    <m:t>𝟏</m:t>
                                  </m:r>
                                </m:e>
                              </m:d>
                            </m:e>
                          </m:d>
                        </m:den>
                      </m:f>
                    </m:oMath>
                  </m:oMathPara>
                </a14:m>
                <a:endParaRPr lang="en-US" altLang="zh-CN" b="1" i="1" dirty="0">
                  <a:latin typeface="Cambria Math" panose="02040503050406030204" pitchFamily="18" charset="0"/>
                  <a:ea typeface="Times New Roman"/>
                  <a:cs typeface="Times New Roman"/>
                  <a:sym typeface="Times New Roman"/>
                </a:endParaRPr>
              </a:p>
              <a:p>
                <a:pPr marL="69850" lvl="0" indent="0">
                  <a:lnSpc>
                    <a:spcPct val="100000"/>
                  </a:lnSpc>
                  <a:spcBef>
                    <a:spcPts val="0"/>
                  </a:spcBef>
                  <a:buSzPts val="2500"/>
                  <a:buNone/>
                </a:pPr>
                <a:endParaRPr lang="en-US" altLang="zh-CN" b="1" i="1" dirty="0">
                  <a:latin typeface="Cambria Math" panose="02040503050406030204" pitchFamily="18" charset="0"/>
                  <a:ea typeface="Times New Roman"/>
                  <a:cs typeface="Times New Roman"/>
                  <a:sym typeface="Times New Roman"/>
                </a:endParaRPr>
              </a:p>
              <a:p>
                <a:pPr marL="69850" lvl="0" indent="0">
                  <a:lnSpc>
                    <a:spcPct val="100000"/>
                  </a:lnSpc>
                  <a:spcBef>
                    <a:spcPts val="0"/>
                  </a:spcBef>
                  <a:buSzPts val="2500"/>
                  <a:buNone/>
                </a:pPr>
                <a14:m>
                  <m:oMathPara xmlns:m="http://schemas.openxmlformats.org/officeDocument/2006/math">
                    <m:oMathParaPr>
                      <m:jc m:val="centerGroup"/>
                    </m:oMathParaPr>
                    <m:oMath xmlns:m="http://schemas.openxmlformats.org/officeDocument/2006/math">
                      <m:sSub>
                        <m:sSubPr>
                          <m:ctrlPr>
                            <a:rPr lang="en-US" altLang="zh-CN" b="1" i="1" dirty="0">
                              <a:latin typeface="Cambria Math" panose="02040503050406030204" pitchFamily="18" charset="0"/>
                              <a:ea typeface="Times New Roman"/>
                              <a:cs typeface="Times New Roman"/>
                              <a:sym typeface="Times New Roman"/>
                            </a:rPr>
                          </m:ctrlPr>
                        </m:sSubPr>
                        <m:e>
                          <m:acc>
                            <m:accPr>
                              <m:chr m:val="̂"/>
                              <m:ctrlPr>
                                <a:rPr lang="en-US" altLang="zh-CN" b="1" i="1" dirty="0">
                                  <a:latin typeface="Cambria Math" panose="02040503050406030204" pitchFamily="18" charset="0"/>
                                  <a:ea typeface="Times New Roman"/>
                                  <a:cs typeface="Times New Roman"/>
                                  <a:sym typeface="Times New Roman"/>
                                </a:rPr>
                              </m:ctrlPr>
                            </m:accPr>
                            <m:e>
                              <m:r>
                                <a:rPr lang="en-US" altLang="zh-CN" b="1" i="1" dirty="0">
                                  <a:latin typeface="Cambria Math" panose="02040503050406030204" pitchFamily="18" charset="0"/>
                                  <a:ea typeface="Times New Roman"/>
                                  <a:cs typeface="Times New Roman"/>
                                  <a:sym typeface="Times New Roman"/>
                                </a:rPr>
                                <m:t>𝒒</m:t>
                              </m:r>
                            </m:e>
                          </m:acc>
                        </m:e>
                        <m:sub>
                          <m:r>
                            <m:rPr>
                              <m:nor/>
                            </m:rPr>
                            <a:rPr lang="en-US" altLang="zh-CN" b="1" dirty="0">
                              <a:latin typeface="Cambria Math" panose="02040503050406030204" pitchFamily="18" charset="0"/>
                              <a:ea typeface="Times New Roman"/>
                              <a:cs typeface="Times New Roman"/>
                              <a:sym typeface="Times New Roman"/>
                            </a:rPr>
                            <m:t>MLLS</m:t>
                          </m:r>
                        </m:sub>
                      </m:sSub>
                      <m:d>
                        <m:dPr>
                          <m:sepChr m:val="∣"/>
                          <m:ctrlPr>
                            <a:rPr lang="en-US" altLang="zh-CN" b="1" i="1" dirty="0">
                              <a:latin typeface="Cambria Math" panose="02040503050406030204" pitchFamily="18" charset="0"/>
                              <a:ea typeface="Times New Roman"/>
                              <a:cs typeface="Times New Roman"/>
                              <a:sym typeface="Times New Roman"/>
                            </a:rPr>
                          </m:ctrlPr>
                        </m:dPr>
                        <m:e>
                          <m:r>
                            <a:rPr lang="en-US" altLang="zh-CN" b="1" i="1" dirty="0">
                              <a:latin typeface="Cambria Math" panose="02040503050406030204" pitchFamily="18" charset="0"/>
                              <a:ea typeface="Times New Roman"/>
                              <a:cs typeface="Times New Roman"/>
                              <a:sym typeface="Times New Roman"/>
                            </a:rPr>
                            <m:t>𝒚</m:t>
                          </m:r>
                          <m:r>
                            <a:rPr lang="en-US" altLang="zh-CN" b="1" i="1" dirty="0">
                              <a:latin typeface="Cambria Math" panose="02040503050406030204" pitchFamily="18" charset="0"/>
                              <a:ea typeface="Times New Roman"/>
                              <a:cs typeface="Times New Roman"/>
                              <a:sym typeface="Times New Roman"/>
                            </a:rPr>
                            <m:t>=</m:t>
                          </m:r>
                          <m:r>
                            <a:rPr lang="en-US" altLang="zh-CN" b="1" i="1" dirty="0">
                              <a:latin typeface="Cambria Math" panose="02040503050406030204" pitchFamily="18" charset="0"/>
                              <a:ea typeface="Times New Roman"/>
                              <a:cs typeface="Times New Roman"/>
                              <a:sym typeface="Times New Roman"/>
                            </a:rPr>
                            <m:t>𝟏</m:t>
                          </m:r>
                        </m:e>
                        <m:e>
                          <m:r>
                            <a:rPr lang="en-US" altLang="zh-CN" b="1" i="1" dirty="0">
                              <a:latin typeface="Cambria Math" panose="02040503050406030204" pitchFamily="18" charset="0"/>
                              <a:ea typeface="Times New Roman"/>
                              <a:cs typeface="Times New Roman"/>
                              <a:sym typeface="Times New Roman"/>
                            </a:rPr>
                            <m:t>𝒙</m:t>
                          </m:r>
                        </m:e>
                      </m:d>
                      <m:r>
                        <a:rPr lang="en-US" altLang="zh-CN" b="1" i="1" dirty="0">
                          <a:latin typeface="Cambria Math" panose="02040503050406030204" pitchFamily="18" charset="0"/>
                          <a:ea typeface="Times New Roman"/>
                          <a:cs typeface="Times New Roman"/>
                          <a:sym typeface="Times New Roman"/>
                        </a:rPr>
                        <m:t>=</m:t>
                      </m:r>
                      <m:f>
                        <m:fPr>
                          <m:ctrlPr>
                            <a:rPr lang="en-US" altLang="zh-CN" b="1" i="1" dirty="0">
                              <a:latin typeface="Cambria Math" panose="02040503050406030204" pitchFamily="18" charset="0"/>
                              <a:ea typeface="Times New Roman"/>
                              <a:cs typeface="Times New Roman"/>
                              <a:sym typeface="Times New Roman"/>
                            </a:rPr>
                          </m:ctrlPr>
                        </m:fPr>
                        <m:num>
                          <m:sSubSup>
                            <m:sSubSupPr>
                              <m:ctrlPr>
                                <a:rPr lang="en-US" altLang="zh-CN" b="1" i="1" dirty="0">
                                  <a:latin typeface="Cambria Math" panose="02040503050406030204" pitchFamily="18" charset="0"/>
                                  <a:ea typeface="Times New Roman"/>
                                  <a:cs typeface="Times New Roman"/>
                                  <a:sym typeface="Times New Roman"/>
                                </a:rPr>
                              </m:ctrlPr>
                            </m:sSubSupPr>
                            <m:e>
                              <m:acc>
                                <m:accPr>
                                  <m:chr m:val="̂"/>
                                  <m:ctrlPr>
                                    <a:rPr lang="en-US" altLang="zh-CN" b="1" i="1" dirty="0">
                                      <a:latin typeface="Cambria Math" panose="02040503050406030204" pitchFamily="18" charset="0"/>
                                      <a:ea typeface="Times New Roman"/>
                                      <a:cs typeface="Times New Roman"/>
                                      <a:sym typeface="Times New Roman"/>
                                    </a:rPr>
                                  </m:ctrlPr>
                                </m:accPr>
                                <m:e>
                                  <m:r>
                                    <a:rPr lang="en-US" altLang="zh-CN" b="1" i="1" dirty="0">
                                      <a:latin typeface="Cambria Math" panose="02040503050406030204" pitchFamily="18" charset="0"/>
                                      <a:ea typeface="Times New Roman"/>
                                      <a:cs typeface="Times New Roman"/>
                                      <a:sym typeface="Times New Roman"/>
                                    </a:rPr>
                                    <m:t>𝒘</m:t>
                                  </m:r>
                                </m:e>
                              </m:acc>
                            </m:e>
                            <m:sub>
                              <m:r>
                                <a:rPr lang="en-US" altLang="zh-CN" b="1" i="1" dirty="0">
                                  <a:latin typeface="Cambria Math" panose="02040503050406030204" pitchFamily="18" charset="0"/>
                                  <a:ea typeface="Times New Roman"/>
                                  <a:cs typeface="Times New Roman"/>
                                  <a:sym typeface="Times New Roman"/>
                                </a:rPr>
                                <m:t>𝟏</m:t>
                              </m:r>
                            </m:sub>
                            <m:sup>
                              <m:r>
                                <m:rPr>
                                  <m:nor/>
                                </m:rPr>
                                <a:rPr lang="en-US" altLang="zh-CN" b="1" dirty="0">
                                  <a:latin typeface="Cambria Math" panose="02040503050406030204" pitchFamily="18" charset="0"/>
                                  <a:ea typeface="Times New Roman"/>
                                  <a:cs typeface="Times New Roman"/>
                                  <a:sym typeface="Times New Roman"/>
                                </a:rPr>
                                <m:t>MLLS</m:t>
                              </m:r>
                            </m:sup>
                          </m:sSubSup>
                          <m:r>
                            <a:rPr lang="en-US" altLang="zh-CN" b="1" i="1" dirty="0">
                              <a:latin typeface="Cambria Math" panose="02040503050406030204" pitchFamily="18" charset="0"/>
                              <a:ea typeface="Times New Roman"/>
                              <a:cs typeface="Times New Roman"/>
                              <a:sym typeface="Times New Roman"/>
                            </a:rPr>
                            <m:t> </m:t>
                          </m:r>
                          <m:r>
                            <a:rPr lang="en-US" altLang="zh-CN" b="1" i="1" dirty="0">
                              <a:latin typeface="Cambria Math" panose="02040503050406030204" pitchFamily="18" charset="0"/>
                              <a:ea typeface="Times New Roman"/>
                              <a:cs typeface="Times New Roman"/>
                              <a:sym typeface="Times New Roman"/>
                            </a:rPr>
                            <m:t>𝒑</m:t>
                          </m:r>
                          <m:d>
                            <m:dPr>
                              <m:ctrlPr>
                                <a:rPr lang="en-US" altLang="zh-CN" b="1" i="1" dirty="0">
                                  <a:latin typeface="Cambria Math" panose="02040503050406030204" pitchFamily="18" charset="0"/>
                                  <a:ea typeface="Times New Roman"/>
                                  <a:cs typeface="Times New Roman"/>
                                  <a:sym typeface="Times New Roman"/>
                                </a:rPr>
                              </m:ctrlPr>
                            </m:dPr>
                            <m:e>
                              <m:r>
                                <a:rPr lang="en-US" altLang="zh-CN" b="1" i="1" dirty="0">
                                  <a:latin typeface="Cambria Math" panose="02040503050406030204" pitchFamily="18" charset="0"/>
                                  <a:ea typeface="Times New Roman"/>
                                  <a:cs typeface="Times New Roman"/>
                                  <a:sym typeface="Times New Roman"/>
                                </a:rPr>
                                <m:t>𝟏</m:t>
                              </m:r>
                            </m:e>
                          </m:d>
                        </m:num>
                        <m:den>
                          <m:sSubSup>
                            <m:sSubSupPr>
                              <m:ctrlPr>
                                <a:rPr lang="en-US" altLang="zh-CN" b="1" i="1" dirty="0">
                                  <a:latin typeface="Cambria Math" panose="02040503050406030204" pitchFamily="18" charset="0"/>
                                  <a:ea typeface="Times New Roman"/>
                                  <a:cs typeface="Times New Roman"/>
                                  <a:sym typeface="Times New Roman"/>
                                </a:rPr>
                              </m:ctrlPr>
                            </m:sSubSupPr>
                            <m:e>
                              <m:acc>
                                <m:accPr>
                                  <m:chr m:val="̂"/>
                                  <m:ctrlPr>
                                    <a:rPr lang="en-US" altLang="zh-CN" b="1" i="1" dirty="0">
                                      <a:latin typeface="Cambria Math" panose="02040503050406030204" pitchFamily="18" charset="0"/>
                                      <a:ea typeface="Times New Roman"/>
                                      <a:cs typeface="Times New Roman"/>
                                      <a:sym typeface="Times New Roman"/>
                                    </a:rPr>
                                  </m:ctrlPr>
                                </m:accPr>
                                <m:e>
                                  <m:r>
                                    <a:rPr lang="en-US" altLang="zh-CN" b="1" i="1" dirty="0">
                                      <a:latin typeface="Cambria Math" panose="02040503050406030204" pitchFamily="18" charset="0"/>
                                      <a:ea typeface="Times New Roman"/>
                                      <a:cs typeface="Times New Roman"/>
                                      <a:sym typeface="Times New Roman"/>
                                    </a:rPr>
                                    <m:t>𝒘</m:t>
                                  </m:r>
                                </m:e>
                              </m:acc>
                            </m:e>
                            <m:sub>
                              <m:r>
                                <a:rPr lang="en-US" altLang="zh-CN" b="1" i="1" dirty="0">
                                  <a:latin typeface="Cambria Math" panose="02040503050406030204" pitchFamily="18" charset="0"/>
                                  <a:ea typeface="Times New Roman"/>
                                  <a:cs typeface="Times New Roman"/>
                                  <a:sym typeface="Times New Roman"/>
                                </a:rPr>
                                <m:t>𝟏</m:t>
                              </m:r>
                            </m:sub>
                            <m:sup>
                              <m:r>
                                <m:rPr>
                                  <m:nor/>
                                </m:rPr>
                                <a:rPr lang="en-US" altLang="zh-CN" b="1" dirty="0">
                                  <a:latin typeface="Cambria Math" panose="02040503050406030204" pitchFamily="18" charset="0"/>
                                  <a:ea typeface="Times New Roman"/>
                                  <a:cs typeface="Times New Roman"/>
                                  <a:sym typeface="Times New Roman"/>
                                </a:rPr>
                                <m:t>MLLS</m:t>
                              </m:r>
                            </m:sup>
                          </m:sSubSup>
                          <m:r>
                            <a:rPr lang="en-US" altLang="zh-CN" b="1" i="1" dirty="0">
                              <a:latin typeface="Cambria Math" panose="02040503050406030204" pitchFamily="18" charset="0"/>
                              <a:ea typeface="Times New Roman"/>
                              <a:cs typeface="Times New Roman"/>
                              <a:sym typeface="Times New Roman"/>
                            </a:rPr>
                            <m:t> </m:t>
                          </m:r>
                          <m:r>
                            <a:rPr lang="en-US" altLang="zh-CN" b="1" i="1" dirty="0">
                              <a:latin typeface="Cambria Math" panose="02040503050406030204" pitchFamily="18" charset="0"/>
                              <a:ea typeface="Times New Roman"/>
                              <a:cs typeface="Times New Roman"/>
                              <a:sym typeface="Times New Roman"/>
                            </a:rPr>
                            <m:t>𝒑</m:t>
                          </m:r>
                          <m:d>
                            <m:dPr>
                              <m:ctrlPr>
                                <a:rPr lang="en-US" altLang="zh-CN" b="1" i="1" dirty="0">
                                  <a:latin typeface="Cambria Math" panose="02040503050406030204" pitchFamily="18" charset="0"/>
                                  <a:ea typeface="Times New Roman"/>
                                  <a:cs typeface="Times New Roman"/>
                                  <a:sym typeface="Times New Roman"/>
                                </a:rPr>
                              </m:ctrlPr>
                            </m:dPr>
                            <m:e>
                              <m:r>
                                <a:rPr lang="en-US" altLang="zh-CN" b="1" i="1" dirty="0">
                                  <a:latin typeface="Cambria Math" panose="02040503050406030204" pitchFamily="18" charset="0"/>
                                  <a:ea typeface="Times New Roman"/>
                                  <a:cs typeface="Times New Roman"/>
                                  <a:sym typeface="Times New Roman"/>
                                </a:rPr>
                                <m:t>𝟏</m:t>
                              </m:r>
                            </m:e>
                          </m:d>
                          <m:r>
                            <a:rPr lang="en-US" altLang="zh-CN" b="1" i="1" dirty="0">
                              <a:latin typeface="Cambria Math" panose="02040503050406030204" pitchFamily="18" charset="0"/>
                              <a:ea typeface="Times New Roman"/>
                              <a:cs typeface="Times New Roman"/>
                              <a:sym typeface="Times New Roman"/>
                            </a:rPr>
                            <m:t>+</m:t>
                          </m:r>
                          <m:sSubSup>
                            <m:sSubSupPr>
                              <m:ctrlPr>
                                <a:rPr lang="en-US" altLang="zh-CN" b="1" i="1" dirty="0">
                                  <a:latin typeface="Cambria Math" panose="02040503050406030204" pitchFamily="18" charset="0"/>
                                  <a:ea typeface="Times New Roman"/>
                                  <a:cs typeface="Times New Roman"/>
                                  <a:sym typeface="Times New Roman"/>
                                </a:rPr>
                              </m:ctrlPr>
                            </m:sSubSupPr>
                            <m:e>
                              <m:acc>
                                <m:accPr>
                                  <m:chr m:val="̂"/>
                                  <m:ctrlPr>
                                    <a:rPr lang="en-US" altLang="zh-CN" b="1" i="1" dirty="0">
                                      <a:latin typeface="Cambria Math" panose="02040503050406030204" pitchFamily="18" charset="0"/>
                                      <a:ea typeface="Times New Roman"/>
                                      <a:cs typeface="Times New Roman"/>
                                      <a:sym typeface="Times New Roman"/>
                                    </a:rPr>
                                  </m:ctrlPr>
                                </m:accPr>
                                <m:e>
                                  <m:r>
                                    <a:rPr lang="en-US" altLang="zh-CN" b="1" i="1" dirty="0">
                                      <a:latin typeface="Cambria Math" panose="02040503050406030204" pitchFamily="18" charset="0"/>
                                      <a:ea typeface="Times New Roman"/>
                                      <a:cs typeface="Times New Roman"/>
                                      <a:sym typeface="Times New Roman"/>
                                    </a:rPr>
                                    <m:t>𝒘</m:t>
                                  </m:r>
                                </m:e>
                              </m:acc>
                            </m:e>
                            <m:sub>
                              <m:r>
                                <a:rPr lang="en-US" altLang="zh-CN" b="1" i="1" dirty="0">
                                  <a:latin typeface="Cambria Math" panose="02040503050406030204" pitchFamily="18" charset="0"/>
                                  <a:ea typeface="Times New Roman"/>
                                  <a:cs typeface="Times New Roman"/>
                                  <a:sym typeface="Times New Roman"/>
                                </a:rPr>
                                <m:t>𝟎</m:t>
                              </m:r>
                            </m:sub>
                            <m:sup>
                              <m:r>
                                <m:rPr>
                                  <m:nor/>
                                </m:rPr>
                                <a:rPr lang="en-US" altLang="zh-CN" b="1" dirty="0">
                                  <a:latin typeface="Cambria Math" panose="02040503050406030204" pitchFamily="18" charset="0"/>
                                  <a:ea typeface="Times New Roman"/>
                                  <a:cs typeface="Times New Roman"/>
                                  <a:sym typeface="Times New Roman"/>
                                </a:rPr>
                                <m:t>MLLS</m:t>
                              </m:r>
                            </m:sup>
                          </m:sSubSup>
                          <m:r>
                            <a:rPr lang="en-US" altLang="zh-CN" b="1" i="1" dirty="0">
                              <a:latin typeface="Cambria Math" panose="02040503050406030204" pitchFamily="18" charset="0"/>
                              <a:ea typeface="Times New Roman"/>
                              <a:cs typeface="Times New Roman"/>
                              <a:sym typeface="Times New Roman"/>
                            </a:rPr>
                            <m:t> </m:t>
                          </m:r>
                          <m:d>
                            <m:dPr>
                              <m:begChr m:val="["/>
                              <m:endChr m:val="]"/>
                              <m:ctrlPr>
                                <a:rPr lang="en-US" altLang="zh-CN" b="1" i="1" dirty="0">
                                  <a:latin typeface="Cambria Math" panose="02040503050406030204" pitchFamily="18" charset="0"/>
                                  <a:ea typeface="Times New Roman"/>
                                  <a:cs typeface="Times New Roman"/>
                                  <a:sym typeface="Times New Roman"/>
                                </a:rPr>
                              </m:ctrlPr>
                            </m:dPr>
                            <m:e>
                              <m:r>
                                <a:rPr lang="en-US" altLang="zh-CN" b="1" i="1" dirty="0">
                                  <a:latin typeface="Cambria Math" panose="02040503050406030204" pitchFamily="18" charset="0"/>
                                  <a:ea typeface="Times New Roman"/>
                                  <a:cs typeface="Times New Roman"/>
                                  <a:sym typeface="Times New Roman"/>
                                </a:rPr>
                                <m:t>𝟏</m:t>
                              </m:r>
                              <m:r>
                                <a:rPr lang="en-US" altLang="zh-CN" b="1" i="1" dirty="0">
                                  <a:latin typeface="Cambria Math" panose="02040503050406030204" pitchFamily="18" charset="0"/>
                                  <a:ea typeface="Times New Roman"/>
                                  <a:cs typeface="Times New Roman"/>
                                  <a:sym typeface="Times New Roman"/>
                                </a:rPr>
                                <m:t>−</m:t>
                              </m:r>
                              <m:r>
                                <a:rPr lang="en-US" altLang="zh-CN" b="1" i="1" dirty="0">
                                  <a:latin typeface="Cambria Math" panose="02040503050406030204" pitchFamily="18" charset="0"/>
                                  <a:ea typeface="Times New Roman"/>
                                  <a:cs typeface="Times New Roman"/>
                                  <a:sym typeface="Times New Roman"/>
                                </a:rPr>
                                <m:t>𝒑</m:t>
                              </m:r>
                              <m:d>
                                <m:dPr>
                                  <m:ctrlPr>
                                    <a:rPr lang="en-US" altLang="zh-CN" b="1" i="1" dirty="0">
                                      <a:latin typeface="Cambria Math" panose="02040503050406030204" pitchFamily="18" charset="0"/>
                                      <a:ea typeface="Times New Roman"/>
                                      <a:cs typeface="Times New Roman"/>
                                      <a:sym typeface="Times New Roman"/>
                                    </a:rPr>
                                  </m:ctrlPr>
                                </m:dPr>
                                <m:e>
                                  <m:r>
                                    <a:rPr lang="en-US" altLang="zh-CN" b="1" i="1" dirty="0">
                                      <a:latin typeface="Cambria Math" panose="02040503050406030204" pitchFamily="18" charset="0"/>
                                      <a:ea typeface="Times New Roman"/>
                                      <a:cs typeface="Times New Roman"/>
                                      <a:sym typeface="Times New Roman"/>
                                    </a:rPr>
                                    <m:t>𝟏</m:t>
                                  </m:r>
                                </m:e>
                              </m:d>
                            </m:e>
                          </m:d>
                        </m:den>
                      </m:f>
                    </m:oMath>
                  </m:oMathPara>
                </a14:m>
                <a:endParaRPr sz="2500" b="1" dirty="0">
                  <a:latin typeface="Times New Roman"/>
                  <a:ea typeface="Times New Roman"/>
                  <a:cs typeface="Times New Roman"/>
                  <a:sym typeface="Times New Roman"/>
                </a:endParaRPr>
              </a:p>
            </p:txBody>
          </p:sp>
        </mc:Choice>
        <mc:Fallback xmlns="">
          <p:sp>
            <p:nvSpPr>
              <p:cNvPr id="139" name="Google Shape;139;g3d44f2775a5_0_61"/>
              <p:cNvSpPr txBox="1">
                <a:spLocks noGrp="1" noRot="1" noChangeAspect="1" noMove="1" noResize="1" noEditPoints="1" noAdjustHandles="1" noChangeArrowheads="1" noChangeShapeType="1" noTextEdit="1"/>
              </p:cNvSpPr>
              <p:nvPr>
                <p:ph type="body" idx="1"/>
              </p:nvPr>
            </p:nvSpPr>
            <p:spPr>
              <a:xfrm>
                <a:off x="1331900" y="1221975"/>
                <a:ext cx="5172000" cy="1956900"/>
              </a:xfrm>
              <a:prstGeom prst="rect">
                <a:avLst/>
              </a:prstGeom>
              <a:blipFill>
                <a:blip r:embed="rId3"/>
                <a:stretch>
                  <a:fillRect/>
                </a:stretch>
              </a:blipFill>
              <a:ln>
                <a:noFill/>
              </a:ln>
            </p:spPr>
            <p:txBody>
              <a:bodyPr/>
              <a:lstStyle/>
              <a:p>
                <a:r>
                  <a:rPr lang="zh-CN" altLang="en-US">
                    <a:noFill/>
                  </a:rPr>
                  <a:t> </a:t>
                </a:r>
              </a:p>
            </p:txBody>
          </p:sp>
        </mc:Fallback>
      </mc:AlternateContent>
      <p:pic>
        <p:nvPicPr>
          <p:cNvPr id="140" name="Google Shape;140;g3d44f2775a5_0_61"/>
          <p:cNvPicPr preferRelativeResize="0"/>
          <p:nvPr/>
        </p:nvPicPr>
        <p:blipFill>
          <a:blip r:embed="rId4">
            <a:alphaModFix/>
          </a:blip>
          <a:stretch>
            <a:fillRect/>
          </a:stretch>
        </p:blipFill>
        <p:spPr>
          <a:xfrm>
            <a:off x="6718223" y="192125"/>
            <a:ext cx="4920625" cy="3181750"/>
          </a:xfrm>
          <a:prstGeom prst="rect">
            <a:avLst/>
          </a:prstGeom>
          <a:noFill/>
          <a:ln>
            <a:noFill/>
          </a:ln>
        </p:spPr>
      </p:pic>
      <p:pic>
        <p:nvPicPr>
          <p:cNvPr id="141" name="Google Shape;141;g3d44f2775a5_0_61"/>
          <p:cNvPicPr preferRelativeResize="0"/>
          <p:nvPr/>
        </p:nvPicPr>
        <p:blipFill>
          <a:blip r:embed="rId5">
            <a:alphaModFix/>
          </a:blip>
          <a:stretch>
            <a:fillRect/>
          </a:stretch>
        </p:blipFill>
        <p:spPr>
          <a:xfrm>
            <a:off x="6718225" y="3579374"/>
            <a:ext cx="4920625" cy="3181751"/>
          </a:xfrm>
          <a:prstGeom prst="rect">
            <a:avLst/>
          </a:prstGeom>
          <a:noFill/>
          <a:ln>
            <a:noFill/>
          </a:ln>
        </p:spPr>
      </p:pic>
      <p:pic>
        <p:nvPicPr>
          <p:cNvPr id="142" name="Google Shape;142;g3d44f2775a5_0_61"/>
          <p:cNvPicPr preferRelativeResize="0"/>
          <p:nvPr/>
        </p:nvPicPr>
        <p:blipFill>
          <a:blip r:embed="rId6">
            <a:alphaModFix/>
          </a:blip>
          <a:stretch>
            <a:fillRect/>
          </a:stretch>
        </p:blipFill>
        <p:spPr>
          <a:xfrm>
            <a:off x="1331900" y="3373875"/>
            <a:ext cx="5172075" cy="334436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22" name="图片 21">
            <a:extLst>
              <a:ext uri="{FF2B5EF4-FFF2-40B4-BE49-F238E27FC236}">
                <a16:creationId xmlns:a16="http://schemas.microsoft.com/office/drawing/2014/main" id="{988DFAF7-F072-57F0-7AD2-58AB5FA872C2}"/>
              </a:ext>
            </a:extLst>
          </p:cNvPr>
          <p:cNvPicPr>
            <a:picLocks noChangeAspect="1"/>
          </p:cNvPicPr>
          <p:nvPr/>
        </p:nvPicPr>
        <p:blipFill>
          <a:blip r:embed="rId3"/>
          <a:stretch>
            <a:fillRect/>
          </a:stretch>
        </p:blipFill>
        <p:spPr>
          <a:xfrm>
            <a:off x="-16738" y="0"/>
            <a:ext cx="2443305" cy="6858000"/>
          </a:xfrm>
          <a:prstGeom prst="rect">
            <a:avLst/>
          </a:prstGeom>
        </p:spPr>
      </p:pic>
      <p:sp>
        <p:nvSpPr>
          <p:cNvPr id="147" name="Google Shape;147;g3d44f2775a5_0_66"/>
          <p:cNvSpPr txBox="1">
            <a:spLocks noGrp="1"/>
          </p:cNvSpPr>
          <p:nvPr>
            <p:ph type="title"/>
          </p:nvPr>
        </p:nvSpPr>
        <p:spPr>
          <a:xfrm>
            <a:off x="1461050" y="344764"/>
            <a:ext cx="9892800" cy="877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Cormorant"/>
              <a:buNone/>
            </a:pPr>
            <a:r>
              <a:rPr lang="en-US" sz="4000" dirty="0"/>
              <a:t>Comparison between BBSE and MLLS</a:t>
            </a:r>
            <a:endParaRPr sz="4000" dirty="0">
              <a:solidFill>
                <a:srgbClr val="8C6D2C"/>
              </a:solidFill>
            </a:endParaRPr>
          </a:p>
        </p:txBody>
      </p:sp>
      <p:sp>
        <p:nvSpPr>
          <p:cNvPr id="148" name="Google Shape;148;g3d44f2775a5_0_66"/>
          <p:cNvSpPr txBox="1">
            <a:spLocks noGrp="1"/>
          </p:cNvSpPr>
          <p:nvPr>
            <p:ph type="body" idx="1"/>
          </p:nvPr>
        </p:nvSpPr>
        <p:spPr>
          <a:xfrm>
            <a:off x="1025882" y="1041300"/>
            <a:ext cx="11349300" cy="4775400"/>
          </a:xfrm>
          <a:prstGeom prst="rect">
            <a:avLst/>
          </a:prstGeom>
          <a:noFill/>
          <a:ln>
            <a:noFill/>
          </a:ln>
        </p:spPr>
        <p:txBody>
          <a:bodyPr spcFirstLastPara="1" wrap="square" lIns="91425" tIns="45700" rIns="91425" bIns="45700" anchor="t" anchorCtr="0">
            <a:normAutofit/>
          </a:bodyPr>
          <a:lstStyle/>
          <a:p>
            <a:pPr marL="76200" lvl="0" indent="0">
              <a:lnSpc>
                <a:spcPct val="150000"/>
              </a:lnSpc>
              <a:spcBef>
                <a:spcPts val="0"/>
              </a:spcBef>
              <a:buSzPts val="2400"/>
              <a:buNone/>
            </a:pPr>
            <a:r>
              <a:rPr lang="en-US" altLang="zh-CN" sz="2400" dirty="0">
                <a:latin typeface="Times New Roman"/>
                <a:ea typeface="Times New Roman"/>
                <a:cs typeface="Times New Roman"/>
                <a:sym typeface="Times New Roman"/>
              </a:rPr>
              <a:t>We compare BBSE and MLLS in binary cases for different:</a:t>
            </a:r>
          </a:p>
          <a:p>
            <a:pPr marL="533400" lvl="0" indent="-457200">
              <a:lnSpc>
                <a:spcPct val="150000"/>
              </a:lnSpc>
              <a:spcBef>
                <a:spcPts val="0"/>
              </a:spcBef>
              <a:buSzPts val="2400"/>
              <a:buAutoNum type="arabicParenBoth"/>
            </a:pPr>
            <a:r>
              <a:rPr lang="en-US" altLang="zh-CN" sz="2400" dirty="0">
                <a:latin typeface="Times New Roman"/>
                <a:ea typeface="Times New Roman"/>
                <a:cs typeface="Times New Roman"/>
                <a:sym typeface="Times New Roman"/>
              </a:rPr>
              <a:t>class separation, (2) label-shift extent, (3) sample size</a:t>
            </a:r>
          </a:p>
          <a:p>
            <a:pPr marL="76200" lvl="0" indent="0">
              <a:lnSpc>
                <a:spcPct val="150000"/>
              </a:lnSpc>
              <a:spcBef>
                <a:spcPts val="0"/>
              </a:spcBef>
              <a:buSzPts val="2400"/>
              <a:buNone/>
            </a:pPr>
            <a:r>
              <a:rPr lang="en-US" sz="2400" dirty="0">
                <a:latin typeface="Times New Roman"/>
                <a:ea typeface="Times New Roman"/>
                <a:cs typeface="Times New Roman"/>
                <a:sym typeface="Times New Roman"/>
              </a:rPr>
              <a:t>Class Separation: Distance between conditional distribution p(</a:t>
            </a:r>
            <a:r>
              <a:rPr lang="en-US" sz="2400" dirty="0" err="1">
                <a:latin typeface="Times New Roman"/>
                <a:ea typeface="Times New Roman"/>
                <a:cs typeface="Times New Roman"/>
                <a:sym typeface="Times New Roman"/>
              </a:rPr>
              <a:t>x|y</a:t>
            </a:r>
            <a:r>
              <a:rPr lang="en-US" sz="2400" dirty="0">
                <a:latin typeface="Times New Roman"/>
                <a:ea typeface="Times New Roman"/>
                <a:cs typeface="Times New Roman"/>
                <a:sym typeface="Times New Roman"/>
              </a:rPr>
              <a:t>). </a:t>
            </a:r>
          </a:p>
          <a:p>
            <a:pPr marL="76200" lvl="0" indent="0">
              <a:lnSpc>
                <a:spcPct val="150000"/>
              </a:lnSpc>
              <a:spcBef>
                <a:spcPts val="0"/>
              </a:spcBef>
              <a:buSzPts val="2400"/>
              <a:buNone/>
            </a:pPr>
            <a:r>
              <a:rPr lang="en-US" sz="2400" dirty="0">
                <a:latin typeface="Times New Roman"/>
                <a:ea typeface="Times New Roman"/>
                <a:cs typeface="Times New Roman"/>
                <a:sym typeface="Times New Roman"/>
              </a:rPr>
              <a:t>Label Shift Extent: Difference between p(y) and q(y). </a:t>
            </a:r>
            <a:endParaRPr sz="2400" dirty="0">
              <a:latin typeface="Times New Roman"/>
              <a:ea typeface="Times New Roman"/>
              <a:cs typeface="Times New Roman"/>
              <a:sym typeface="Times New Roman"/>
            </a:endParaRPr>
          </a:p>
        </p:txBody>
      </p:sp>
      <p:pic>
        <p:nvPicPr>
          <p:cNvPr id="5" name="图片 4">
            <a:extLst>
              <a:ext uri="{FF2B5EF4-FFF2-40B4-BE49-F238E27FC236}">
                <a16:creationId xmlns:a16="http://schemas.microsoft.com/office/drawing/2014/main" id="{22489430-48D8-96E7-8CAA-8EA64BD40105}"/>
              </a:ext>
            </a:extLst>
          </p:cNvPr>
          <p:cNvPicPr>
            <a:picLocks noChangeAspect="1"/>
          </p:cNvPicPr>
          <p:nvPr/>
        </p:nvPicPr>
        <p:blipFill>
          <a:blip r:embed="rId4"/>
          <a:stretch>
            <a:fillRect/>
          </a:stretch>
        </p:blipFill>
        <p:spPr>
          <a:xfrm>
            <a:off x="1241196" y="3429000"/>
            <a:ext cx="3914973" cy="3429000"/>
          </a:xfrm>
          <a:prstGeom prst="rect">
            <a:avLst/>
          </a:prstGeom>
        </p:spPr>
      </p:pic>
      <p:pic>
        <p:nvPicPr>
          <p:cNvPr id="8" name="图片 7">
            <a:extLst>
              <a:ext uri="{FF2B5EF4-FFF2-40B4-BE49-F238E27FC236}">
                <a16:creationId xmlns:a16="http://schemas.microsoft.com/office/drawing/2014/main" id="{A4CFF454-CE45-8F7D-EAA6-E3A04C984FFE}"/>
              </a:ext>
            </a:extLst>
          </p:cNvPr>
          <p:cNvPicPr>
            <a:picLocks noChangeAspect="1"/>
          </p:cNvPicPr>
          <p:nvPr/>
        </p:nvPicPr>
        <p:blipFill>
          <a:blip r:embed="rId5"/>
          <a:stretch>
            <a:fillRect/>
          </a:stretch>
        </p:blipFill>
        <p:spPr>
          <a:xfrm>
            <a:off x="5228733" y="3429000"/>
            <a:ext cx="4017509" cy="3429000"/>
          </a:xfrm>
          <a:prstGeom prst="rect">
            <a:avLst/>
          </a:prstGeom>
        </p:spPr>
      </p:pic>
      <p:pic>
        <p:nvPicPr>
          <p:cNvPr id="18" name="图片 17">
            <a:extLst>
              <a:ext uri="{FF2B5EF4-FFF2-40B4-BE49-F238E27FC236}">
                <a16:creationId xmlns:a16="http://schemas.microsoft.com/office/drawing/2014/main" id="{FD1F7A48-9885-F1B7-2A42-EC00D9F7B3BE}"/>
              </a:ext>
            </a:extLst>
          </p:cNvPr>
          <p:cNvPicPr>
            <a:picLocks noChangeAspect="1"/>
          </p:cNvPicPr>
          <p:nvPr/>
        </p:nvPicPr>
        <p:blipFill>
          <a:blip r:embed="rId6"/>
          <a:stretch>
            <a:fillRect/>
          </a:stretch>
        </p:blipFill>
        <p:spPr>
          <a:xfrm>
            <a:off x="8824892" y="3250692"/>
            <a:ext cx="3311713" cy="3607308"/>
          </a:xfrm>
          <a:prstGeom prst="rect">
            <a:avLst/>
          </a:prstGeom>
        </p:spPr>
      </p:pic>
      <p:pic>
        <p:nvPicPr>
          <p:cNvPr id="20" name="图片 19">
            <a:extLst>
              <a:ext uri="{FF2B5EF4-FFF2-40B4-BE49-F238E27FC236}">
                <a16:creationId xmlns:a16="http://schemas.microsoft.com/office/drawing/2014/main" id="{23FCD3D2-AA79-6BEE-276A-A08F197BE49F}"/>
              </a:ext>
            </a:extLst>
          </p:cNvPr>
          <p:cNvPicPr>
            <a:picLocks noChangeAspect="1"/>
          </p:cNvPicPr>
          <p:nvPr/>
        </p:nvPicPr>
        <p:blipFill>
          <a:blip r:embed="rId7"/>
          <a:stretch>
            <a:fillRect/>
          </a:stretch>
        </p:blipFill>
        <p:spPr>
          <a:xfrm>
            <a:off x="8877478" y="59912"/>
            <a:ext cx="2987038" cy="31907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0" nodeType="clickEffect">
                                  <p:stCondLst>
                                    <p:cond delay="0"/>
                                  </p:stCondLst>
                                  <p:childTnLst>
                                    <p:animMotion origin="layout" path="M 0 0 L -0.0625 0 " pathEditMode="relative" ptsTypes="AA">
                                      <p:cBhvr>
                                        <p:cTn id="24" dur="1000" fill="hold"/>
                                        <p:tgtEl>
                                          <p:spTgt spid="148">
                                            <p:txEl>
                                              <p:pRg st="0" end="0"/>
                                            </p:txEl>
                                          </p:spTgt>
                                        </p:tgtEl>
                                        <p:attrNameLst>
                                          <p:attrName>ppt_x</p:attrName>
                                          <p:attrName>ppt_y</p:attrName>
                                        </p:attrNameLst>
                                      </p:cBhvr>
                                    </p:animMotion>
                                  </p:childTnLst>
                                </p:cTn>
                              </p:par>
                              <p:par>
                                <p:cTn id="25" presetID="42" presetClass="entr" presetSubtype="0" fill="hold" nodeType="withEffect">
                                  <p:stCondLst>
                                    <p:cond delay="50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1000"/>
                                        <p:tgtEl>
                                          <p:spTgt spid="20"/>
                                        </p:tgtEl>
                                      </p:cBhvr>
                                    </p:animEffect>
                                    <p:anim calcmode="lin" valueType="num">
                                      <p:cBhvr>
                                        <p:cTn id="28" dur="1000" fill="hold"/>
                                        <p:tgtEl>
                                          <p:spTgt spid="20"/>
                                        </p:tgtEl>
                                        <p:attrNameLst>
                                          <p:attrName>ppt_x</p:attrName>
                                        </p:attrNameLst>
                                      </p:cBhvr>
                                      <p:tavLst>
                                        <p:tav tm="0">
                                          <p:val>
                                            <p:strVal val="#ppt_x"/>
                                          </p:val>
                                        </p:tav>
                                        <p:tav tm="100000">
                                          <p:val>
                                            <p:strVal val="#ppt_x"/>
                                          </p:val>
                                        </p:tav>
                                      </p:tavLst>
                                    </p:anim>
                                    <p:anim calcmode="lin" valueType="num">
                                      <p:cBhvr>
                                        <p:cTn id="29" dur="1000" fill="hold"/>
                                        <p:tgtEl>
                                          <p:spTgt spid="20"/>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50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1000"/>
                                        <p:tgtEl>
                                          <p:spTgt spid="18"/>
                                        </p:tgtEl>
                                      </p:cBhvr>
                                    </p:animEffect>
                                    <p:anim calcmode="lin" valueType="num">
                                      <p:cBhvr>
                                        <p:cTn id="33" dur="1000" fill="hold"/>
                                        <p:tgtEl>
                                          <p:spTgt spid="18"/>
                                        </p:tgtEl>
                                        <p:attrNameLst>
                                          <p:attrName>ppt_x</p:attrName>
                                        </p:attrNameLst>
                                      </p:cBhvr>
                                      <p:tavLst>
                                        <p:tav tm="0">
                                          <p:val>
                                            <p:strVal val="#ppt_x"/>
                                          </p:val>
                                        </p:tav>
                                        <p:tav tm="100000">
                                          <p:val>
                                            <p:strVal val="#ppt_x"/>
                                          </p:val>
                                        </p:tav>
                                      </p:tavLst>
                                    </p:anim>
                                    <p:anim calcmode="lin" valueType="num">
                                      <p:cBhvr>
                                        <p:cTn id="34" dur="1000" fill="hold"/>
                                        <p:tgtEl>
                                          <p:spTgt spid="18"/>
                                        </p:tgtEl>
                                        <p:attrNameLst>
                                          <p:attrName>ppt_y</p:attrName>
                                        </p:attrNameLst>
                                      </p:cBhvr>
                                      <p:tavLst>
                                        <p:tav tm="0">
                                          <p:val>
                                            <p:strVal val="#ppt_y+.1"/>
                                          </p:val>
                                        </p:tav>
                                        <p:tav tm="100000">
                                          <p:val>
                                            <p:strVal val="#ppt_y"/>
                                          </p:val>
                                        </p:tav>
                                      </p:tavLst>
                                    </p:anim>
                                  </p:childTnLst>
                                </p:cTn>
                              </p:par>
                              <p:par>
                                <p:cTn id="35" presetID="0" presetClass="path" presetSubtype="0" accel="50000" decel="50000" fill="hold" grpId="0" nodeType="withEffect">
                                  <p:stCondLst>
                                    <p:cond delay="0"/>
                                  </p:stCondLst>
                                  <p:childTnLst>
                                    <p:animMotion origin="layout" path="M 0 0 L -0.0625 0 " pathEditMode="relative" ptsTypes="AA">
                                      <p:cBhvr>
                                        <p:cTn id="36" dur="1000" fill="hold"/>
                                        <p:tgtEl>
                                          <p:spTgt spid="148">
                                            <p:txEl>
                                              <p:pRg st="1" end="1"/>
                                            </p:txEl>
                                          </p:spTgt>
                                        </p:tgtEl>
                                        <p:attrNameLst>
                                          <p:attrName>ppt_x</p:attrName>
                                          <p:attrName>ppt_y</p:attrName>
                                        </p:attrNameLst>
                                      </p:cBhvr>
                                    </p:animMotion>
                                  </p:childTnLst>
                                </p:cTn>
                              </p:par>
                              <p:par>
                                <p:cTn id="37" presetID="0" presetClass="path" presetSubtype="0" accel="50000" decel="50000" fill="hold" grpId="0" nodeType="withEffect">
                                  <p:stCondLst>
                                    <p:cond delay="0"/>
                                  </p:stCondLst>
                                  <p:childTnLst>
                                    <p:animMotion origin="layout" path="M 0 0 L -0.0625 0 " pathEditMode="relative" ptsTypes="AA">
                                      <p:cBhvr>
                                        <p:cTn id="38" dur="1000" fill="hold"/>
                                        <p:tgtEl>
                                          <p:spTgt spid="148">
                                            <p:txEl>
                                              <p:pRg st="2" end="2"/>
                                            </p:txEl>
                                          </p:spTgt>
                                        </p:tgtEl>
                                        <p:attrNameLst>
                                          <p:attrName>ppt_x</p:attrName>
                                          <p:attrName>ppt_y</p:attrName>
                                        </p:attrNameLst>
                                      </p:cBhvr>
                                    </p:animMotion>
                                  </p:childTnLst>
                                </p:cTn>
                              </p:par>
                              <p:par>
                                <p:cTn id="39" presetID="0" presetClass="path" presetSubtype="0" accel="50000" decel="50000" fill="hold" grpId="0" nodeType="withEffect">
                                  <p:stCondLst>
                                    <p:cond delay="0"/>
                                  </p:stCondLst>
                                  <p:childTnLst>
                                    <p:animMotion origin="layout" path="M 0 0 L -0.0625 0 " pathEditMode="relative" ptsTypes="AA">
                                      <p:cBhvr>
                                        <p:cTn id="40" dur="1000" fill="hold"/>
                                        <p:tgtEl>
                                          <p:spTgt spid="148">
                                            <p:txEl>
                                              <p:pRg st="3" end="3"/>
                                            </p:txEl>
                                          </p:spTgt>
                                        </p:tgtEl>
                                        <p:attrNameLst>
                                          <p:attrName>ppt_x</p:attrName>
                                          <p:attrName>ppt_y</p:attrName>
                                        </p:attrNameLst>
                                      </p:cBhvr>
                                    </p:animMotion>
                                  </p:childTnLst>
                                </p:cTn>
                              </p:par>
                              <p:par>
                                <p:cTn id="41" presetID="0" presetClass="path" presetSubtype="0" accel="50000" decel="50000" fill="hold" nodeType="withEffect">
                                  <p:stCondLst>
                                    <p:cond delay="0"/>
                                  </p:stCondLst>
                                  <p:childTnLst>
                                    <p:animMotion origin="layout" path="M 0 0 L -0.0625 0 " pathEditMode="relative" ptsTypes="AA">
                                      <p:cBhvr>
                                        <p:cTn id="42" dur="1000" fill="hold"/>
                                        <p:tgtEl>
                                          <p:spTgt spid="5"/>
                                        </p:tgtEl>
                                        <p:attrNameLst>
                                          <p:attrName>ppt_x</p:attrName>
                                          <p:attrName>ppt_y</p:attrName>
                                        </p:attrNameLst>
                                      </p:cBhvr>
                                    </p:animMotion>
                                  </p:childTnLst>
                                </p:cTn>
                              </p:par>
                              <p:par>
                                <p:cTn id="43" presetID="0" presetClass="path" presetSubtype="0" accel="50000" decel="50000" fill="hold" nodeType="withEffect">
                                  <p:stCondLst>
                                    <p:cond delay="0"/>
                                  </p:stCondLst>
                                  <p:childTnLst>
                                    <p:animMotion origin="layout" path="M 0 0 L -0.0625 0 " pathEditMode="relative" ptsTypes="AA">
                                      <p:cBhvr>
                                        <p:cTn id="44" dur="1000" fill="hold"/>
                                        <p:tgtEl>
                                          <p:spTgt spid="8"/>
                                        </p:tgtEl>
                                        <p:attrNameLst>
                                          <p:attrName>ppt_x</p:attrName>
                                          <p:attrName>ppt_y</p:attrName>
                                        </p:attrNameLst>
                                      </p:cBhvr>
                                    </p:animMotion>
                                  </p:childTnLst>
                                </p:cTn>
                              </p:par>
                              <p:par>
                                <p:cTn id="45" presetID="0" presetClass="path" presetSubtype="0" accel="50000" decel="50000" fill="hold" grpId="0" nodeType="withEffect">
                                  <p:stCondLst>
                                    <p:cond delay="0"/>
                                  </p:stCondLst>
                                  <p:childTnLst>
                                    <p:animMotion origin="layout" path="M -8.33333E-7 -3.7037E-7 L -0.07708 0.00069 " pathEditMode="relative" rAng="0" ptsTypes="AA">
                                      <p:cBhvr>
                                        <p:cTn id="46" dur="1000" fill="hold"/>
                                        <p:tgtEl>
                                          <p:spTgt spid="147"/>
                                        </p:tgtEl>
                                        <p:attrNameLst>
                                          <p:attrName>ppt_x</p:attrName>
                                          <p:attrName>ppt_y</p:attrName>
                                        </p:attrNameLst>
                                      </p:cBhvr>
                                      <p:rCtr x="-3854" y="23"/>
                                    </p:animMotion>
                                  </p:childTnLst>
                                </p:cTn>
                              </p:par>
                              <p:par>
                                <p:cTn id="47" presetID="10"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 grpId="0"/>
      <p:bldP spid="148"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B6DB58FF-2F4B-A00C-B8DA-79DDEE494362}"/>
            </a:ext>
          </a:extLst>
        </p:cNvPr>
        <p:cNvGrpSpPr/>
        <p:nvPr/>
      </p:nvGrpSpPr>
      <p:grpSpPr>
        <a:xfrm>
          <a:off x="0" y="0"/>
          <a:ext cx="0" cy="0"/>
          <a:chOff x="0" y="0"/>
          <a:chExt cx="0" cy="0"/>
        </a:xfrm>
      </p:grpSpPr>
      <p:sp>
        <p:nvSpPr>
          <p:cNvPr id="147" name="Google Shape;147;g3d44f2775a5_0_66">
            <a:extLst>
              <a:ext uri="{FF2B5EF4-FFF2-40B4-BE49-F238E27FC236}">
                <a16:creationId xmlns:a16="http://schemas.microsoft.com/office/drawing/2014/main" id="{ABD6BCC6-D99F-8209-FFF2-67E4836B9D0D}"/>
              </a:ext>
            </a:extLst>
          </p:cNvPr>
          <p:cNvSpPr txBox="1">
            <a:spLocks noGrp="1"/>
          </p:cNvSpPr>
          <p:nvPr>
            <p:ph type="title"/>
          </p:nvPr>
        </p:nvSpPr>
        <p:spPr>
          <a:xfrm>
            <a:off x="1461050" y="344764"/>
            <a:ext cx="9892800" cy="8772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ormorant"/>
              <a:buNone/>
            </a:pPr>
            <a:r>
              <a:rPr lang="en-US"/>
              <a:t>Comparison between BBSE and MLLS</a:t>
            </a:r>
            <a:endParaRPr>
              <a:solidFill>
                <a:srgbClr val="8C6D2C"/>
              </a:solidFill>
            </a:endParaRPr>
          </a:p>
        </p:txBody>
      </p:sp>
      <p:sp>
        <p:nvSpPr>
          <p:cNvPr id="148" name="Google Shape;148;g3d44f2775a5_0_66">
            <a:extLst>
              <a:ext uri="{FF2B5EF4-FFF2-40B4-BE49-F238E27FC236}">
                <a16:creationId xmlns:a16="http://schemas.microsoft.com/office/drawing/2014/main" id="{C73F8F35-0FC4-0EDB-3BA7-31BC0A983574}"/>
              </a:ext>
            </a:extLst>
          </p:cNvPr>
          <p:cNvSpPr txBox="1">
            <a:spLocks noGrp="1"/>
          </p:cNvSpPr>
          <p:nvPr>
            <p:ph type="body" idx="1"/>
          </p:nvPr>
        </p:nvSpPr>
        <p:spPr>
          <a:xfrm>
            <a:off x="1040750" y="1221975"/>
            <a:ext cx="11349300" cy="4775400"/>
          </a:xfrm>
          <a:prstGeom prst="rect">
            <a:avLst/>
          </a:prstGeom>
          <a:noFill/>
          <a:ln>
            <a:noFill/>
          </a:ln>
        </p:spPr>
        <p:txBody>
          <a:bodyPr spcFirstLastPara="1" wrap="square" lIns="91425" tIns="45700" rIns="91425" bIns="45700" anchor="t" anchorCtr="0">
            <a:normAutofit/>
          </a:bodyPr>
          <a:lstStyle/>
          <a:p>
            <a:pPr marL="76200" lvl="0" indent="0" algn="l" rtl="0">
              <a:lnSpc>
                <a:spcPct val="150000"/>
              </a:lnSpc>
              <a:spcBef>
                <a:spcPts val="0"/>
              </a:spcBef>
              <a:spcAft>
                <a:spcPts val="0"/>
              </a:spcAft>
              <a:buSzPts val="2400"/>
              <a:buNone/>
            </a:pPr>
            <a:r>
              <a:rPr lang="en-US" sz="2400" dirty="0">
                <a:latin typeface="Times New Roman"/>
                <a:ea typeface="Times New Roman"/>
                <a:cs typeface="Times New Roman"/>
                <a:sym typeface="Times New Roman"/>
              </a:rPr>
              <a:t>Performance metric: </a:t>
            </a:r>
            <a:r>
              <a:rPr lang="en-US" sz="2400" b="1" dirty="0">
                <a:latin typeface="Times New Roman"/>
                <a:ea typeface="Times New Roman"/>
                <a:cs typeface="Times New Roman"/>
                <a:sym typeface="Times New Roman"/>
              </a:rPr>
              <a:t>weight estimation error</a:t>
            </a:r>
            <a:r>
              <a:rPr lang="en-US" sz="2400" dirty="0">
                <a:latin typeface="Times New Roman"/>
                <a:ea typeface="Times New Roman"/>
                <a:cs typeface="Times New Roman"/>
                <a:sym typeface="Times New Roman"/>
              </a:rPr>
              <a:t>, measured by </a:t>
            </a:r>
            <a:r>
              <a:rPr lang="en-US" sz="2400" b="1" dirty="0">
                <a:latin typeface="Times New Roman"/>
                <a:ea typeface="Times New Roman"/>
                <a:cs typeface="Times New Roman"/>
                <a:sym typeface="Times New Roman"/>
              </a:rPr>
              <a:t>MSE</a:t>
            </a:r>
            <a:r>
              <a:rPr lang="en-US" sz="2400" dirty="0">
                <a:latin typeface="Times New Roman"/>
                <a:ea typeface="Times New Roman"/>
                <a:cs typeface="Times New Roman"/>
                <a:sym typeface="Times New Roman"/>
              </a:rPr>
              <a:t> between estimated weight and true weight. Lower is better.</a:t>
            </a:r>
            <a:endParaRPr sz="2400" dirty="0">
              <a:latin typeface="Times New Roman"/>
              <a:ea typeface="Times New Roman"/>
              <a:cs typeface="Times New Roman"/>
              <a:sym typeface="Times New Roman"/>
            </a:endParaRPr>
          </a:p>
        </p:txBody>
      </p:sp>
      <p:pic>
        <p:nvPicPr>
          <p:cNvPr id="149" name="Google Shape;149;g3d44f2775a5_0_66">
            <a:extLst>
              <a:ext uri="{FF2B5EF4-FFF2-40B4-BE49-F238E27FC236}">
                <a16:creationId xmlns:a16="http://schemas.microsoft.com/office/drawing/2014/main" id="{0DA55908-9633-05A6-C7DE-B7D7CC0C7A01}"/>
              </a:ext>
            </a:extLst>
          </p:cNvPr>
          <p:cNvPicPr preferRelativeResize="0"/>
          <p:nvPr/>
        </p:nvPicPr>
        <p:blipFill rotWithShape="1">
          <a:blip r:embed="rId3">
            <a:alphaModFix/>
          </a:blip>
          <a:srcRect t="6385"/>
          <a:stretch/>
        </p:blipFill>
        <p:spPr>
          <a:xfrm>
            <a:off x="1040750" y="3107160"/>
            <a:ext cx="3680299" cy="2453189"/>
          </a:xfrm>
          <a:prstGeom prst="rect">
            <a:avLst/>
          </a:prstGeom>
          <a:noFill/>
          <a:ln>
            <a:noFill/>
          </a:ln>
        </p:spPr>
      </p:pic>
      <p:pic>
        <p:nvPicPr>
          <p:cNvPr id="150" name="Google Shape;150;g3d44f2775a5_0_66">
            <a:extLst>
              <a:ext uri="{FF2B5EF4-FFF2-40B4-BE49-F238E27FC236}">
                <a16:creationId xmlns:a16="http://schemas.microsoft.com/office/drawing/2014/main" id="{9EA05402-B0DE-170C-6BB7-665C877E8F61}"/>
              </a:ext>
            </a:extLst>
          </p:cNvPr>
          <p:cNvPicPr preferRelativeResize="0"/>
          <p:nvPr/>
        </p:nvPicPr>
        <p:blipFill>
          <a:blip r:embed="rId4">
            <a:alphaModFix/>
          </a:blip>
          <a:stretch>
            <a:fillRect/>
          </a:stretch>
        </p:blipFill>
        <p:spPr>
          <a:xfrm>
            <a:off x="4571725" y="2981499"/>
            <a:ext cx="3799476" cy="2654526"/>
          </a:xfrm>
          <a:prstGeom prst="rect">
            <a:avLst/>
          </a:prstGeom>
          <a:noFill/>
          <a:ln>
            <a:noFill/>
          </a:ln>
        </p:spPr>
      </p:pic>
      <p:pic>
        <p:nvPicPr>
          <p:cNvPr id="151" name="Google Shape;151;g3d44f2775a5_0_66">
            <a:extLst>
              <a:ext uri="{FF2B5EF4-FFF2-40B4-BE49-F238E27FC236}">
                <a16:creationId xmlns:a16="http://schemas.microsoft.com/office/drawing/2014/main" id="{BB0549EC-4C90-23CE-4DC6-0B8B9E5712FA}"/>
              </a:ext>
            </a:extLst>
          </p:cNvPr>
          <p:cNvPicPr preferRelativeResize="0"/>
          <p:nvPr/>
        </p:nvPicPr>
        <p:blipFill>
          <a:blip r:embed="rId5">
            <a:alphaModFix/>
          </a:blip>
          <a:stretch>
            <a:fillRect/>
          </a:stretch>
        </p:blipFill>
        <p:spPr>
          <a:xfrm>
            <a:off x="8262825" y="2981499"/>
            <a:ext cx="3799476" cy="2520550"/>
          </a:xfrm>
          <a:prstGeom prst="rect">
            <a:avLst/>
          </a:prstGeom>
          <a:noFill/>
          <a:ln>
            <a:noFill/>
          </a:ln>
        </p:spPr>
      </p:pic>
    </p:spTree>
    <p:extLst>
      <p:ext uri="{BB962C8B-B14F-4D97-AF65-F5344CB8AC3E}">
        <p14:creationId xmlns:p14="http://schemas.microsoft.com/office/powerpoint/2010/main" val="678266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d44f2775a5_0_78"/>
          <p:cNvSpPr txBox="1">
            <a:spLocks noGrp="1"/>
          </p:cNvSpPr>
          <p:nvPr>
            <p:ph type="title"/>
          </p:nvPr>
        </p:nvSpPr>
        <p:spPr>
          <a:xfrm>
            <a:off x="1461050" y="344764"/>
            <a:ext cx="9892800" cy="877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Stable &amp; Unstable Variables</a:t>
            </a:r>
            <a:endParaRPr/>
          </a:p>
        </p:txBody>
      </p:sp>
      <p:sp>
        <p:nvSpPr>
          <p:cNvPr id="157" name="Google Shape;157;g3d44f2775a5_0_78"/>
          <p:cNvSpPr txBox="1">
            <a:spLocks noGrp="1"/>
          </p:cNvSpPr>
          <p:nvPr>
            <p:ph type="body" idx="1"/>
          </p:nvPr>
        </p:nvSpPr>
        <p:spPr>
          <a:xfrm>
            <a:off x="1331350" y="1041300"/>
            <a:ext cx="10477500" cy="47754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2500" dirty="0">
                <a:latin typeface="Times New Roman"/>
                <a:ea typeface="Times New Roman"/>
                <a:cs typeface="Times New Roman"/>
                <a:sym typeface="Times New Roman"/>
              </a:rPr>
              <a:t>So far we only have features satisfying label shift, what if not?</a:t>
            </a:r>
            <a:endParaRPr sz="2500" dirty="0">
              <a:latin typeface="Times New Roman"/>
              <a:ea typeface="Times New Roman"/>
              <a:cs typeface="Times New Roman"/>
              <a:sym typeface="Times New Roman"/>
            </a:endParaRPr>
          </a:p>
          <a:p>
            <a:pPr marL="457200" lvl="0" indent="-387350" algn="l" rtl="0">
              <a:spcBef>
                <a:spcPts val="1000"/>
              </a:spcBef>
              <a:spcAft>
                <a:spcPts val="0"/>
              </a:spcAft>
              <a:buSzPts val="2500"/>
              <a:buFont typeface="Times New Roman"/>
              <a:buChar char="●"/>
            </a:pPr>
            <a:r>
              <a:rPr lang="en-US" sz="2500" dirty="0">
                <a:latin typeface="Times New Roman"/>
                <a:ea typeface="Times New Roman"/>
                <a:cs typeface="Times New Roman"/>
                <a:sym typeface="Times New Roman"/>
              </a:rPr>
              <a:t>Stable Features: Features satisfy label shift assumption</a:t>
            </a:r>
            <a:endParaRPr sz="2500" dirty="0">
              <a:latin typeface="Times New Roman"/>
              <a:ea typeface="Times New Roman"/>
              <a:cs typeface="Times New Roman"/>
              <a:sym typeface="Times New Roman"/>
            </a:endParaRPr>
          </a:p>
          <a:p>
            <a:pPr marL="457200" lvl="0" indent="-387350" algn="l" rtl="0">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Unstable Features: Features do not satisfy label shift assumption</a:t>
            </a:r>
            <a:endParaRPr sz="2500" dirty="0">
              <a:latin typeface="Times New Roman"/>
              <a:ea typeface="Times New Roman"/>
              <a:cs typeface="Times New Roman"/>
              <a:sym typeface="Times New Roman"/>
            </a:endParaRPr>
          </a:p>
        </p:txBody>
      </p:sp>
      <p:pic>
        <p:nvPicPr>
          <p:cNvPr id="158" name="Google Shape;158;g3d44f2775a5_0_78"/>
          <p:cNvPicPr preferRelativeResize="0"/>
          <p:nvPr/>
        </p:nvPicPr>
        <p:blipFill>
          <a:blip r:embed="rId3">
            <a:alphaModFix/>
          </a:blip>
          <a:stretch>
            <a:fillRect/>
          </a:stretch>
        </p:blipFill>
        <p:spPr>
          <a:xfrm>
            <a:off x="2865668" y="2478061"/>
            <a:ext cx="7192731" cy="424546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3d44f2775a5_0_6"/>
          <p:cNvSpPr txBox="1">
            <a:spLocks noGrp="1"/>
          </p:cNvSpPr>
          <p:nvPr>
            <p:ph type="title"/>
          </p:nvPr>
        </p:nvSpPr>
        <p:spPr>
          <a:xfrm>
            <a:off x="1461050" y="344764"/>
            <a:ext cx="9892800" cy="877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Variable Selection</a:t>
            </a:r>
            <a:endParaRPr dirty="0"/>
          </a:p>
        </p:txBody>
      </p:sp>
      <mc:AlternateContent xmlns:mc="http://schemas.openxmlformats.org/markup-compatibility/2006" xmlns:a14="http://schemas.microsoft.com/office/drawing/2010/main">
        <mc:Choice Requires="a14">
          <p:sp>
            <p:nvSpPr>
              <p:cNvPr id="164" name="Google Shape;164;g3d44f2775a5_0_6"/>
              <p:cNvSpPr txBox="1">
                <a:spLocks noGrp="1"/>
              </p:cNvSpPr>
              <p:nvPr>
                <p:ph type="body" idx="1"/>
              </p:nvPr>
            </p:nvSpPr>
            <p:spPr>
              <a:xfrm>
                <a:off x="1155032" y="1221964"/>
                <a:ext cx="10703292" cy="2207036"/>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2200" dirty="0">
                    <a:latin typeface="Times New Roman"/>
                    <a:ea typeface="Times New Roman"/>
                    <a:cs typeface="Times New Roman"/>
                    <a:sym typeface="Times New Roman"/>
                  </a:rPr>
                  <a:t>So, how can we select stable features?</a:t>
                </a:r>
                <a:endParaRPr sz="2200" dirty="0">
                  <a:latin typeface="Times New Roman"/>
                  <a:ea typeface="Times New Roman"/>
                  <a:cs typeface="Times New Roman"/>
                  <a:sym typeface="Times New Roman"/>
                </a:endParaRPr>
              </a:p>
              <a:p>
                <a:pPr lvl="0" indent="-387350">
                  <a:buSzPts val="2500"/>
                  <a:buFont typeface="Times New Roman"/>
                  <a:buChar char="●"/>
                </a:pPr>
                <a:r>
                  <a:rPr lang="en-US" sz="2200" dirty="0">
                    <a:latin typeface="Times New Roman"/>
                    <a:ea typeface="Times New Roman"/>
                    <a:cs typeface="Times New Roman"/>
                    <a:sym typeface="Times New Roman"/>
                  </a:rPr>
                  <a:t>Wasserstein Distance </a:t>
                </a:r>
                <a14:m>
                  <m:oMath xmlns:m="http://schemas.openxmlformats.org/officeDocument/2006/math">
                    <m:sSub>
                      <m:sSubPr>
                        <m:ctrlPr>
                          <a:rPr lang="en-US" sz="2200" i="1" dirty="0" smtClean="0">
                            <a:latin typeface="Cambria Math" panose="02040503050406030204" pitchFamily="18" charset="0"/>
                            <a:ea typeface="Times New Roman"/>
                            <a:cs typeface="Times New Roman"/>
                            <a:sym typeface="Times New Roman"/>
                          </a:rPr>
                        </m:ctrlPr>
                      </m:sSubPr>
                      <m:e>
                        <m:r>
                          <a:rPr lang="en-US" sz="2200" i="1" dirty="0" smtClean="0">
                            <a:latin typeface="Cambria Math" panose="02040503050406030204" pitchFamily="18" charset="0"/>
                            <a:ea typeface="Times New Roman"/>
                            <a:cs typeface="Times New Roman"/>
                            <a:sym typeface="Times New Roman"/>
                          </a:rPr>
                          <m:t>𝑊</m:t>
                        </m:r>
                      </m:e>
                      <m:sub>
                        <m:r>
                          <a:rPr lang="en-US" sz="2200" i="1" dirty="0" smtClean="0">
                            <a:latin typeface="Cambria Math" panose="02040503050406030204" pitchFamily="18" charset="0"/>
                            <a:ea typeface="Times New Roman"/>
                            <a:cs typeface="Times New Roman"/>
                            <a:sym typeface="Times New Roman"/>
                          </a:rPr>
                          <m:t>1</m:t>
                        </m:r>
                      </m:sub>
                    </m:sSub>
                    <m:d>
                      <m:dPr>
                        <m:ctrlPr>
                          <a:rPr lang="en-US" sz="2200" i="1" dirty="0" smtClean="0">
                            <a:latin typeface="Cambria Math" panose="02040503050406030204" pitchFamily="18" charset="0"/>
                            <a:ea typeface="Times New Roman"/>
                            <a:cs typeface="Times New Roman"/>
                            <a:sym typeface="Times New Roman"/>
                          </a:rPr>
                        </m:ctrlPr>
                      </m:dPr>
                      <m:e>
                        <m:r>
                          <a:rPr lang="en-US" sz="2200" i="1" dirty="0" smtClean="0">
                            <a:latin typeface="Cambria Math" panose="02040503050406030204" pitchFamily="18" charset="0"/>
                            <a:ea typeface="Times New Roman"/>
                            <a:cs typeface="Times New Roman"/>
                            <a:sym typeface="Times New Roman"/>
                          </a:rPr>
                          <m:t>𝑃</m:t>
                        </m:r>
                        <m:r>
                          <a:rPr lang="en-US" sz="2200" i="1" dirty="0" smtClean="0">
                            <a:latin typeface="Cambria Math" panose="02040503050406030204" pitchFamily="18" charset="0"/>
                            <a:ea typeface="Times New Roman"/>
                            <a:cs typeface="Times New Roman"/>
                            <a:sym typeface="Times New Roman"/>
                          </a:rPr>
                          <m:t>,</m:t>
                        </m:r>
                        <m:r>
                          <a:rPr lang="en-US" sz="2200" i="1" dirty="0" smtClean="0">
                            <a:latin typeface="Cambria Math" panose="02040503050406030204" pitchFamily="18" charset="0"/>
                            <a:ea typeface="Times New Roman"/>
                            <a:cs typeface="Times New Roman"/>
                            <a:sym typeface="Times New Roman"/>
                          </a:rPr>
                          <m:t>𝑄</m:t>
                        </m:r>
                      </m:e>
                    </m:d>
                    <m:r>
                      <a:rPr lang="en-US" sz="2200" i="1" dirty="0" smtClean="0">
                        <a:latin typeface="Cambria Math" panose="02040503050406030204" pitchFamily="18" charset="0"/>
                        <a:ea typeface="Times New Roman"/>
                        <a:cs typeface="Times New Roman"/>
                        <a:sym typeface="Times New Roman"/>
                      </a:rPr>
                      <m:t>=</m:t>
                    </m:r>
                    <m:nary>
                      <m:naryPr>
                        <m:ctrlPr>
                          <a:rPr lang="en-US" sz="2200" i="1" dirty="0" smtClean="0">
                            <a:latin typeface="Cambria Math" panose="02040503050406030204" pitchFamily="18" charset="0"/>
                            <a:ea typeface="Times New Roman"/>
                            <a:cs typeface="Times New Roman"/>
                            <a:sym typeface="Times New Roman"/>
                          </a:rPr>
                        </m:ctrlPr>
                      </m:naryPr>
                      <m:sub>
                        <m:r>
                          <a:rPr lang="en-US" sz="2200" i="1" dirty="0" smtClean="0">
                            <a:latin typeface="Cambria Math" panose="02040503050406030204" pitchFamily="18" charset="0"/>
                            <a:ea typeface="Times New Roman"/>
                            <a:cs typeface="Times New Roman"/>
                            <a:sym typeface="Times New Roman"/>
                          </a:rPr>
                          <m:t>0</m:t>
                        </m:r>
                      </m:sub>
                      <m:sup>
                        <m:r>
                          <a:rPr lang="en-US" sz="2200" i="1" dirty="0" smtClean="0">
                            <a:latin typeface="Cambria Math" panose="02040503050406030204" pitchFamily="18" charset="0"/>
                            <a:ea typeface="Times New Roman"/>
                            <a:cs typeface="Times New Roman"/>
                            <a:sym typeface="Times New Roman"/>
                          </a:rPr>
                          <m:t>1</m:t>
                        </m:r>
                      </m:sup>
                      <m:e>
                        <m:d>
                          <m:dPr>
                            <m:begChr m:val="|"/>
                            <m:endChr m:val="|"/>
                            <m:ctrlPr>
                              <a:rPr lang="en-US" sz="2200" i="1" dirty="0" smtClean="0">
                                <a:latin typeface="Cambria Math" panose="02040503050406030204" pitchFamily="18" charset="0"/>
                                <a:ea typeface="Times New Roman"/>
                                <a:cs typeface="Times New Roman"/>
                                <a:sym typeface="Times New Roman"/>
                              </a:rPr>
                            </m:ctrlPr>
                          </m:dPr>
                          <m:e>
                            <m:sSubSup>
                              <m:sSubSupPr>
                                <m:ctrlPr>
                                  <a:rPr lang="en-US" sz="2200" i="1" dirty="0" err="1" smtClean="0">
                                    <a:latin typeface="Cambria Math" panose="02040503050406030204" pitchFamily="18" charset="0"/>
                                    <a:ea typeface="Times New Roman"/>
                                    <a:cs typeface="Times New Roman"/>
                                    <a:sym typeface="Times New Roman"/>
                                  </a:rPr>
                                </m:ctrlPr>
                              </m:sSubSupPr>
                              <m:e>
                                <m:r>
                                  <a:rPr lang="en-US" sz="2200" i="1" dirty="0" err="1">
                                    <a:latin typeface="Cambria Math" panose="02040503050406030204" pitchFamily="18" charset="0"/>
                                    <a:ea typeface="Times New Roman"/>
                                    <a:cs typeface="Times New Roman"/>
                                    <a:sym typeface="Times New Roman"/>
                                  </a:rPr>
                                  <m:t>𝐹</m:t>
                                </m:r>
                              </m:e>
                              <m:sub>
                                <m:r>
                                  <a:rPr lang="en-US" sz="2200" i="1" dirty="0" err="1">
                                    <a:latin typeface="Cambria Math" panose="02040503050406030204" pitchFamily="18" charset="0"/>
                                    <a:ea typeface="Times New Roman"/>
                                    <a:cs typeface="Times New Roman"/>
                                    <a:sym typeface="Times New Roman"/>
                                  </a:rPr>
                                  <m:t>𝑃</m:t>
                                </m:r>
                              </m:sub>
                              <m:sup>
                                <m:r>
                                  <a:rPr lang="en-US" sz="2200" i="1" dirty="0">
                                    <a:latin typeface="Cambria Math" panose="02040503050406030204" pitchFamily="18" charset="0"/>
                                    <a:ea typeface="Times New Roman"/>
                                    <a:cs typeface="Times New Roman"/>
                                    <a:sym typeface="Times New Roman"/>
                                  </a:rPr>
                                  <m:t>−1</m:t>
                                </m:r>
                              </m:sup>
                            </m:sSubSup>
                            <m:d>
                              <m:dPr>
                                <m:ctrlPr>
                                  <a:rPr lang="en-US" sz="2200" i="1" dirty="0">
                                    <a:latin typeface="Cambria Math" panose="02040503050406030204" pitchFamily="18" charset="0"/>
                                    <a:ea typeface="Times New Roman"/>
                                    <a:cs typeface="Times New Roman"/>
                                    <a:sym typeface="Times New Roman"/>
                                  </a:rPr>
                                </m:ctrlPr>
                              </m:dPr>
                              <m:e>
                                <m:r>
                                  <a:rPr lang="en-US" sz="2200" i="1" dirty="0">
                                    <a:latin typeface="Cambria Math" panose="02040503050406030204" pitchFamily="18" charset="0"/>
                                    <a:ea typeface="Times New Roman"/>
                                    <a:cs typeface="Times New Roman"/>
                                    <a:sym typeface="Times New Roman"/>
                                  </a:rPr>
                                  <m:t>𝑢</m:t>
                                </m:r>
                              </m:e>
                            </m:d>
                            <m:r>
                              <a:rPr lang="en-US" sz="2200" i="1" dirty="0">
                                <a:latin typeface="Cambria Math" panose="02040503050406030204" pitchFamily="18" charset="0"/>
                                <a:ea typeface="Times New Roman"/>
                                <a:cs typeface="Times New Roman"/>
                                <a:sym typeface="Times New Roman"/>
                              </a:rPr>
                              <m:t>−</m:t>
                            </m:r>
                            <m:sSubSup>
                              <m:sSubSupPr>
                                <m:ctrlPr>
                                  <a:rPr lang="en-US" sz="2200" i="1" dirty="0">
                                    <a:latin typeface="Cambria Math" panose="02040503050406030204" pitchFamily="18" charset="0"/>
                                    <a:ea typeface="Times New Roman"/>
                                    <a:cs typeface="Times New Roman"/>
                                    <a:sym typeface="Times New Roman"/>
                                  </a:rPr>
                                </m:ctrlPr>
                              </m:sSubSupPr>
                              <m:e>
                                <m:r>
                                  <a:rPr lang="en-US" sz="2200" i="1" dirty="0">
                                    <a:latin typeface="Cambria Math" panose="02040503050406030204" pitchFamily="18" charset="0"/>
                                    <a:ea typeface="Times New Roman"/>
                                    <a:cs typeface="Times New Roman"/>
                                    <a:sym typeface="Times New Roman"/>
                                  </a:rPr>
                                  <m:t>𝐹</m:t>
                                </m:r>
                              </m:e>
                              <m:sub>
                                <m:r>
                                  <a:rPr lang="en-US" sz="2200" i="1" dirty="0">
                                    <a:latin typeface="Cambria Math" panose="02040503050406030204" pitchFamily="18" charset="0"/>
                                    <a:ea typeface="Times New Roman"/>
                                    <a:cs typeface="Times New Roman"/>
                                    <a:sym typeface="Times New Roman"/>
                                  </a:rPr>
                                  <m:t>𝑄</m:t>
                                </m:r>
                              </m:sub>
                              <m:sup>
                                <m:r>
                                  <a:rPr lang="en-US" sz="2200" i="1" dirty="0">
                                    <a:latin typeface="Cambria Math" panose="02040503050406030204" pitchFamily="18" charset="0"/>
                                    <a:ea typeface="Times New Roman"/>
                                    <a:cs typeface="Times New Roman"/>
                                    <a:sym typeface="Times New Roman"/>
                                  </a:rPr>
                                  <m:t>−1</m:t>
                                </m:r>
                              </m:sup>
                            </m:sSubSup>
                            <m:d>
                              <m:dPr>
                                <m:ctrlPr>
                                  <a:rPr lang="en-US" sz="2200" i="1" dirty="0">
                                    <a:latin typeface="Cambria Math" panose="02040503050406030204" pitchFamily="18" charset="0"/>
                                    <a:ea typeface="Times New Roman"/>
                                    <a:cs typeface="Times New Roman"/>
                                    <a:sym typeface="Times New Roman"/>
                                  </a:rPr>
                                </m:ctrlPr>
                              </m:dPr>
                              <m:e>
                                <m:r>
                                  <a:rPr lang="en-US" sz="2200" i="1" dirty="0">
                                    <a:latin typeface="Cambria Math" panose="02040503050406030204" pitchFamily="18" charset="0"/>
                                    <a:ea typeface="Times New Roman"/>
                                    <a:cs typeface="Times New Roman"/>
                                    <a:sym typeface="Times New Roman"/>
                                  </a:rPr>
                                  <m:t>𝑢</m:t>
                                </m:r>
                              </m:e>
                            </m:d>
                          </m:e>
                        </m:d>
                        <m:r>
                          <a:rPr lang="en-US" sz="2200" i="1" dirty="0">
                            <a:latin typeface="Cambria Math" panose="02040503050406030204" pitchFamily="18" charset="0"/>
                            <a:ea typeface="Times New Roman"/>
                            <a:cs typeface="Times New Roman"/>
                            <a:sym typeface="Times New Roman"/>
                          </a:rPr>
                          <m:t>𝑑𝑢</m:t>
                        </m:r>
                      </m:e>
                    </m:nary>
                  </m:oMath>
                </a14:m>
                <a:endParaRPr lang="en-US" sz="2200" dirty="0">
                  <a:latin typeface="Times New Roman"/>
                  <a:ea typeface="Times New Roman"/>
                  <a:cs typeface="Times New Roman"/>
                  <a:sym typeface="Times New Roman"/>
                </a:endParaRPr>
              </a:p>
              <a:p>
                <a:pPr lvl="0" indent="-387350">
                  <a:buSzPts val="2500"/>
                  <a:buFont typeface="Times New Roman"/>
                  <a:buChar char="●"/>
                </a:pPr>
                <a:r>
                  <a:rPr lang="en-US" sz="2200" dirty="0">
                    <a:latin typeface="Times New Roman"/>
                    <a:ea typeface="Times New Roman"/>
                    <a:cs typeface="Times New Roman"/>
                  </a:rPr>
                  <a:t>It measures how close two distributions are from each other.</a:t>
                </a:r>
                <a:endParaRPr sz="2200" dirty="0">
                  <a:latin typeface="Times New Roman"/>
                  <a:ea typeface="Times New Roman"/>
                  <a:cs typeface="Times New Roman"/>
                  <a:sym typeface="Times New Roman"/>
                </a:endParaRPr>
              </a:p>
            </p:txBody>
          </p:sp>
        </mc:Choice>
        <mc:Fallback xmlns="">
          <p:sp>
            <p:nvSpPr>
              <p:cNvPr id="164" name="Google Shape;164;g3d44f2775a5_0_6"/>
              <p:cNvSpPr txBox="1">
                <a:spLocks noGrp="1" noRot="1" noChangeAspect="1" noMove="1" noResize="1" noEditPoints="1" noAdjustHandles="1" noChangeArrowheads="1" noChangeShapeType="1" noTextEdit="1"/>
              </p:cNvSpPr>
              <p:nvPr>
                <p:ph type="body" idx="1"/>
              </p:nvPr>
            </p:nvSpPr>
            <p:spPr>
              <a:xfrm>
                <a:off x="1155032" y="1221964"/>
                <a:ext cx="10703292" cy="2207036"/>
              </a:xfrm>
              <a:prstGeom prst="rect">
                <a:avLst/>
              </a:prstGeom>
              <a:blipFill>
                <a:blip r:embed="rId3"/>
                <a:stretch>
                  <a:fillRect l="-740"/>
                </a:stretch>
              </a:blipFill>
            </p:spPr>
            <p:txBody>
              <a:bodyPr/>
              <a:lstStyle/>
              <a:p>
                <a:r>
                  <a:rPr lang="zh-CN" altLang="en-US">
                    <a:noFill/>
                  </a:rPr>
                  <a:t> </a:t>
                </a:r>
              </a:p>
            </p:txBody>
          </p:sp>
        </mc:Fallback>
      </mc:AlternateContent>
      <p:sp>
        <p:nvSpPr>
          <p:cNvPr id="3" name="AutoShape 4">
            <a:extLst>
              <a:ext uri="{FF2B5EF4-FFF2-40B4-BE49-F238E27FC236}">
                <a16:creationId xmlns:a16="http://schemas.microsoft.com/office/drawing/2014/main" id="{677A0B9B-C5CE-669F-5084-25618E7BF4BD}"/>
              </a:ext>
            </a:extLst>
          </p:cNvPr>
          <p:cNvSpPr>
            <a:spLocks noChangeAspect="1" noChangeArrowheads="1"/>
          </p:cNvSpPr>
          <p:nvPr/>
        </p:nvSpPr>
        <p:spPr bwMode="auto">
          <a:xfrm>
            <a:off x="5943600" y="3276600"/>
            <a:ext cx="2565400" cy="2565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7" name="图片 6">
            <a:extLst>
              <a:ext uri="{FF2B5EF4-FFF2-40B4-BE49-F238E27FC236}">
                <a16:creationId xmlns:a16="http://schemas.microsoft.com/office/drawing/2014/main" id="{C5A4240E-F4EC-F3A8-68AC-5D7D2A51567E}"/>
              </a:ext>
            </a:extLst>
          </p:cNvPr>
          <p:cNvPicPr>
            <a:picLocks noChangeAspect="1"/>
          </p:cNvPicPr>
          <p:nvPr/>
        </p:nvPicPr>
        <p:blipFill>
          <a:blip r:embed="rId4"/>
          <a:srcRect l="-399" r="4164"/>
          <a:stretch>
            <a:fillRect/>
          </a:stretch>
        </p:blipFill>
        <p:spPr>
          <a:xfrm>
            <a:off x="1333948" y="2963688"/>
            <a:ext cx="4977952" cy="3343624"/>
          </a:xfrm>
          <a:prstGeom prst="rect">
            <a:avLst/>
          </a:prstGeom>
        </p:spPr>
      </p:pic>
      <p:pic>
        <p:nvPicPr>
          <p:cNvPr id="9" name="图片 8">
            <a:extLst>
              <a:ext uri="{FF2B5EF4-FFF2-40B4-BE49-F238E27FC236}">
                <a16:creationId xmlns:a16="http://schemas.microsoft.com/office/drawing/2014/main" id="{8C824D2E-5C89-7865-7247-AF812149A279}"/>
              </a:ext>
            </a:extLst>
          </p:cNvPr>
          <p:cNvPicPr>
            <a:picLocks noChangeAspect="1"/>
          </p:cNvPicPr>
          <p:nvPr/>
        </p:nvPicPr>
        <p:blipFill>
          <a:blip r:embed="rId5"/>
          <a:srcRect r="4411"/>
          <a:stretch>
            <a:fillRect/>
          </a:stretch>
        </p:blipFill>
        <p:spPr>
          <a:xfrm>
            <a:off x="6639203" y="2999924"/>
            <a:ext cx="4862235" cy="33073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BF3F3C-DF29-36DC-F7FC-C469CA38110E}"/>
              </a:ext>
            </a:extLst>
          </p:cNvPr>
          <p:cNvSpPr>
            <a:spLocks noGrp="1"/>
          </p:cNvSpPr>
          <p:nvPr>
            <p:ph type="title"/>
          </p:nvPr>
        </p:nvSpPr>
        <p:spPr/>
        <p:txBody>
          <a:bodyPr/>
          <a:lstStyle/>
          <a:p>
            <a:r>
              <a:rPr lang="en-US" altLang="zh-CN" dirty="0"/>
              <a:t>Resampling Procedure</a:t>
            </a:r>
            <a:endParaRPr lang="zh-CN" altLang="en-US" dirty="0"/>
          </a:p>
        </p:txBody>
      </p:sp>
      <mc:AlternateContent xmlns:mc="http://schemas.openxmlformats.org/markup-compatibility/2006" xmlns:a14="http://schemas.microsoft.com/office/drawing/2010/main">
        <mc:Choice Requires="a14">
          <p:sp>
            <p:nvSpPr>
              <p:cNvPr id="4" name="文本占位符 3">
                <a:extLst>
                  <a:ext uri="{FF2B5EF4-FFF2-40B4-BE49-F238E27FC236}">
                    <a16:creationId xmlns:a16="http://schemas.microsoft.com/office/drawing/2014/main" id="{669D3641-3257-05B9-4247-F3396B203533}"/>
                  </a:ext>
                </a:extLst>
              </p:cNvPr>
              <p:cNvSpPr>
                <a:spLocks noGrp="1"/>
              </p:cNvSpPr>
              <p:nvPr>
                <p:ph type="body" idx="2"/>
              </p:nvPr>
            </p:nvSpPr>
            <p:spPr>
              <a:xfrm>
                <a:off x="1346749" y="1253331"/>
                <a:ext cx="10121350" cy="4351338"/>
              </a:xfrm>
            </p:spPr>
            <p:txBody>
              <a:bodyPr/>
              <a:lstStyle/>
              <a:p>
                <a:pPr>
                  <a:buFont typeface="Wingdings" panose="05000000000000000000" pitchFamily="2" charset="2"/>
                  <a:buChar char="l"/>
                </a:pPr>
                <a:r>
                  <a:rPr lang="en-US" altLang="zh-CN" sz="2400" dirty="0">
                    <a:latin typeface="Times New Roman" panose="02020603050405020304" pitchFamily="18" charset="0"/>
                    <a:cs typeface="Times New Roman" panose="02020603050405020304" pitchFamily="18" charset="0"/>
                  </a:rPr>
                  <a:t>However, we do not know target labels.</a:t>
                </a:r>
              </a:p>
              <a:p>
                <a:pPr>
                  <a:buFont typeface="Wingdings" panose="05000000000000000000" pitchFamily="2" charset="2"/>
                  <a:buChar char="l"/>
                </a:pPr>
                <a:r>
                  <a:rPr lang="en-US" altLang="zh-CN" sz="2400" dirty="0">
                    <a:latin typeface="Times New Roman" panose="02020603050405020304" pitchFamily="18" charset="0"/>
                    <a:cs typeface="Times New Roman" panose="02020603050405020304" pitchFamily="18" charset="0"/>
                  </a:rPr>
                  <a:t>Instead, we can measure </a:t>
                </a:r>
                <a14:m>
                  <m:oMath xmlns:m="http://schemas.openxmlformats.org/officeDocument/2006/math">
                    <m:sSub>
                      <m:sSubPr>
                        <m:ctrlPr>
                          <a:rPr lang="en-US" altLang="zh-CN" sz="2400" i="1" dirty="0" smtClean="0">
                            <a:latin typeface="Cambria Math" panose="02040503050406030204" pitchFamily="18" charset="0"/>
                            <a:cs typeface="Times New Roman" panose="02020603050405020304" pitchFamily="18" charset="0"/>
                          </a:rPr>
                        </m:ctrlPr>
                      </m:sSubPr>
                      <m:e>
                        <m:r>
                          <a:rPr lang="en-US" altLang="zh-CN" sz="2400" dirty="0">
                            <a:latin typeface="Cambria Math" panose="02040503050406030204" pitchFamily="18" charset="0"/>
                            <a:cs typeface="Times New Roman" panose="02020603050405020304" pitchFamily="18" charset="0"/>
                          </a:rPr>
                          <m:t>𝑊</m:t>
                        </m:r>
                      </m:e>
                      <m:sub>
                        <m:r>
                          <a:rPr lang="en-US" altLang="zh-CN" sz="2400" dirty="0">
                            <a:latin typeface="Cambria Math" panose="02040503050406030204" pitchFamily="18" charset="0"/>
                            <a:cs typeface="Times New Roman" panose="02020603050405020304" pitchFamily="18" charset="0"/>
                          </a:rPr>
                          <m:t>1</m:t>
                        </m:r>
                      </m:sub>
                    </m:sSub>
                    <m:d>
                      <m:dPr>
                        <m:ctrlPr>
                          <a:rPr lang="en-US" altLang="zh-CN" sz="2400" i="1" dirty="0">
                            <a:latin typeface="Cambria Math" panose="02040503050406030204" pitchFamily="18" charset="0"/>
                            <a:cs typeface="Times New Roman" panose="02020603050405020304" pitchFamily="18" charset="0"/>
                          </a:rPr>
                        </m:ctrlPr>
                      </m:dPr>
                      <m:e>
                        <m:sSup>
                          <m:sSupPr>
                            <m:ctrlPr>
                              <a:rPr lang="en-US" altLang="zh-CN" sz="2400" i="1" dirty="0">
                                <a:latin typeface="Cambria Math" panose="02040503050406030204" pitchFamily="18" charset="0"/>
                                <a:cs typeface="Times New Roman" panose="02020603050405020304" pitchFamily="18" charset="0"/>
                              </a:rPr>
                            </m:ctrlPr>
                          </m:sSupPr>
                          <m:e>
                            <m:r>
                              <a:rPr lang="en-US" altLang="zh-CN" sz="2400" dirty="0">
                                <a:latin typeface="Cambria Math" panose="02040503050406030204" pitchFamily="18" charset="0"/>
                                <a:cs typeface="Times New Roman" panose="02020603050405020304" pitchFamily="18" charset="0"/>
                              </a:rPr>
                              <m:t>𝑝</m:t>
                            </m:r>
                          </m:e>
                          <m:sup>
                            <m:r>
                              <a:rPr lang="en-US" altLang="zh-CN" sz="2400" dirty="0">
                                <a:latin typeface="Cambria Math" panose="02040503050406030204" pitchFamily="18" charset="0"/>
                                <a:cs typeface="Times New Roman" panose="02020603050405020304" pitchFamily="18" charset="0"/>
                              </a:rPr>
                              <m:t>∗</m:t>
                            </m:r>
                          </m:sup>
                        </m:sSup>
                        <m:d>
                          <m:dPr>
                            <m:ctrlPr>
                              <a:rPr lang="en-US" altLang="zh-CN" sz="2400" i="1" dirty="0">
                                <a:latin typeface="Cambria Math" panose="02040503050406030204" pitchFamily="18" charset="0"/>
                                <a:cs typeface="Times New Roman" panose="02020603050405020304" pitchFamily="18" charset="0"/>
                              </a:rPr>
                            </m:ctrlPr>
                          </m:dPr>
                          <m:e>
                            <m:acc>
                              <m:accPr>
                                <m:chr m:val="̂"/>
                                <m:ctrlPr>
                                  <a:rPr lang="en-US" altLang="zh-CN" sz="2400" i="1" dirty="0">
                                    <a:latin typeface="Cambria Math" panose="02040503050406030204" pitchFamily="18" charset="0"/>
                                    <a:cs typeface="Times New Roman" panose="02020603050405020304" pitchFamily="18" charset="0"/>
                                  </a:rPr>
                                </m:ctrlPr>
                              </m:accPr>
                              <m:e>
                                <m:r>
                                  <a:rPr lang="en-US" altLang="zh-CN" sz="2400" dirty="0">
                                    <a:latin typeface="Cambria Math" panose="02040503050406030204" pitchFamily="18" charset="0"/>
                                    <a:cs typeface="Times New Roman" panose="02020603050405020304" pitchFamily="18" charset="0"/>
                                  </a:rPr>
                                  <m:t>𝑦</m:t>
                                </m:r>
                              </m:e>
                            </m:acc>
                          </m:e>
                        </m:d>
                        <m:r>
                          <a:rPr lang="en-US" altLang="zh-CN" sz="2400" dirty="0">
                            <a:latin typeface="Cambria Math" panose="02040503050406030204" pitchFamily="18" charset="0"/>
                            <a:cs typeface="Times New Roman" panose="02020603050405020304" pitchFamily="18" charset="0"/>
                          </a:rPr>
                          <m:t>,</m:t>
                        </m:r>
                        <m:r>
                          <a:rPr lang="en-US" altLang="zh-CN" sz="2400" dirty="0">
                            <a:latin typeface="Cambria Math" panose="02040503050406030204" pitchFamily="18" charset="0"/>
                            <a:cs typeface="Times New Roman" panose="02020603050405020304" pitchFamily="18" charset="0"/>
                          </a:rPr>
                          <m:t>𝑞</m:t>
                        </m:r>
                        <m:d>
                          <m:dPr>
                            <m:ctrlPr>
                              <a:rPr lang="en-US" altLang="zh-CN" sz="2400" i="1" dirty="0">
                                <a:latin typeface="Cambria Math" panose="02040503050406030204" pitchFamily="18" charset="0"/>
                                <a:cs typeface="Times New Roman" panose="02020603050405020304" pitchFamily="18" charset="0"/>
                              </a:rPr>
                            </m:ctrlPr>
                          </m:dPr>
                          <m:e>
                            <m:acc>
                              <m:accPr>
                                <m:chr m:val="̂"/>
                                <m:ctrlPr>
                                  <a:rPr lang="en-US" altLang="zh-CN" sz="2400" i="1" dirty="0">
                                    <a:latin typeface="Cambria Math" panose="02040503050406030204" pitchFamily="18" charset="0"/>
                                    <a:cs typeface="Times New Roman" panose="02020603050405020304" pitchFamily="18" charset="0"/>
                                  </a:rPr>
                                </m:ctrlPr>
                              </m:accPr>
                              <m:e>
                                <m:r>
                                  <a:rPr lang="en-US" altLang="zh-CN" sz="2400" dirty="0">
                                    <a:latin typeface="Cambria Math" panose="02040503050406030204" pitchFamily="18" charset="0"/>
                                    <a:cs typeface="Times New Roman" panose="02020603050405020304" pitchFamily="18" charset="0"/>
                                  </a:rPr>
                                  <m:t>𝑦</m:t>
                                </m:r>
                              </m:e>
                            </m:acc>
                          </m:e>
                        </m:d>
                      </m:e>
                    </m:d>
                    <m:r>
                      <a:rPr lang="en-US" altLang="zh-CN" sz="2400"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𝑤h𝑒𝑟𝑒</m:t>
                    </m:r>
                    <m:r>
                      <a:rPr lang="en-US" altLang="zh-CN" sz="2400" b="0" i="1" dirty="0" smtClean="0">
                        <a:latin typeface="Cambria Math" panose="02040503050406030204" pitchFamily="18" charset="0"/>
                        <a:cs typeface="Times New Roman" panose="02020603050405020304" pitchFamily="18" charset="0"/>
                      </a:rPr>
                      <m:t> </m:t>
                    </m:r>
                    <m:sSup>
                      <m:sSupPr>
                        <m:ctrlPr>
                          <a:rPr lang="en-US" altLang="zh-CN" sz="2400" i="1" dirty="0">
                            <a:latin typeface="Cambria Math" panose="02040503050406030204" pitchFamily="18" charset="0"/>
                            <a:cs typeface="Times New Roman" panose="02020603050405020304" pitchFamily="18" charset="0"/>
                          </a:rPr>
                        </m:ctrlPr>
                      </m:sSupPr>
                      <m:e>
                        <m:r>
                          <a:rPr lang="en-US" altLang="zh-CN" sz="2400" dirty="0">
                            <a:latin typeface="Cambria Math" panose="02040503050406030204" pitchFamily="18" charset="0"/>
                            <a:cs typeface="Times New Roman" panose="02020603050405020304" pitchFamily="18" charset="0"/>
                          </a:rPr>
                          <m:t>𝑝</m:t>
                        </m:r>
                      </m:e>
                      <m:sup>
                        <m:r>
                          <a:rPr lang="en-US" altLang="zh-CN" sz="2400" dirty="0">
                            <a:latin typeface="Cambria Math" panose="02040503050406030204" pitchFamily="18" charset="0"/>
                            <a:cs typeface="Times New Roman" panose="02020603050405020304" pitchFamily="18" charset="0"/>
                          </a:rPr>
                          <m:t>∗</m:t>
                        </m:r>
                      </m:sup>
                    </m:sSup>
                    <m:d>
                      <m:dPr>
                        <m:ctrlPr>
                          <a:rPr lang="en-US" altLang="zh-CN" sz="2400" i="1" dirty="0">
                            <a:latin typeface="Cambria Math" panose="02040503050406030204" pitchFamily="18" charset="0"/>
                            <a:cs typeface="Times New Roman" panose="02020603050405020304" pitchFamily="18" charset="0"/>
                          </a:rPr>
                        </m:ctrlPr>
                      </m:dPr>
                      <m:e>
                        <m:acc>
                          <m:accPr>
                            <m:chr m:val="̂"/>
                            <m:ctrlPr>
                              <a:rPr lang="en-US" altLang="zh-CN" sz="2400" i="1" dirty="0">
                                <a:latin typeface="Cambria Math" panose="02040503050406030204" pitchFamily="18" charset="0"/>
                                <a:cs typeface="Times New Roman" panose="02020603050405020304" pitchFamily="18" charset="0"/>
                              </a:rPr>
                            </m:ctrlPr>
                          </m:accPr>
                          <m:e>
                            <m:r>
                              <a:rPr lang="en-US" altLang="zh-CN" sz="2400" dirty="0">
                                <a:latin typeface="Cambria Math" panose="02040503050406030204" pitchFamily="18" charset="0"/>
                                <a:cs typeface="Times New Roman" panose="02020603050405020304" pitchFamily="18" charset="0"/>
                              </a:rPr>
                              <m:t>𝑦</m:t>
                            </m:r>
                          </m:e>
                        </m:acc>
                      </m:e>
                    </m:d>
                    <m:r>
                      <m:rPr>
                        <m:nor/>
                      </m:rPr>
                      <a:rPr lang="en-US" altLang="zh-CN" sz="2400" dirty="0">
                        <a:latin typeface="Times New Roman" panose="02020603050405020304" pitchFamily="18" charset="0"/>
                        <a:cs typeface="Times New Roman" panose="02020603050405020304" pitchFamily="18" charset="0"/>
                      </a:rPr>
                      <m:t> </m:t>
                    </m:r>
                    <m:r>
                      <m:rPr>
                        <m:nor/>
                      </m:rPr>
                      <a:rPr lang="en-US" altLang="zh-CN" sz="2400">
                        <a:latin typeface="Times New Roman" panose="02020603050405020304" pitchFamily="18" charset="0"/>
                        <a:cs typeface="Times New Roman" panose="02020603050405020304" pitchFamily="18" charset="0"/>
                      </a:rPr>
                      <m:t>is</m:t>
                    </m:r>
                    <m:r>
                      <m:rPr>
                        <m:nor/>
                      </m:rPr>
                      <a:rPr lang="en-US" altLang="zh-CN" sz="2400">
                        <a:latin typeface="Times New Roman" panose="02020603050405020304" pitchFamily="18" charset="0"/>
                        <a:cs typeface="Times New Roman" panose="02020603050405020304" pitchFamily="18" charset="0"/>
                      </a:rPr>
                      <m:t> </m:t>
                    </m:r>
                    <m:r>
                      <m:rPr>
                        <m:nor/>
                      </m:rPr>
                      <a:rPr lang="en-US" altLang="zh-CN" sz="2400">
                        <a:latin typeface="Times New Roman" panose="02020603050405020304" pitchFamily="18" charset="0"/>
                        <a:cs typeface="Times New Roman" panose="02020603050405020304" pitchFamily="18" charset="0"/>
                      </a:rPr>
                      <m:t>the</m:t>
                    </m:r>
                    <m:r>
                      <m:rPr>
                        <m:nor/>
                      </m:rPr>
                      <a:rPr lang="en-US" altLang="zh-CN" sz="2400">
                        <a:latin typeface="Times New Roman" panose="02020603050405020304" pitchFamily="18" charset="0"/>
                        <a:cs typeface="Times New Roman" panose="02020603050405020304" pitchFamily="18" charset="0"/>
                      </a:rPr>
                      <m:t> </m:t>
                    </m:r>
                    <m:r>
                      <m:rPr>
                        <m:nor/>
                      </m:rPr>
                      <a:rPr lang="en-US" altLang="zh-CN" sz="2400">
                        <a:latin typeface="Times New Roman" panose="02020603050405020304" pitchFamily="18" charset="0"/>
                        <a:cs typeface="Times New Roman" panose="02020603050405020304" pitchFamily="18" charset="0"/>
                      </a:rPr>
                      <m:t>resampled</m:t>
                    </m:r>
                    <m:r>
                      <m:rPr>
                        <m:nor/>
                      </m:rPr>
                      <a:rPr lang="en-US" altLang="zh-CN" sz="2400">
                        <a:latin typeface="Times New Roman" panose="02020603050405020304" pitchFamily="18" charset="0"/>
                        <a:cs typeface="Times New Roman" panose="02020603050405020304" pitchFamily="18" charset="0"/>
                      </a:rPr>
                      <m:t> </m:t>
                    </m:r>
                    <m:r>
                      <m:rPr>
                        <m:nor/>
                      </m:rPr>
                      <a:rPr lang="en-US" altLang="zh-CN" sz="2400">
                        <a:latin typeface="Times New Roman" panose="02020603050405020304" pitchFamily="18" charset="0"/>
                        <a:cs typeface="Times New Roman" panose="02020603050405020304" pitchFamily="18" charset="0"/>
                      </a:rPr>
                      <m:t>source</m:t>
                    </m:r>
                    <m:r>
                      <m:rPr>
                        <m:nor/>
                      </m:rPr>
                      <a:rPr lang="en-US" altLang="zh-CN" sz="2400" b="0" i="0" smtClean="0">
                        <a:latin typeface="Times New Roman" panose="02020603050405020304" pitchFamily="18" charset="0"/>
                        <a:cs typeface="Times New Roman" panose="02020603050405020304" pitchFamily="18" charset="0"/>
                      </a:rPr>
                      <m:t> </m:t>
                    </m:r>
                    <m:r>
                      <m:rPr>
                        <m:nor/>
                      </m:rPr>
                      <a:rPr lang="en-US" altLang="zh-CN" sz="2400">
                        <a:latin typeface="Times New Roman" panose="02020603050405020304" pitchFamily="18" charset="0"/>
                        <a:cs typeface="Times New Roman" panose="02020603050405020304" pitchFamily="18" charset="0"/>
                      </a:rPr>
                      <m:t>distribution</m:t>
                    </m:r>
                    <m:r>
                      <m:rPr>
                        <m:nor/>
                      </m:rPr>
                      <a:rPr lang="en-US" altLang="zh-CN" sz="2400" b="0" i="0" smtClean="0">
                        <a:latin typeface="Times New Roman" panose="02020603050405020304" pitchFamily="18" charset="0"/>
                        <a:cs typeface="Times New Roman" panose="02020603050405020304" pitchFamily="18" charset="0"/>
                      </a:rPr>
                      <m:t> </m:t>
                    </m:r>
                    <m:r>
                      <m:rPr>
                        <m:nor/>
                      </m:rPr>
                      <a:rPr lang="en-US" altLang="zh-CN" sz="2400" b="0" i="0" smtClean="0">
                        <a:latin typeface="Times New Roman" panose="02020603050405020304" pitchFamily="18" charset="0"/>
                        <a:cs typeface="Times New Roman" panose="02020603050405020304" pitchFamily="18" charset="0"/>
                      </a:rPr>
                      <m:t>based</m:t>
                    </m:r>
                    <m:r>
                      <m:rPr>
                        <m:nor/>
                      </m:rPr>
                      <a:rPr lang="en-US" altLang="zh-CN" sz="2400" b="0" i="0" smtClean="0">
                        <a:latin typeface="Times New Roman" panose="02020603050405020304" pitchFamily="18" charset="0"/>
                        <a:cs typeface="Times New Roman" panose="02020603050405020304" pitchFamily="18" charset="0"/>
                      </a:rPr>
                      <m:t> </m:t>
                    </m:r>
                    <m:r>
                      <m:rPr>
                        <m:nor/>
                      </m:rPr>
                      <a:rPr lang="en-US" altLang="zh-CN" sz="2400" b="0" i="0" smtClean="0">
                        <a:latin typeface="Times New Roman" panose="02020603050405020304" pitchFamily="18" charset="0"/>
                        <a:cs typeface="Times New Roman" panose="02020603050405020304" pitchFamily="18" charset="0"/>
                      </a:rPr>
                      <m:t>on</m:t>
                    </m:r>
                    <m:r>
                      <m:rPr>
                        <m:nor/>
                      </m:rPr>
                      <a:rPr lang="en-US" altLang="zh-CN" sz="2400" b="0" i="0" smtClean="0">
                        <a:latin typeface="Times New Roman" panose="02020603050405020304" pitchFamily="18" charset="0"/>
                        <a:cs typeface="Times New Roman" panose="02020603050405020304" pitchFamily="18" charset="0"/>
                      </a:rPr>
                      <m:t> </m:t>
                    </m:r>
                    <m:r>
                      <m:rPr>
                        <m:nor/>
                      </m:rPr>
                      <a:rPr lang="en-US" altLang="zh-CN" sz="2400" b="0" i="0" smtClean="0">
                        <a:latin typeface="Times New Roman" panose="02020603050405020304" pitchFamily="18" charset="0"/>
                        <a:cs typeface="Times New Roman" panose="02020603050405020304" pitchFamily="18" charset="0"/>
                      </a:rPr>
                      <m:t>est</m:t>
                    </m:r>
                    <m:r>
                      <a:rPr lang="en-US" altLang="zh-CN" sz="2400" b="0" i="0" smtClean="0">
                        <a:latin typeface="Cambria Math" panose="02040503050406030204" pitchFamily="18" charset="0"/>
                        <a:cs typeface="Times New Roman" panose="02020603050405020304" pitchFamily="18" charset="0"/>
                      </a:rPr>
                      <m:t>𝑖𝑚𝑎𝑡𝑒𝑑</m:t>
                    </m:r>
                    <m:r>
                      <a:rPr lang="en-US" altLang="zh-CN" sz="2400" b="0" i="0" smtClean="0">
                        <a:latin typeface="Cambria Math" panose="02040503050406030204" pitchFamily="18" charset="0"/>
                        <a:cs typeface="Times New Roman" panose="02020603050405020304" pitchFamily="18" charset="0"/>
                      </a:rPr>
                      <m:t> </m:t>
                    </m:r>
                    <m:r>
                      <a:rPr lang="en-US" altLang="zh-CN" sz="2400" b="0" i="0" smtClean="0">
                        <a:latin typeface="Cambria Math" panose="02040503050406030204" pitchFamily="18" charset="0"/>
                        <a:cs typeface="Times New Roman" panose="02020603050405020304" pitchFamily="18" charset="0"/>
                      </a:rPr>
                      <m:t>𝑤𝑒𝑖𝑔h𝑡𝑠</m:t>
                    </m:r>
                  </m:oMath>
                </a14:m>
                <a:r>
                  <a:rPr lang="en-US" altLang="zh-CN" sz="2400" dirty="0">
                    <a:latin typeface="Cambria Math" panose="02040503050406030204" pitchFamily="18" charset="0"/>
                    <a:cs typeface="Times New Roman" panose="02020603050405020304" pitchFamily="18" charset="0"/>
                  </a:rPr>
                  <a:t>.</a:t>
                </a:r>
              </a:p>
              <a:p>
                <a:pPr>
                  <a:buFont typeface="Wingdings" panose="05000000000000000000" pitchFamily="2" charset="2"/>
                  <a:buChar char="l"/>
                </a:pPr>
                <a:r>
                  <a:rPr lang="en-US" altLang="zh-CN" sz="2400" dirty="0">
                    <a:latin typeface="Times New Roman" panose="02020603050405020304" pitchFamily="18" charset="0"/>
                    <a:cs typeface="Times New Roman" panose="02020603050405020304" pitchFamily="18" charset="0"/>
                  </a:rPr>
                  <a:t>A </a:t>
                </a:r>
                <a:r>
                  <a:rPr lang="en-US" altLang="zh-CN" sz="2400" b="1" dirty="0">
                    <a:latin typeface="Times New Roman" panose="02020603050405020304" pitchFamily="18" charset="0"/>
                    <a:cs typeface="Times New Roman" panose="02020603050405020304" pitchFamily="18" charset="0"/>
                  </a:rPr>
                  <a:t>large Wasserstein distance</a:t>
                </a:r>
                <a:r>
                  <a:rPr lang="en-US" altLang="zh-CN" sz="2400" dirty="0">
                    <a:latin typeface="Times New Roman" panose="02020603050405020304" pitchFamily="18" charset="0"/>
                    <a:cs typeface="Times New Roman" panose="02020603050405020304" pitchFamily="18" charset="0"/>
                  </a:rPr>
                  <a:t> suggests the feature set is </a:t>
                </a:r>
                <a:r>
                  <a:rPr lang="en-US" altLang="zh-CN" sz="2400" b="1" dirty="0">
                    <a:latin typeface="Times New Roman" panose="02020603050405020304" pitchFamily="18" charset="0"/>
                    <a:cs typeface="Times New Roman" panose="02020603050405020304" pitchFamily="18" charset="0"/>
                  </a:rPr>
                  <a:t>Unstable.</a:t>
                </a:r>
              </a:p>
              <a:p>
                <a:pPr marL="114300" indent="0">
                  <a:buNone/>
                </a:pPr>
                <a:endParaRPr lang="en-US" altLang="zh-CN" sz="2400" b="1" dirty="0">
                  <a:latin typeface="Times New Roman" panose="02020603050405020304" pitchFamily="18" charset="0"/>
                  <a:cs typeface="Times New Roman" panose="02020603050405020304" pitchFamily="18" charset="0"/>
                </a:endParaRPr>
              </a:p>
              <a:p>
                <a:pPr marL="114300" indent="0">
                  <a:buNone/>
                </a:pPr>
                <a:r>
                  <a:rPr lang="en-US" altLang="zh-CN" sz="2400" dirty="0">
                    <a:latin typeface="Cambria Math" panose="02040503050406030204" pitchFamily="18" charset="0"/>
                    <a:cs typeface="Times New Roman" panose="02020603050405020304" pitchFamily="18" charset="0"/>
                  </a:rPr>
                  <a:t>Here is how we resample:</a:t>
                </a:r>
              </a:p>
              <a:p>
                <a:pPr>
                  <a:buFont typeface="Wingdings" panose="05000000000000000000" pitchFamily="2" charset="2"/>
                  <a:buChar char="l"/>
                </a:pPr>
                <a:endParaRPr lang="en-US" altLang="zh-CN" b="0" i="0" dirty="0">
                  <a:latin typeface="Cambria Math" panose="02040503050406030204" pitchFamily="18" charset="0"/>
                  <a:cs typeface="Times New Roman" panose="02020603050405020304" pitchFamily="18" charset="0"/>
                </a:endParaRPr>
              </a:p>
              <a:p>
                <a:pPr>
                  <a:buFont typeface="Wingdings" panose="05000000000000000000" pitchFamily="2" charset="2"/>
                  <a:buChar char="l"/>
                </a:pPr>
                <a:endParaRPr lang="en-US" altLang="zh-CN" b="0" i="0" dirty="0">
                  <a:latin typeface="Cambria Math" panose="02040503050406030204" pitchFamily="18" charset="0"/>
                  <a:cs typeface="Times New Roman" panose="02020603050405020304" pitchFamily="18" charset="0"/>
                </a:endParaRPr>
              </a:p>
              <a:p>
                <a:pPr>
                  <a:buFont typeface="Wingdings" panose="05000000000000000000" pitchFamily="2" charset="2"/>
                  <a:buChar char="l"/>
                </a:pPr>
                <a:endParaRPr lang="zh-CN" altLang="en-US" dirty="0">
                  <a:latin typeface="Times New Roman" panose="02020603050405020304" pitchFamily="18" charset="0"/>
                  <a:cs typeface="Times New Roman" panose="02020603050405020304" pitchFamily="18" charset="0"/>
                </a:endParaRPr>
              </a:p>
            </p:txBody>
          </p:sp>
        </mc:Choice>
        <mc:Fallback xmlns="">
          <p:sp>
            <p:nvSpPr>
              <p:cNvPr id="4" name="文本占位符 3">
                <a:extLst>
                  <a:ext uri="{FF2B5EF4-FFF2-40B4-BE49-F238E27FC236}">
                    <a16:creationId xmlns:a16="http://schemas.microsoft.com/office/drawing/2014/main" id="{669D3641-3257-05B9-4247-F3396B203533}"/>
                  </a:ext>
                </a:extLst>
              </p:cNvPr>
              <p:cNvSpPr>
                <a:spLocks noGrp="1" noRot="1" noChangeAspect="1" noMove="1" noResize="1" noEditPoints="1" noAdjustHandles="1" noChangeArrowheads="1" noChangeShapeType="1" noTextEdit="1"/>
              </p:cNvSpPr>
              <p:nvPr>
                <p:ph type="body" idx="2"/>
              </p:nvPr>
            </p:nvSpPr>
            <p:spPr>
              <a:xfrm>
                <a:off x="1346749" y="1253331"/>
                <a:ext cx="10121350" cy="4351338"/>
              </a:xfr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5" name="图示 4">
                <a:extLst>
                  <a:ext uri="{FF2B5EF4-FFF2-40B4-BE49-F238E27FC236}">
                    <a16:creationId xmlns:a16="http://schemas.microsoft.com/office/drawing/2014/main" id="{ADB6E037-4F66-1CA0-27C5-F08E4A46529B}"/>
                  </a:ext>
                </a:extLst>
              </p:cNvPr>
              <p:cNvGraphicFramePr/>
              <p:nvPr>
                <p:extLst>
                  <p:ext uri="{D42A27DB-BD31-4B8C-83A1-F6EECF244321}">
                    <p14:modId xmlns:p14="http://schemas.microsoft.com/office/powerpoint/2010/main" val="3703126930"/>
                  </p:ext>
                </p:extLst>
              </p:nvPr>
            </p:nvGraphicFramePr>
            <p:xfrm>
              <a:off x="1263925" y="4125636"/>
              <a:ext cx="10286998" cy="238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5" name="图示 4">
                <a:extLst>
                  <a:ext uri="{FF2B5EF4-FFF2-40B4-BE49-F238E27FC236}">
                    <a16:creationId xmlns:a16="http://schemas.microsoft.com/office/drawing/2014/main" id="{ADB6E037-4F66-1CA0-27C5-F08E4A46529B}"/>
                  </a:ext>
                </a:extLst>
              </p:cNvPr>
              <p:cNvGraphicFramePr/>
              <p:nvPr>
                <p:extLst>
                  <p:ext uri="{D42A27DB-BD31-4B8C-83A1-F6EECF244321}">
                    <p14:modId xmlns:p14="http://schemas.microsoft.com/office/powerpoint/2010/main" val="3703126930"/>
                  </p:ext>
                </p:extLst>
              </p:nvPr>
            </p:nvGraphicFramePr>
            <p:xfrm>
              <a:off x="1263925" y="4125636"/>
              <a:ext cx="10286998" cy="23876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Tree>
    <p:extLst>
      <p:ext uri="{BB962C8B-B14F-4D97-AF65-F5344CB8AC3E}">
        <p14:creationId xmlns:p14="http://schemas.microsoft.com/office/powerpoint/2010/main" val="520107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3d44f2775a5_0_1"/>
          <p:cNvSpPr txBox="1">
            <a:spLocks noGrp="1"/>
          </p:cNvSpPr>
          <p:nvPr>
            <p:ph type="title"/>
          </p:nvPr>
        </p:nvSpPr>
        <p:spPr>
          <a:xfrm>
            <a:off x="1461050" y="344764"/>
            <a:ext cx="9892800" cy="877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Criterion</a:t>
            </a:r>
            <a:endParaRPr/>
          </a:p>
        </p:txBody>
      </p:sp>
      <mc:AlternateContent xmlns:mc="http://schemas.openxmlformats.org/markup-compatibility/2006" xmlns:a14="http://schemas.microsoft.com/office/drawing/2010/main">
        <mc:Choice Requires="a14">
          <p:sp>
            <p:nvSpPr>
              <p:cNvPr id="172" name="Google Shape;172;g3d44f2775a5_0_1"/>
              <p:cNvSpPr txBox="1">
                <a:spLocks noGrp="1"/>
              </p:cNvSpPr>
              <p:nvPr>
                <p:ph type="body" idx="1"/>
              </p:nvPr>
            </p:nvSpPr>
            <p:spPr>
              <a:xfrm>
                <a:off x="1461050" y="1401417"/>
                <a:ext cx="9892800" cy="47754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2500" dirty="0">
                    <a:latin typeface="Times New Roman"/>
                    <a:ea typeface="Times New Roman"/>
                    <a:cs typeface="Times New Roman"/>
                    <a:sym typeface="Times New Roman"/>
                  </a:rPr>
                  <a:t>Let us define us criterion to select variable be:</a:t>
                </a:r>
                <a:endParaRPr sz="2500" dirty="0">
                  <a:latin typeface="Times New Roman"/>
                  <a:ea typeface="Times New Roman"/>
                  <a:cs typeface="Times New Roman"/>
                  <a:sym typeface="Times New Roman"/>
                </a:endParaRPr>
              </a:p>
              <a:p>
                <a:pPr marL="0" lvl="0" indent="0" algn="l" rtl="0">
                  <a:spcBef>
                    <a:spcPts val="1000"/>
                  </a:spcBef>
                  <a:spcAft>
                    <a:spcPts val="0"/>
                  </a:spcAft>
                  <a:buNone/>
                </a:pPr>
                <a:endParaRPr sz="2500" dirty="0">
                  <a:latin typeface="Times New Roman"/>
                  <a:ea typeface="Times New Roman"/>
                  <a:cs typeface="Times New Roman"/>
                  <a:sym typeface="Times New Roman"/>
                </a:endParaRPr>
              </a:p>
              <a:p>
                <a:pPr marL="0" lvl="0" indent="0" algn="l" rtl="0">
                  <a:spcBef>
                    <a:spcPts val="1000"/>
                  </a:spcBef>
                  <a:spcAft>
                    <a:spcPts val="0"/>
                  </a:spcAft>
                  <a:buNone/>
                </a:pPr>
                <a:r>
                  <a:rPr lang="en-US" sz="2500" dirty="0">
                    <a:latin typeface="Times New Roman"/>
                    <a:ea typeface="Times New Roman"/>
                    <a:cs typeface="Times New Roman"/>
                    <a:sym typeface="Times New Roman"/>
                  </a:rPr>
                  <a:t>                                                                                                    ,</a:t>
                </a:r>
                <a:endParaRPr sz="2500" dirty="0">
                  <a:latin typeface="Times New Roman"/>
                  <a:ea typeface="Times New Roman"/>
                  <a:cs typeface="Times New Roman"/>
                  <a:sym typeface="Times New Roman"/>
                </a:endParaRPr>
              </a:p>
              <a:p>
                <a:pPr marL="0" lvl="0" indent="0" algn="l" rtl="0">
                  <a:spcBef>
                    <a:spcPts val="1000"/>
                  </a:spcBef>
                  <a:spcAft>
                    <a:spcPts val="0"/>
                  </a:spcAft>
                  <a:buNone/>
                </a:pPr>
                <a:r>
                  <a:rPr lang="en-US" sz="2500" dirty="0">
                    <a:latin typeface="Times New Roman"/>
                    <a:ea typeface="Times New Roman"/>
                    <a:cs typeface="Times New Roman"/>
                    <a:sym typeface="Times New Roman"/>
                  </a:rPr>
                  <a:t>where            is the resampled distribution of predicted scores in the source data after reweighting by BBSE/MLLS estimate, and        is the distribution of predicted scores in the target data.</a:t>
                </a:r>
                <a:endParaRPr sz="2500" dirty="0">
                  <a:latin typeface="Times New Roman"/>
                  <a:ea typeface="Times New Roman"/>
                  <a:cs typeface="Times New Roman"/>
                  <a:sym typeface="Times New Roman"/>
                </a:endParaRPr>
              </a:p>
              <a:p>
                <a:pPr marL="0" lvl="0" indent="0" algn="l" rtl="0">
                  <a:spcBef>
                    <a:spcPts val="1000"/>
                  </a:spcBef>
                  <a:spcAft>
                    <a:spcPts val="0"/>
                  </a:spcAft>
                  <a:buNone/>
                </a:pPr>
                <a:endParaRPr sz="2500" dirty="0">
                  <a:latin typeface="Times New Roman"/>
                  <a:ea typeface="Times New Roman"/>
                  <a:cs typeface="Times New Roman"/>
                  <a:sym typeface="Times New Roman"/>
                </a:endParaRPr>
              </a:p>
              <a:p>
                <a:pPr marL="0" lvl="0" indent="0" algn="l" rtl="0">
                  <a:spcBef>
                    <a:spcPts val="1000"/>
                  </a:spcBef>
                  <a:spcAft>
                    <a:spcPts val="0"/>
                  </a:spcAft>
                  <a:buNone/>
                </a:pPr>
                <a:r>
                  <a:rPr lang="en-US" sz="2500" dirty="0">
                    <a:latin typeface="Times New Roman"/>
                    <a:ea typeface="Times New Roman"/>
                    <a:cs typeface="Times New Roman"/>
                    <a:sym typeface="Times New Roman"/>
                  </a:rPr>
                  <a:t>So, as</a:t>
                </a:r>
                <a14:m>
                  <m:oMath xmlns:m="http://schemas.openxmlformats.org/officeDocument/2006/math">
                    <m:r>
                      <a:rPr lang="en-US" sz="2500" i="1" dirty="0" smtClean="0">
                        <a:latin typeface="Cambria Math" panose="02040503050406030204" pitchFamily="18" charset="0"/>
                        <a:ea typeface="Times New Roman"/>
                        <a:cs typeface="Times New Roman"/>
                        <a:sym typeface="Times New Roman"/>
                      </a:rPr>
                      <m:t> </m:t>
                    </m:r>
                    <m:r>
                      <a:rPr lang="en-US" sz="2500" i="1" dirty="0" smtClean="0">
                        <a:latin typeface="Cambria Math" panose="02040503050406030204" pitchFamily="18" charset="0"/>
                        <a:ea typeface="Times New Roman"/>
                        <a:cs typeface="Times New Roman"/>
                        <a:sym typeface="Times New Roman"/>
                      </a:rPr>
                      <m:t>𝜆</m:t>
                    </m:r>
                  </m:oMath>
                </a14:m>
                <a:r>
                  <a:rPr lang="en-US" sz="2500" dirty="0">
                    <a:latin typeface="Times New Roman"/>
                    <a:ea typeface="Times New Roman"/>
                    <a:cs typeface="Times New Roman"/>
                    <a:sym typeface="Times New Roman"/>
                  </a:rPr>
                  <a:t> getting larger, stable features will be more advantaged in the selection process. </a:t>
                </a:r>
                <a:endParaRPr sz="2500" dirty="0">
                  <a:latin typeface="Times New Roman"/>
                  <a:ea typeface="Times New Roman"/>
                  <a:cs typeface="Times New Roman"/>
                  <a:sym typeface="Times New Roman"/>
                </a:endParaRPr>
              </a:p>
            </p:txBody>
          </p:sp>
        </mc:Choice>
        <mc:Fallback xmlns="">
          <p:sp>
            <p:nvSpPr>
              <p:cNvPr id="172" name="Google Shape;172;g3d44f2775a5_0_1"/>
              <p:cNvSpPr txBox="1">
                <a:spLocks noGrp="1" noRot="1" noChangeAspect="1" noMove="1" noResize="1" noEditPoints="1" noAdjustHandles="1" noChangeArrowheads="1" noChangeShapeType="1" noTextEdit="1"/>
              </p:cNvSpPr>
              <p:nvPr>
                <p:ph type="body" idx="1"/>
              </p:nvPr>
            </p:nvSpPr>
            <p:spPr>
              <a:xfrm>
                <a:off x="1461050" y="1401417"/>
                <a:ext cx="9892800" cy="4775400"/>
              </a:xfrm>
              <a:prstGeom prst="rect">
                <a:avLst/>
              </a:prstGeom>
              <a:blipFill>
                <a:blip r:embed="rId3"/>
                <a:stretch>
                  <a:fillRect l="-1047" r="-863"/>
                </a:stretch>
              </a:blipFill>
            </p:spPr>
            <p:txBody>
              <a:bodyPr/>
              <a:lstStyle/>
              <a:p>
                <a:r>
                  <a:rPr lang="zh-CN" altLang="en-US">
                    <a:noFill/>
                  </a:rPr>
                  <a:t> </a:t>
                </a:r>
              </a:p>
            </p:txBody>
          </p:sp>
        </mc:Fallback>
      </mc:AlternateContent>
      <p:pic>
        <p:nvPicPr>
          <p:cNvPr id="173" name="Google Shape;173;g3d44f2775a5_0_1"/>
          <p:cNvPicPr preferRelativeResize="0"/>
          <p:nvPr/>
        </p:nvPicPr>
        <p:blipFill>
          <a:blip r:embed="rId4">
            <a:alphaModFix/>
          </a:blip>
          <a:stretch>
            <a:fillRect/>
          </a:stretch>
        </p:blipFill>
        <p:spPr>
          <a:xfrm>
            <a:off x="3105825" y="2043788"/>
            <a:ext cx="6286500" cy="695325"/>
          </a:xfrm>
          <a:prstGeom prst="rect">
            <a:avLst/>
          </a:prstGeom>
          <a:noFill/>
          <a:ln>
            <a:noFill/>
          </a:ln>
        </p:spPr>
      </p:pic>
      <p:pic>
        <p:nvPicPr>
          <p:cNvPr id="174" name="Google Shape;174;g3d44f2775a5_0_1"/>
          <p:cNvPicPr preferRelativeResize="0"/>
          <p:nvPr/>
        </p:nvPicPr>
        <p:blipFill>
          <a:blip r:embed="rId5">
            <a:alphaModFix/>
          </a:blip>
          <a:stretch>
            <a:fillRect/>
          </a:stretch>
        </p:blipFill>
        <p:spPr>
          <a:xfrm>
            <a:off x="2427819" y="2892400"/>
            <a:ext cx="787350" cy="536600"/>
          </a:xfrm>
          <a:prstGeom prst="rect">
            <a:avLst/>
          </a:prstGeom>
          <a:noFill/>
          <a:ln>
            <a:noFill/>
          </a:ln>
        </p:spPr>
      </p:pic>
      <p:pic>
        <p:nvPicPr>
          <p:cNvPr id="175" name="Google Shape;175;g3d44f2775a5_0_1"/>
          <p:cNvPicPr preferRelativeResize="0"/>
          <p:nvPr/>
        </p:nvPicPr>
        <p:blipFill>
          <a:blip r:embed="rId6">
            <a:alphaModFix/>
          </a:blip>
          <a:stretch>
            <a:fillRect/>
          </a:stretch>
        </p:blipFill>
        <p:spPr>
          <a:xfrm>
            <a:off x="8366108" y="3305492"/>
            <a:ext cx="581875" cy="483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4BFFE6-DF09-1C5B-E687-164427D8257B}"/>
              </a:ext>
            </a:extLst>
          </p:cNvPr>
          <p:cNvSpPr>
            <a:spLocks noGrp="1"/>
          </p:cNvSpPr>
          <p:nvPr>
            <p:ph type="title"/>
          </p:nvPr>
        </p:nvSpPr>
        <p:spPr/>
        <p:txBody>
          <a:bodyPr/>
          <a:lstStyle/>
          <a:p>
            <a:r>
              <a:rPr lang="en-US" altLang="zh-CN" dirty="0"/>
              <a:t>Simulation</a:t>
            </a:r>
            <a:endParaRPr lang="zh-CN" altLang="en-US" dirty="0"/>
          </a:p>
        </p:txBody>
      </p:sp>
      <p:sp>
        <p:nvSpPr>
          <p:cNvPr id="4" name="文本占位符 3">
            <a:extLst>
              <a:ext uri="{FF2B5EF4-FFF2-40B4-BE49-F238E27FC236}">
                <a16:creationId xmlns:a16="http://schemas.microsoft.com/office/drawing/2014/main" id="{9AA1A512-A0C4-BA97-4871-06AA928AE0D6}"/>
              </a:ext>
            </a:extLst>
          </p:cNvPr>
          <p:cNvSpPr>
            <a:spLocks noGrp="1"/>
          </p:cNvSpPr>
          <p:nvPr>
            <p:ph type="body" idx="2"/>
          </p:nvPr>
        </p:nvSpPr>
        <p:spPr>
          <a:xfrm>
            <a:off x="1259535" y="1253331"/>
            <a:ext cx="9755598" cy="4770952"/>
          </a:xfrm>
        </p:spPr>
        <p:txBody>
          <a:bodyPr>
            <a:normAutofit/>
          </a:bodyPr>
          <a:lstStyle/>
          <a:p>
            <a:pPr marL="114300" indent="0">
              <a:buNone/>
            </a:pPr>
            <a:r>
              <a:rPr lang="en-US" altLang="zh-CN" dirty="0"/>
              <a:t>In order to see which features will be selected, we simulated the following experiments:</a:t>
            </a:r>
          </a:p>
          <a:p>
            <a:pPr>
              <a:buFont typeface="Wingdings" panose="05000000000000000000" pitchFamily="2" charset="2"/>
              <a:buChar char="l"/>
            </a:pPr>
            <a:r>
              <a:rPr lang="en-US" altLang="zh-CN" dirty="0"/>
              <a:t>Source data with n = 6000, Target data with n = 3000</a:t>
            </a:r>
          </a:p>
          <a:p>
            <a:pPr>
              <a:buFont typeface="Wingdings" panose="05000000000000000000" pitchFamily="2" charset="2"/>
              <a:buChar char="l"/>
            </a:pPr>
            <a:r>
              <a:rPr lang="en-US" altLang="zh-CN" dirty="0"/>
              <a:t>p(y = 1) = 0.5 for source; q(y = 1) = 0.7 for target</a:t>
            </a:r>
          </a:p>
          <a:p>
            <a:pPr>
              <a:buFont typeface="Wingdings" panose="05000000000000000000" pitchFamily="2" charset="2"/>
              <a:buChar char="l"/>
            </a:pPr>
            <a:r>
              <a:rPr lang="en-US" altLang="zh-CN" dirty="0"/>
              <a:t>Features are</a:t>
            </a:r>
          </a:p>
          <a:p>
            <a:pPr lvl="1">
              <a:buFont typeface="Wingdings" panose="05000000000000000000" pitchFamily="2" charset="2"/>
              <a:buChar char="l"/>
            </a:pPr>
            <a:r>
              <a:rPr lang="en-US" altLang="zh-CN" dirty="0"/>
              <a:t>Stable</a:t>
            </a:r>
          </a:p>
          <a:p>
            <a:pPr lvl="1">
              <a:buFont typeface="Wingdings" panose="05000000000000000000" pitchFamily="2" charset="2"/>
              <a:buChar char="l"/>
            </a:pPr>
            <a:r>
              <a:rPr lang="en-US" altLang="zh-CN" dirty="0"/>
              <a:t>Weakly unstable</a:t>
            </a:r>
          </a:p>
          <a:p>
            <a:pPr lvl="1">
              <a:buFont typeface="Wingdings" panose="05000000000000000000" pitchFamily="2" charset="2"/>
              <a:buChar char="l"/>
            </a:pPr>
            <a:r>
              <a:rPr lang="en-US" altLang="zh-CN" dirty="0"/>
              <a:t>Strongly unstable</a:t>
            </a:r>
          </a:p>
          <a:p>
            <a:pPr lvl="1">
              <a:buFont typeface="Wingdings" panose="05000000000000000000" pitchFamily="2" charset="2"/>
              <a:buChar char="l"/>
            </a:pPr>
            <a:r>
              <a:rPr lang="en-US" altLang="zh-CN" dirty="0"/>
              <a:t>Marginally stable, jointly unstable</a:t>
            </a:r>
          </a:p>
          <a:p>
            <a:pPr lvl="1">
              <a:buFont typeface="Wingdings" panose="05000000000000000000" pitchFamily="2" charset="2"/>
              <a:buChar char="l"/>
            </a:pPr>
            <a:r>
              <a:rPr lang="en-US" altLang="zh-CN" dirty="0"/>
              <a:t>Noise</a:t>
            </a:r>
          </a:p>
        </p:txBody>
      </p:sp>
    </p:spTree>
    <p:extLst>
      <p:ext uri="{BB962C8B-B14F-4D97-AF65-F5344CB8AC3E}">
        <p14:creationId xmlns:p14="http://schemas.microsoft.com/office/powerpoint/2010/main" val="687418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3d44f2775a5_0_11"/>
          <p:cNvSpPr txBox="1">
            <a:spLocks noGrp="1"/>
          </p:cNvSpPr>
          <p:nvPr>
            <p:ph type="title"/>
          </p:nvPr>
        </p:nvSpPr>
        <p:spPr>
          <a:xfrm>
            <a:off x="1461050" y="344764"/>
            <a:ext cx="9892800" cy="877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Variable Selection Result</a:t>
            </a:r>
            <a:endParaRPr/>
          </a:p>
        </p:txBody>
      </p:sp>
      <p:pic>
        <p:nvPicPr>
          <p:cNvPr id="3" name="图片 2">
            <a:extLst>
              <a:ext uri="{FF2B5EF4-FFF2-40B4-BE49-F238E27FC236}">
                <a16:creationId xmlns:a16="http://schemas.microsoft.com/office/drawing/2014/main" id="{31B3F2D7-A7B8-AF4C-A932-613D0DCDB61E}"/>
              </a:ext>
            </a:extLst>
          </p:cNvPr>
          <p:cNvPicPr>
            <a:picLocks noChangeAspect="1"/>
          </p:cNvPicPr>
          <p:nvPr/>
        </p:nvPicPr>
        <p:blipFill>
          <a:blip r:embed="rId3"/>
          <a:stretch>
            <a:fillRect/>
          </a:stretch>
        </p:blipFill>
        <p:spPr>
          <a:xfrm>
            <a:off x="2636504" y="1221964"/>
            <a:ext cx="7647723" cy="5416209"/>
          </a:xfrm>
          <a:prstGeom prst="rect">
            <a:avLst/>
          </a:prstGeom>
        </p:spPr>
      </p:pic>
      <p:cxnSp>
        <p:nvCxnSpPr>
          <p:cNvPr id="5" name="直接连接符 4">
            <a:extLst>
              <a:ext uri="{FF2B5EF4-FFF2-40B4-BE49-F238E27FC236}">
                <a16:creationId xmlns:a16="http://schemas.microsoft.com/office/drawing/2014/main" id="{E1897C10-4188-A9B4-0F2A-ECDF251A78AC}"/>
              </a:ext>
            </a:extLst>
          </p:cNvPr>
          <p:cNvCxnSpPr>
            <a:cxnSpLocks/>
          </p:cNvCxnSpPr>
          <p:nvPr/>
        </p:nvCxnSpPr>
        <p:spPr>
          <a:xfrm flipV="1">
            <a:off x="3363383" y="4451404"/>
            <a:ext cx="6540500" cy="67733"/>
          </a:xfrm>
          <a:prstGeom prst="line">
            <a:avLst/>
          </a:prstGeom>
          <a:ln/>
        </p:spPr>
        <p:style>
          <a:lnRef idx="3">
            <a:schemeClr val="accent1"/>
          </a:lnRef>
          <a:fillRef idx="0">
            <a:schemeClr val="accent1"/>
          </a:fillRef>
          <a:effectRef idx="2">
            <a:schemeClr val="accent1"/>
          </a:effectRef>
          <a:fontRef idx="minor">
            <a:schemeClr val="tx1"/>
          </a:fontRef>
        </p:style>
      </p:cxnSp>
      <p:cxnSp>
        <p:nvCxnSpPr>
          <p:cNvPr id="13" name="直接连接符 12">
            <a:extLst>
              <a:ext uri="{FF2B5EF4-FFF2-40B4-BE49-F238E27FC236}">
                <a16:creationId xmlns:a16="http://schemas.microsoft.com/office/drawing/2014/main" id="{83C8E2DF-B3F1-A7D3-2F39-60F393EC3259}"/>
              </a:ext>
            </a:extLst>
          </p:cNvPr>
          <p:cNvCxnSpPr>
            <a:cxnSpLocks/>
          </p:cNvCxnSpPr>
          <p:nvPr/>
        </p:nvCxnSpPr>
        <p:spPr>
          <a:xfrm flipV="1">
            <a:off x="3363383" y="4743504"/>
            <a:ext cx="6540500" cy="152400"/>
          </a:xfrm>
          <a:prstGeom prst="line">
            <a:avLst/>
          </a:prstGeom>
          <a:ln/>
        </p:spPr>
        <p:style>
          <a:lnRef idx="3">
            <a:schemeClr val="accent4"/>
          </a:lnRef>
          <a:fillRef idx="0">
            <a:schemeClr val="accent4"/>
          </a:fillRef>
          <a:effectRef idx="2">
            <a:schemeClr val="accent4"/>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6.25E-7 4.81481E-6 L 0.00117 0.05995 " pathEditMode="relative" rAng="0" ptsTypes="AA">
                                      <p:cBhvr>
                                        <p:cTn id="18" dur="2000" fill="hold"/>
                                        <p:tgtEl>
                                          <p:spTgt spid="5"/>
                                        </p:tgtEl>
                                        <p:attrNameLst>
                                          <p:attrName>ppt_x</p:attrName>
                                          <p:attrName>ppt_y</p:attrName>
                                        </p:attrNameLst>
                                      </p:cBhvr>
                                      <p:rCtr x="52" y="298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g3d44f2775a5_0_16"/>
          <p:cNvSpPr txBox="1">
            <a:spLocks noGrp="1"/>
          </p:cNvSpPr>
          <p:nvPr>
            <p:ph type="title"/>
          </p:nvPr>
        </p:nvSpPr>
        <p:spPr>
          <a:xfrm>
            <a:off x="1461050" y="344764"/>
            <a:ext cx="9892800" cy="877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Conclusion &amp; Discussion</a:t>
            </a:r>
            <a:endParaRPr/>
          </a:p>
        </p:txBody>
      </p:sp>
      <p:sp>
        <p:nvSpPr>
          <p:cNvPr id="187" name="Google Shape;187;g3d44f2775a5_0_16"/>
          <p:cNvSpPr txBox="1">
            <a:spLocks noGrp="1"/>
          </p:cNvSpPr>
          <p:nvPr>
            <p:ph type="body" idx="1"/>
          </p:nvPr>
        </p:nvSpPr>
        <p:spPr>
          <a:xfrm>
            <a:off x="1135175" y="1401425"/>
            <a:ext cx="10946400" cy="4775400"/>
          </a:xfrm>
          <a:prstGeom prst="rect">
            <a:avLst/>
          </a:prstGeom>
        </p:spPr>
        <p:txBody>
          <a:bodyPr spcFirstLastPara="1" wrap="square" lIns="91425" tIns="45700" rIns="91425" bIns="45700" anchor="t" anchorCtr="0">
            <a:normAutofit/>
          </a:bodyPr>
          <a:lstStyle/>
          <a:p>
            <a:pPr marL="457200" lvl="0" indent="-342900" algn="l" rtl="0">
              <a:lnSpc>
                <a:spcPct val="150000"/>
              </a:lnSpc>
              <a:spcBef>
                <a:spcPts val="1000"/>
              </a:spcBef>
              <a:spcAft>
                <a:spcPts val="0"/>
              </a:spcAft>
              <a:buSzPts val="1800"/>
              <a:buFont typeface="Times New Roman"/>
              <a:buChar char="●"/>
            </a:pPr>
            <a:r>
              <a:rPr lang="en-US" dirty="0">
                <a:latin typeface="Times New Roman"/>
                <a:ea typeface="Times New Roman"/>
                <a:cs typeface="Times New Roman"/>
                <a:sym typeface="Times New Roman"/>
              </a:rPr>
              <a:t>We can use BBSE/MLLS to improve the model as long as our features are stable.</a:t>
            </a:r>
            <a:endParaRPr dirty="0">
              <a:latin typeface="Times New Roman"/>
              <a:ea typeface="Times New Roman"/>
              <a:cs typeface="Times New Roman"/>
              <a:sym typeface="Times New Roman"/>
            </a:endParaRPr>
          </a:p>
          <a:p>
            <a:pPr marL="457200" lvl="0" indent="-342900" algn="l" rtl="0">
              <a:lnSpc>
                <a:spcPct val="150000"/>
              </a:lnSpc>
              <a:spcBef>
                <a:spcPts val="0"/>
              </a:spcBef>
              <a:spcAft>
                <a:spcPts val="0"/>
              </a:spcAft>
              <a:buSzPts val="1800"/>
              <a:buFont typeface="Times New Roman"/>
              <a:buChar char="●"/>
            </a:pPr>
            <a:r>
              <a:rPr lang="en-US" dirty="0">
                <a:latin typeface="Times New Roman"/>
                <a:ea typeface="Times New Roman"/>
                <a:cs typeface="Times New Roman"/>
                <a:sym typeface="Times New Roman"/>
              </a:rPr>
              <a:t>MLLS is slightly better and more stable then BBSE.</a:t>
            </a:r>
            <a:endParaRPr dirty="0">
              <a:latin typeface="Times New Roman"/>
              <a:ea typeface="Times New Roman"/>
              <a:cs typeface="Times New Roman"/>
              <a:sym typeface="Times New Roman"/>
            </a:endParaRPr>
          </a:p>
          <a:p>
            <a:pPr marL="457200" lvl="0" indent="-342900" algn="l" rtl="0">
              <a:lnSpc>
                <a:spcPct val="150000"/>
              </a:lnSpc>
              <a:spcBef>
                <a:spcPts val="0"/>
              </a:spcBef>
              <a:spcAft>
                <a:spcPts val="0"/>
              </a:spcAft>
              <a:buSzPts val="1800"/>
              <a:buFont typeface="Times New Roman"/>
              <a:buChar char="●"/>
            </a:pPr>
            <a:r>
              <a:rPr lang="en-US" dirty="0">
                <a:latin typeface="Times New Roman"/>
                <a:ea typeface="Times New Roman"/>
                <a:cs typeface="Times New Roman"/>
                <a:sym typeface="Times New Roman"/>
              </a:rPr>
              <a:t>Wasserstein Distance is a useful tool to detect stable features.</a:t>
            </a:r>
          </a:p>
          <a:p>
            <a:pPr marL="457200" lvl="0" indent="-342900" algn="l" rtl="0">
              <a:lnSpc>
                <a:spcPct val="150000"/>
              </a:lnSpc>
              <a:spcBef>
                <a:spcPts val="0"/>
              </a:spcBef>
              <a:spcAft>
                <a:spcPts val="0"/>
              </a:spcAft>
              <a:buSzPts val="1800"/>
              <a:buFont typeface="Times New Roman"/>
              <a:buChar char="●"/>
            </a:pPr>
            <a:r>
              <a:rPr lang="en-US" dirty="0">
                <a:latin typeface="Times New Roman"/>
                <a:ea typeface="Times New Roman"/>
                <a:cs typeface="Times New Roman"/>
                <a:sym typeface="Times New Roman"/>
              </a:rPr>
              <a:t>Unstable features are not 100% bad in terms of prediction, but enough stable features are needed for a well calibrated model. </a:t>
            </a:r>
            <a:endParaRPr dirty="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3d44f2775a5_0_71"/>
          <p:cNvSpPr txBox="1"/>
          <p:nvPr/>
        </p:nvSpPr>
        <p:spPr>
          <a:xfrm>
            <a:off x="3363575" y="2628525"/>
            <a:ext cx="5599500" cy="14547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8300" b="1">
                <a:solidFill>
                  <a:srgbClr val="93773A"/>
                </a:solidFill>
                <a:latin typeface="Cormorant"/>
                <a:ea typeface="Cormorant"/>
                <a:cs typeface="Cormorant"/>
                <a:sym typeface="Cormorant"/>
              </a:rPr>
              <a:t>Thank you</a:t>
            </a:r>
            <a:endParaRPr sz="8300" b="1">
              <a:solidFill>
                <a:srgbClr val="93773A"/>
              </a:solidFill>
              <a:latin typeface="Cormorant"/>
              <a:ea typeface="Cormorant"/>
              <a:cs typeface="Cormorant"/>
              <a:sym typeface="Cormoran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g3d44f2775a5_0_36"/>
          <p:cNvSpPr txBox="1">
            <a:spLocks noGrp="1"/>
          </p:cNvSpPr>
          <p:nvPr>
            <p:ph type="title"/>
          </p:nvPr>
        </p:nvSpPr>
        <p:spPr>
          <a:xfrm>
            <a:off x="1461050" y="344764"/>
            <a:ext cx="9892800" cy="877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200"/>
              <a:buFont typeface="Cormorant"/>
              <a:buNone/>
            </a:pPr>
            <a:r>
              <a:rPr lang="en-US" dirty="0"/>
              <a:t>Black Box Shift Estimation (BBSE)</a:t>
            </a:r>
            <a:endParaRPr dirty="0">
              <a:solidFill>
                <a:srgbClr val="8C6D2C"/>
              </a:solidFill>
            </a:endParaRPr>
          </a:p>
        </p:txBody>
      </p:sp>
      <mc:AlternateContent xmlns:mc="http://schemas.openxmlformats.org/markup-compatibility/2006" xmlns:a14="http://schemas.microsoft.com/office/drawing/2010/main">
        <mc:Choice Requires="a14">
          <p:sp>
            <p:nvSpPr>
              <p:cNvPr id="91" name="Google Shape;91;g3d44f2775a5_0_36"/>
              <p:cNvSpPr txBox="1">
                <a:spLocks noGrp="1"/>
              </p:cNvSpPr>
              <p:nvPr>
                <p:ph type="body" idx="1"/>
              </p:nvPr>
            </p:nvSpPr>
            <p:spPr>
              <a:xfrm>
                <a:off x="838150" y="969632"/>
                <a:ext cx="4099457" cy="1166013"/>
              </a:xfrm>
              <a:prstGeom prst="rect">
                <a:avLst/>
              </a:prstGeom>
              <a:noFill/>
              <a:ln>
                <a:noFill/>
              </a:ln>
            </p:spPr>
            <p:txBody>
              <a:bodyPr spcFirstLastPara="1" wrap="square" lIns="91425" tIns="45700" rIns="91425" bIns="45700" anchor="t" anchorCtr="0">
                <a:noAutofit/>
              </a:bodyPr>
              <a:lstStyle/>
              <a:p>
                <a:pPr marL="0" lvl="0" indent="0">
                  <a:lnSpc>
                    <a:spcPct val="1500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2000" i="1" smtClean="0">
                          <a:latin typeface="Cambria Math" panose="02040503050406030204" pitchFamily="18" charset="0"/>
                          <a:ea typeface="Times New Roman"/>
                          <a:cs typeface="Times New Roman"/>
                          <a:sym typeface="Times New Roman"/>
                        </a:rPr>
                        <m:t>We</m:t>
                      </m:r>
                      <m:r>
                        <a:rPr lang="en-US" altLang="zh-CN" sz="2000" b="0" i="1" smtClean="0">
                          <a:latin typeface="Cambria Math" panose="02040503050406030204" pitchFamily="18" charset="0"/>
                          <a:ea typeface="Times New Roman"/>
                          <a:cs typeface="Times New Roman"/>
                          <a:sym typeface="Times New Roman"/>
                        </a:rPr>
                        <m:t> </m:t>
                      </m:r>
                      <m:r>
                        <m:rPr>
                          <m:sty m:val="p"/>
                        </m:rPr>
                        <a:rPr lang="en-US" altLang="zh-CN" sz="2000" b="0" i="1" smtClean="0">
                          <a:latin typeface="Cambria Math" panose="02040503050406030204" pitchFamily="18" charset="0"/>
                          <a:ea typeface="Times New Roman"/>
                          <a:cs typeface="Times New Roman"/>
                          <a:sym typeface="Times New Roman"/>
                        </a:rPr>
                        <m:t>want</m:t>
                      </m:r>
                      <m:r>
                        <a:rPr lang="en-US" altLang="zh-CN" sz="2000" b="0" i="1" smtClean="0">
                          <a:latin typeface="Cambria Math" panose="02040503050406030204" pitchFamily="18" charset="0"/>
                          <a:ea typeface="Times New Roman"/>
                          <a:cs typeface="Times New Roman"/>
                          <a:sym typeface="Times New Roman"/>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1</m:t>
                          </m:r>
                        </m:sub>
                      </m:sSub>
                      <m:r>
                        <a:rPr lang="es-ES" altLang="zh-CN" sz="2000" i="1" smtClean="0">
                          <a:latin typeface="Cambria Math" panose="02040503050406030204" pitchFamily="18" charset="0"/>
                          <a:ea typeface="Times New Roman"/>
                          <a:cs typeface="Times New Roman"/>
                          <a:sym typeface="Times New Roman"/>
                        </a:rPr>
                        <m:t>=</m:t>
                      </m:r>
                      <m:f>
                        <m:fPr>
                          <m:ctrlPr>
                            <a:rPr lang="es-ES" altLang="zh-CN" sz="2000" i="1">
                              <a:latin typeface="Cambria Math" panose="02040503050406030204" pitchFamily="18" charset="0"/>
                              <a:ea typeface="Times New Roman"/>
                              <a:cs typeface="Times New Roman"/>
                              <a:sym typeface="Times New Roman"/>
                            </a:rPr>
                          </m:ctrlPr>
                        </m:fPr>
                        <m:num>
                          <m:r>
                            <a:rPr lang="es-ES" altLang="zh-CN" sz="2000" i="1">
                              <a:latin typeface="Cambria Math" panose="02040503050406030204" pitchFamily="18" charset="0"/>
                              <a:ea typeface="Times New Roman"/>
                              <a:cs typeface="Times New Roman"/>
                              <a:sym typeface="Times New Roman"/>
                            </a:rPr>
                            <m:t>𝑞</m:t>
                          </m:r>
                          <m:d>
                            <m:dPr>
                              <m:ctrlPr>
                                <a:rPr lang="es-ES" altLang="zh-CN" sz="2000" i="1">
                                  <a:latin typeface="Cambria Math" panose="02040503050406030204" pitchFamily="18" charset="0"/>
                                  <a:ea typeface="Times New Roman"/>
                                  <a:cs typeface="Times New Roman"/>
                                  <a:sym typeface="Times New Roman"/>
                                </a:rPr>
                              </m:ctrlPr>
                            </m:dPr>
                            <m:e>
                              <m:r>
                                <a:rPr lang="es-ES" altLang="zh-CN" sz="2000" i="1">
                                  <a:latin typeface="Cambria Math" panose="02040503050406030204" pitchFamily="18" charset="0"/>
                                  <a:ea typeface="Times New Roman"/>
                                  <a:cs typeface="Times New Roman"/>
                                  <a:sym typeface="Times New Roman"/>
                                </a:rPr>
                                <m:t>𝑦</m:t>
                              </m:r>
                              <m:r>
                                <a:rPr lang="es-ES" altLang="zh-CN" sz="2000" i="1">
                                  <a:latin typeface="Cambria Math" panose="02040503050406030204" pitchFamily="18" charset="0"/>
                                  <a:ea typeface="Times New Roman"/>
                                  <a:cs typeface="Times New Roman"/>
                                  <a:sym typeface="Times New Roman"/>
                                </a:rPr>
                                <m:t>=1</m:t>
                              </m:r>
                            </m:e>
                          </m:d>
                        </m:num>
                        <m:den>
                          <m:r>
                            <a:rPr lang="es-ES" altLang="zh-CN" sz="2000" i="1">
                              <a:latin typeface="Cambria Math" panose="02040503050406030204" pitchFamily="18" charset="0"/>
                              <a:ea typeface="Times New Roman"/>
                              <a:cs typeface="Times New Roman"/>
                              <a:sym typeface="Times New Roman"/>
                            </a:rPr>
                            <m:t>𝑝</m:t>
                          </m:r>
                          <m:d>
                            <m:dPr>
                              <m:ctrlPr>
                                <a:rPr lang="es-ES" altLang="zh-CN" sz="2000" i="1">
                                  <a:latin typeface="Cambria Math" panose="02040503050406030204" pitchFamily="18" charset="0"/>
                                  <a:ea typeface="Times New Roman"/>
                                  <a:cs typeface="Times New Roman"/>
                                  <a:sym typeface="Times New Roman"/>
                                </a:rPr>
                              </m:ctrlPr>
                            </m:dPr>
                            <m:e>
                              <m:r>
                                <a:rPr lang="es-ES" altLang="zh-CN" sz="2000" i="1">
                                  <a:latin typeface="Cambria Math" panose="02040503050406030204" pitchFamily="18" charset="0"/>
                                  <a:ea typeface="Times New Roman"/>
                                  <a:cs typeface="Times New Roman"/>
                                  <a:sym typeface="Times New Roman"/>
                                </a:rPr>
                                <m:t>𝑦</m:t>
                              </m:r>
                              <m:r>
                                <a:rPr lang="es-ES" altLang="zh-CN" sz="2000" i="1">
                                  <a:latin typeface="Cambria Math" panose="02040503050406030204" pitchFamily="18" charset="0"/>
                                  <a:ea typeface="Times New Roman"/>
                                  <a:cs typeface="Times New Roman"/>
                                  <a:sym typeface="Times New Roman"/>
                                </a:rPr>
                                <m:t>=1</m:t>
                              </m:r>
                            </m:e>
                          </m:d>
                        </m:den>
                      </m:f>
                    </m:oMath>
                  </m:oMathPara>
                </a14:m>
                <a:endParaRPr lang="en-US" altLang="zh-CN" sz="2000" dirty="0">
                  <a:latin typeface="Times New Roman"/>
                  <a:ea typeface="Times New Roman"/>
                  <a:cs typeface="Times New Roman"/>
                  <a:sym typeface="Times New Roman"/>
                </a:endParaRPr>
              </a:p>
              <a:p>
                <a:pPr marL="0" lvl="0" indent="0">
                  <a:lnSpc>
                    <a:spcPct val="150000"/>
                  </a:lnSpc>
                  <a:spcBef>
                    <a:spcPts val="0"/>
                  </a:spcBef>
                  <a:buNone/>
                </a:pPr>
                <a:endParaRPr sz="2000" dirty="0">
                  <a:latin typeface="Times New Roman"/>
                  <a:ea typeface="Times New Roman"/>
                  <a:cs typeface="Times New Roman"/>
                  <a:sym typeface="Times New Roman"/>
                </a:endParaRPr>
              </a:p>
            </p:txBody>
          </p:sp>
        </mc:Choice>
        <mc:Fallback xmlns="">
          <p:sp>
            <p:nvSpPr>
              <p:cNvPr id="91" name="Google Shape;91;g3d44f2775a5_0_36"/>
              <p:cNvSpPr txBox="1">
                <a:spLocks noGrp="1" noRot="1" noChangeAspect="1" noMove="1" noResize="1" noEditPoints="1" noAdjustHandles="1" noChangeArrowheads="1" noChangeShapeType="1" noTextEdit="1"/>
              </p:cNvSpPr>
              <p:nvPr>
                <p:ph type="body" idx="1"/>
              </p:nvPr>
            </p:nvSpPr>
            <p:spPr>
              <a:xfrm>
                <a:off x="838150" y="969632"/>
                <a:ext cx="4099457" cy="1166013"/>
              </a:xfrm>
              <a:prstGeom prst="rect">
                <a:avLst/>
              </a:prstGeom>
              <a:blipFill>
                <a:blip r:embed="rId3"/>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0C62667-7584-73FC-D2B3-5C167F7BF2A1}"/>
                  </a:ext>
                </a:extLst>
              </p:cNvPr>
              <p:cNvSpPr txBox="1"/>
              <p:nvPr/>
            </p:nvSpPr>
            <p:spPr>
              <a:xfrm>
                <a:off x="-429042" y="2104030"/>
                <a:ext cx="9947935"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rPr>
                        <m:t>𝑞</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𝑦</m:t>
                              </m:r>
                            </m:e>
                          </m:acc>
                          <m:r>
                            <a:rPr lang="en-US" altLang="zh-CN" sz="2000" i="1">
                              <a:latin typeface="Cambria Math" panose="02040503050406030204" pitchFamily="18" charset="0"/>
                            </a:rPr>
                            <m:t>=1</m:t>
                          </m:r>
                        </m:e>
                      </m:d>
                      <m:r>
                        <a:rPr lang="en-US" altLang="zh-CN" sz="2000" i="1" smtClean="0">
                          <a:latin typeface="Cambria Math" panose="02040503050406030204" pitchFamily="18" charset="0"/>
                        </a:rPr>
                        <m:t>=</m:t>
                      </m:r>
                      <m:r>
                        <a:rPr lang="en-US" altLang="zh-CN" sz="2000" i="1">
                          <a:latin typeface="Cambria Math" panose="02040503050406030204" pitchFamily="18" charset="0"/>
                        </a:rPr>
                        <m:t>𝑞</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𝑦</m:t>
                              </m:r>
                            </m:e>
                          </m:acc>
                          <m:r>
                            <a:rPr lang="en-US" altLang="zh-CN" sz="2000" i="1">
                              <a:latin typeface="Cambria Math" panose="02040503050406030204" pitchFamily="18" charset="0"/>
                            </a:rPr>
                            <m:t>=1,</m:t>
                          </m:r>
                          <m:r>
                            <a:rPr lang="en-US" altLang="zh-CN" sz="2000" i="1">
                              <a:latin typeface="Cambria Math" panose="02040503050406030204" pitchFamily="18" charset="0"/>
                            </a:rPr>
                            <m:t>𝑦</m:t>
                          </m:r>
                          <m:r>
                            <a:rPr lang="en-US" altLang="zh-CN" sz="2000" i="1">
                              <a:latin typeface="Cambria Math" panose="02040503050406030204" pitchFamily="18" charset="0"/>
                            </a:rPr>
                            <m:t>=1</m:t>
                          </m:r>
                        </m:e>
                      </m:d>
                      <m:r>
                        <a:rPr lang="en-US" altLang="zh-CN" sz="2000" i="1">
                          <a:latin typeface="Cambria Math" panose="02040503050406030204" pitchFamily="18" charset="0"/>
                        </a:rPr>
                        <m:t>+</m:t>
                      </m:r>
                      <m:r>
                        <a:rPr lang="en-US" altLang="zh-CN" sz="2000" i="1">
                          <a:latin typeface="Cambria Math" panose="02040503050406030204" pitchFamily="18" charset="0"/>
                        </a:rPr>
                        <m:t>𝑞</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𝑦</m:t>
                              </m:r>
                            </m:e>
                          </m:acc>
                          <m:r>
                            <a:rPr lang="en-US" altLang="zh-CN" sz="2000" i="1">
                              <a:latin typeface="Cambria Math" panose="02040503050406030204" pitchFamily="18" charset="0"/>
                            </a:rPr>
                            <m:t>=1,</m:t>
                          </m:r>
                          <m:r>
                            <a:rPr lang="en-US" altLang="zh-CN" sz="2000" i="1">
                              <a:latin typeface="Cambria Math" panose="02040503050406030204" pitchFamily="18" charset="0"/>
                            </a:rPr>
                            <m:t>𝑦</m:t>
                          </m:r>
                          <m:r>
                            <a:rPr lang="en-US" altLang="zh-CN" sz="2000" i="1">
                              <a:latin typeface="Cambria Math" panose="02040503050406030204" pitchFamily="18" charset="0"/>
                            </a:rPr>
                            <m:t>=0</m:t>
                          </m:r>
                        </m:e>
                      </m:d>
                    </m:oMath>
                  </m:oMathPara>
                </a14:m>
                <a:endParaRPr lang="en-US" altLang="zh-CN" sz="2000" dirty="0"/>
              </a:p>
              <a:p>
                <a:endParaRPr lang="zh-CN" altLang="en-US" sz="2000" dirty="0"/>
              </a:p>
            </p:txBody>
          </p:sp>
        </mc:Choice>
        <mc:Fallback xmlns="">
          <p:sp>
            <p:nvSpPr>
              <p:cNvPr id="4" name="文本框 3">
                <a:extLst>
                  <a:ext uri="{FF2B5EF4-FFF2-40B4-BE49-F238E27FC236}">
                    <a16:creationId xmlns:a16="http://schemas.microsoft.com/office/drawing/2014/main" id="{60C62667-7584-73FC-D2B3-5C167F7BF2A1}"/>
                  </a:ext>
                </a:extLst>
              </p:cNvPr>
              <p:cNvSpPr txBox="1">
                <a:spLocks noRot="1" noChangeAspect="1" noMove="1" noResize="1" noEditPoints="1" noAdjustHandles="1" noChangeArrowheads="1" noChangeShapeType="1" noTextEdit="1"/>
              </p:cNvSpPr>
              <p:nvPr/>
            </p:nvSpPr>
            <p:spPr>
              <a:xfrm>
                <a:off x="-429042" y="2104030"/>
                <a:ext cx="9947935" cy="615553"/>
              </a:xfrm>
              <a:prstGeom prst="rect">
                <a:avLst/>
              </a:prstGeom>
              <a:blipFill>
                <a:blip r:embed="rId4"/>
                <a:stretch>
                  <a:fillRect t="-89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3CFA5C3-B340-1905-63A6-4CFBD1C3AC71}"/>
                  </a:ext>
                </a:extLst>
              </p:cNvPr>
              <p:cNvSpPr txBox="1"/>
              <p:nvPr/>
            </p:nvSpPr>
            <p:spPr>
              <a:xfrm>
                <a:off x="2191468" y="2579037"/>
                <a:ext cx="8070016"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altLang="zh-CN" sz="2000" i="1">
                          <a:latin typeface="Cambria Math" panose="02040503050406030204" pitchFamily="18" charset="0"/>
                        </a:rPr>
                        <m:t>=</m:t>
                      </m:r>
                      <m:r>
                        <a:rPr lang="es-ES" altLang="zh-CN" sz="2000" i="1" smtClean="0">
                          <a:latin typeface="Cambria Math" panose="02040503050406030204" pitchFamily="18" charset="0"/>
                        </a:rPr>
                        <m:t>𝑞</m:t>
                      </m:r>
                      <m:d>
                        <m:dPr>
                          <m:sepChr m:val="∣"/>
                          <m:ctrlPr>
                            <a:rPr lang="es-ES" altLang="zh-CN" sz="2000" i="1">
                              <a:latin typeface="Cambria Math" panose="02040503050406030204" pitchFamily="18" charset="0"/>
                            </a:rPr>
                          </m:ctrlPr>
                        </m:dPr>
                        <m:e>
                          <m:acc>
                            <m:accPr>
                              <m:chr m:val="̂"/>
                              <m:ctrlPr>
                                <a:rPr lang="es-ES" altLang="zh-CN" sz="2000" i="1">
                                  <a:latin typeface="Cambria Math" panose="02040503050406030204" pitchFamily="18" charset="0"/>
                                </a:rPr>
                              </m:ctrlPr>
                            </m:accPr>
                            <m:e>
                              <m:r>
                                <a:rPr lang="es-ES" altLang="zh-CN" sz="2000" i="1">
                                  <a:latin typeface="Cambria Math" panose="02040503050406030204" pitchFamily="18" charset="0"/>
                                </a:rPr>
                                <m:t>𝑦</m:t>
                              </m:r>
                            </m:e>
                          </m:acc>
                          <m:r>
                            <a:rPr lang="es-ES" altLang="zh-CN" sz="2000" i="1">
                              <a:latin typeface="Cambria Math" panose="02040503050406030204" pitchFamily="18" charset="0"/>
                            </a:rPr>
                            <m:t>=1</m:t>
                          </m:r>
                        </m:e>
                        <m:e>
                          <m:r>
                            <a:rPr lang="es-ES" altLang="zh-CN" sz="2000" i="1">
                              <a:latin typeface="Cambria Math" panose="02040503050406030204" pitchFamily="18" charset="0"/>
                            </a:rPr>
                            <m:t>𝑦</m:t>
                          </m:r>
                          <m:r>
                            <a:rPr lang="es-ES" altLang="zh-CN" sz="2000" i="1">
                              <a:latin typeface="Cambria Math" panose="02040503050406030204" pitchFamily="18" charset="0"/>
                            </a:rPr>
                            <m:t>=1</m:t>
                          </m:r>
                        </m:e>
                      </m:d>
                      <m:r>
                        <a:rPr lang="es-ES" altLang="zh-CN" sz="2000" i="1">
                          <a:latin typeface="Cambria Math" panose="02040503050406030204" pitchFamily="18" charset="0"/>
                        </a:rPr>
                        <m:t>𝑞</m:t>
                      </m:r>
                      <m:d>
                        <m:dPr>
                          <m:ctrlPr>
                            <a:rPr lang="es-ES" altLang="zh-CN" sz="2000" i="1">
                              <a:latin typeface="Cambria Math" panose="02040503050406030204" pitchFamily="18" charset="0"/>
                            </a:rPr>
                          </m:ctrlPr>
                        </m:dPr>
                        <m:e>
                          <m:r>
                            <a:rPr lang="es-ES" altLang="zh-CN" sz="2000" i="1">
                              <a:latin typeface="Cambria Math" panose="02040503050406030204" pitchFamily="18" charset="0"/>
                            </a:rPr>
                            <m:t>𝑦</m:t>
                          </m:r>
                          <m:r>
                            <a:rPr lang="es-ES" altLang="zh-CN" sz="2000" i="1">
                              <a:latin typeface="Cambria Math" panose="02040503050406030204" pitchFamily="18" charset="0"/>
                            </a:rPr>
                            <m:t>=1</m:t>
                          </m:r>
                        </m:e>
                      </m:d>
                      <m:r>
                        <a:rPr lang="es-ES" altLang="zh-CN" sz="2000" i="1">
                          <a:latin typeface="Cambria Math" panose="02040503050406030204" pitchFamily="18" charset="0"/>
                        </a:rPr>
                        <m:t>+</m:t>
                      </m:r>
                      <m:r>
                        <a:rPr lang="es-ES" altLang="zh-CN" sz="2000" i="1">
                          <a:latin typeface="Cambria Math" panose="02040503050406030204" pitchFamily="18" charset="0"/>
                        </a:rPr>
                        <m:t>𝑞</m:t>
                      </m:r>
                      <m:d>
                        <m:dPr>
                          <m:sepChr m:val="∣"/>
                          <m:ctrlPr>
                            <a:rPr lang="es-ES" altLang="zh-CN" sz="2000" i="1">
                              <a:latin typeface="Cambria Math" panose="02040503050406030204" pitchFamily="18" charset="0"/>
                            </a:rPr>
                          </m:ctrlPr>
                        </m:dPr>
                        <m:e>
                          <m:acc>
                            <m:accPr>
                              <m:chr m:val="̂"/>
                              <m:ctrlPr>
                                <a:rPr lang="es-ES" altLang="zh-CN" sz="2000" i="1">
                                  <a:latin typeface="Cambria Math" panose="02040503050406030204" pitchFamily="18" charset="0"/>
                                </a:rPr>
                              </m:ctrlPr>
                            </m:accPr>
                            <m:e>
                              <m:r>
                                <a:rPr lang="es-ES" altLang="zh-CN" sz="2000" i="1">
                                  <a:latin typeface="Cambria Math" panose="02040503050406030204" pitchFamily="18" charset="0"/>
                                </a:rPr>
                                <m:t>𝑦</m:t>
                              </m:r>
                            </m:e>
                          </m:acc>
                          <m:r>
                            <a:rPr lang="es-ES" altLang="zh-CN" sz="2000" i="1">
                              <a:latin typeface="Cambria Math" panose="02040503050406030204" pitchFamily="18" charset="0"/>
                            </a:rPr>
                            <m:t>=1</m:t>
                          </m:r>
                        </m:e>
                        <m:e>
                          <m:r>
                            <a:rPr lang="es-ES" altLang="zh-CN" sz="2000" i="1">
                              <a:latin typeface="Cambria Math" panose="02040503050406030204" pitchFamily="18" charset="0"/>
                            </a:rPr>
                            <m:t>𝑦</m:t>
                          </m:r>
                          <m:r>
                            <a:rPr lang="es-ES" altLang="zh-CN" sz="2000" i="1">
                              <a:latin typeface="Cambria Math" panose="02040503050406030204" pitchFamily="18" charset="0"/>
                            </a:rPr>
                            <m:t>=0</m:t>
                          </m:r>
                        </m:e>
                      </m:d>
                      <m:r>
                        <a:rPr lang="es-ES" altLang="zh-CN" sz="2000" i="1">
                          <a:latin typeface="Cambria Math" panose="02040503050406030204" pitchFamily="18" charset="0"/>
                        </a:rPr>
                        <m:t>𝑞</m:t>
                      </m:r>
                      <m:d>
                        <m:dPr>
                          <m:ctrlPr>
                            <a:rPr lang="es-ES" altLang="zh-CN" sz="2000" i="1">
                              <a:latin typeface="Cambria Math" panose="02040503050406030204" pitchFamily="18" charset="0"/>
                            </a:rPr>
                          </m:ctrlPr>
                        </m:dPr>
                        <m:e>
                          <m:r>
                            <a:rPr lang="es-ES" altLang="zh-CN" sz="2000" i="1">
                              <a:latin typeface="Cambria Math" panose="02040503050406030204" pitchFamily="18" charset="0"/>
                            </a:rPr>
                            <m:t>𝑦</m:t>
                          </m:r>
                          <m:r>
                            <a:rPr lang="es-ES" altLang="zh-CN" sz="2000" i="1">
                              <a:latin typeface="Cambria Math" panose="02040503050406030204" pitchFamily="18" charset="0"/>
                            </a:rPr>
                            <m:t>=0</m:t>
                          </m:r>
                        </m:e>
                      </m:d>
                    </m:oMath>
                  </m:oMathPara>
                </a14:m>
                <a:endParaRPr lang="en-US" altLang="zh-CN" sz="2000" dirty="0"/>
              </a:p>
              <a:p>
                <a:endParaRPr lang="zh-CN" altLang="en-US" sz="2000" dirty="0"/>
              </a:p>
            </p:txBody>
          </p:sp>
        </mc:Choice>
        <mc:Fallback xmlns="">
          <p:sp>
            <p:nvSpPr>
              <p:cNvPr id="5" name="文本框 4">
                <a:extLst>
                  <a:ext uri="{FF2B5EF4-FFF2-40B4-BE49-F238E27FC236}">
                    <a16:creationId xmlns:a16="http://schemas.microsoft.com/office/drawing/2014/main" id="{F3CFA5C3-B340-1905-63A6-4CFBD1C3AC71}"/>
                  </a:ext>
                </a:extLst>
              </p:cNvPr>
              <p:cNvSpPr txBox="1">
                <a:spLocks noRot="1" noChangeAspect="1" noMove="1" noResize="1" noEditPoints="1" noAdjustHandles="1" noChangeArrowheads="1" noChangeShapeType="1" noTextEdit="1"/>
              </p:cNvSpPr>
              <p:nvPr/>
            </p:nvSpPr>
            <p:spPr>
              <a:xfrm>
                <a:off x="2191468" y="2579037"/>
                <a:ext cx="8070016" cy="615553"/>
              </a:xfrm>
              <a:prstGeom prst="rect">
                <a:avLst/>
              </a:prstGeom>
              <a:blipFill>
                <a:blip r:embed="rId5"/>
                <a:stretch>
                  <a:fillRect t="-89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571B424-39AE-F76D-6105-434846FAE42B}"/>
                  </a:ext>
                </a:extLst>
              </p:cNvPr>
              <p:cNvSpPr txBox="1"/>
              <p:nvPr/>
            </p:nvSpPr>
            <p:spPr>
              <a:xfrm>
                <a:off x="1185650" y="3066968"/>
                <a:ext cx="10443599"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By</m:t>
                      </m:r>
                      <m:r>
                        <a:rPr lang="en-US" altLang="zh-CN" sz="2000" b="0" i="0" smtClean="0">
                          <a:latin typeface="Cambria Math" panose="02040503050406030204" pitchFamily="18" charset="0"/>
                        </a:rPr>
                        <m:t> </m:t>
                      </m:r>
                      <m:r>
                        <m:rPr>
                          <m:sty m:val="p"/>
                        </m:rPr>
                        <a:rPr lang="en-US" altLang="zh-CN" sz="2000" b="0" i="0" smtClean="0">
                          <a:latin typeface="Cambria Math" panose="02040503050406030204" pitchFamily="18" charset="0"/>
                        </a:rPr>
                        <m:t>Label</m:t>
                      </m:r>
                      <m:r>
                        <a:rPr lang="en-US" altLang="zh-CN" sz="2000" b="0" i="0" smtClean="0">
                          <a:latin typeface="Cambria Math" panose="02040503050406030204" pitchFamily="18" charset="0"/>
                        </a:rPr>
                        <m:t> </m:t>
                      </m:r>
                      <m:r>
                        <m:rPr>
                          <m:sty m:val="p"/>
                        </m:rPr>
                        <a:rPr lang="en-US" altLang="zh-CN" sz="2000" b="0" i="0" smtClean="0">
                          <a:latin typeface="Cambria Math" panose="02040503050406030204" pitchFamily="18" charset="0"/>
                        </a:rPr>
                        <m:t>Shift</m:t>
                      </m:r>
                      <m:r>
                        <a:rPr lang="en-US" altLang="zh-CN" sz="2000" b="0" i="0" smtClean="0">
                          <a:latin typeface="Cambria Math" panose="02040503050406030204" pitchFamily="18" charset="0"/>
                        </a:rPr>
                        <m:t> </m:t>
                      </m:r>
                      <m:r>
                        <m:rPr>
                          <m:sty m:val="p"/>
                        </m:rPr>
                        <a:rPr lang="en-US" altLang="zh-CN" sz="2000" b="0" i="0" smtClean="0">
                          <a:latin typeface="Cambria Math" panose="02040503050406030204" pitchFamily="18" charset="0"/>
                        </a:rPr>
                        <m:t>Assumption</m:t>
                      </m:r>
                      <m:r>
                        <a:rPr lang="en-US" altLang="zh-CN" sz="2000" b="0" i="0" smtClean="0">
                          <a:latin typeface="Cambria Math" panose="02040503050406030204" pitchFamily="18" charset="0"/>
                        </a:rPr>
                        <m:t>, </m:t>
                      </m:r>
                      <m:r>
                        <m:rPr>
                          <m:sty m:val="p"/>
                        </m:rPr>
                        <a:rPr lang="en-US" altLang="zh-CN" sz="2000" b="0" i="0" smtClean="0">
                          <a:latin typeface="Cambria Math" panose="02040503050406030204" pitchFamily="18" charset="0"/>
                        </a:rPr>
                        <m:t>we</m:t>
                      </m:r>
                      <m:r>
                        <a:rPr lang="en-US" altLang="zh-CN" sz="2000" b="0" i="0" smtClean="0">
                          <a:latin typeface="Cambria Math" panose="02040503050406030204" pitchFamily="18" charset="0"/>
                        </a:rPr>
                        <m:t> </m:t>
                      </m:r>
                      <m:r>
                        <m:rPr>
                          <m:sty m:val="p"/>
                        </m:rPr>
                        <a:rPr lang="en-US" altLang="zh-CN" sz="2000" b="0" i="0" smtClean="0">
                          <a:latin typeface="Cambria Math" panose="02040503050406030204" pitchFamily="18" charset="0"/>
                        </a:rPr>
                        <m:t>have</m:t>
                      </m:r>
                      <m:r>
                        <a:rPr lang="en-US" altLang="zh-CN" sz="2000" b="0" i="0" smtClean="0">
                          <a:latin typeface="Cambria Math" panose="02040503050406030204" pitchFamily="18" charset="0"/>
                        </a:rPr>
                        <m:t> </m:t>
                      </m:r>
                      <m:r>
                        <a:rPr lang="es-ES" altLang="zh-CN" sz="2000" i="1" smtClean="0">
                          <a:latin typeface="Cambria Math" panose="02040503050406030204" pitchFamily="18" charset="0"/>
                        </a:rPr>
                        <m:t>𝑞</m:t>
                      </m:r>
                      <m:d>
                        <m:dPr>
                          <m:sepChr m:val="∣"/>
                          <m:ctrlPr>
                            <a:rPr lang="es-ES" altLang="zh-CN" sz="2000" i="1">
                              <a:latin typeface="Cambria Math" panose="02040503050406030204" pitchFamily="18" charset="0"/>
                            </a:rPr>
                          </m:ctrlPr>
                        </m:dPr>
                        <m:e>
                          <m:acc>
                            <m:accPr>
                              <m:chr m:val="̂"/>
                              <m:ctrlPr>
                                <a:rPr lang="es-ES" altLang="zh-CN" sz="2000" i="1">
                                  <a:latin typeface="Cambria Math" panose="02040503050406030204" pitchFamily="18" charset="0"/>
                                </a:rPr>
                              </m:ctrlPr>
                            </m:accPr>
                            <m:e>
                              <m:r>
                                <a:rPr lang="es-ES" altLang="zh-CN" sz="2000" i="1">
                                  <a:latin typeface="Cambria Math" panose="02040503050406030204" pitchFamily="18" charset="0"/>
                                </a:rPr>
                                <m:t>𝑦</m:t>
                              </m:r>
                            </m:e>
                          </m:acc>
                          <m:r>
                            <a:rPr lang="es-ES" altLang="zh-CN" sz="2000" i="1">
                              <a:latin typeface="Cambria Math" panose="02040503050406030204" pitchFamily="18" charset="0"/>
                            </a:rPr>
                            <m:t>=1</m:t>
                          </m:r>
                        </m:e>
                        <m:e>
                          <m:r>
                            <a:rPr lang="es-ES" altLang="zh-CN" sz="2000" i="1">
                              <a:latin typeface="Cambria Math" panose="02040503050406030204" pitchFamily="18" charset="0"/>
                            </a:rPr>
                            <m:t>𝑦</m:t>
                          </m:r>
                          <m:r>
                            <a:rPr lang="es-ES" altLang="zh-CN" sz="2000" i="1">
                              <a:latin typeface="Cambria Math" panose="02040503050406030204" pitchFamily="18" charset="0"/>
                            </a:rPr>
                            <m:t>=1</m:t>
                          </m:r>
                        </m:e>
                      </m:d>
                      <m:r>
                        <a:rPr lang="es-ES" altLang="zh-CN" sz="2000" i="1">
                          <a:latin typeface="Cambria Math" panose="02040503050406030204" pitchFamily="18" charset="0"/>
                        </a:rPr>
                        <m:t>=</m:t>
                      </m:r>
                      <m:r>
                        <a:rPr lang="es-ES" altLang="zh-CN" sz="2000" i="1">
                          <a:latin typeface="Cambria Math" panose="02040503050406030204" pitchFamily="18" charset="0"/>
                        </a:rPr>
                        <m:t>𝑝</m:t>
                      </m:r>
                      <m:d>
                        <m:dPr>
                          <m:sepChr m:val="∣"/>
                          <m:ctrlPr>
                            <a:rPr lang="es-ES" altLang="zh-CN" sz="2000" i="1">
                              <a:latin typeface="Cambria Math" panose="02040503050406030204" pitchFamily="18" charset="0"/>
                            </a:rPr>
                          </m:ctrlPr>
                        </m:dPr>
                        <m:e>
                          <m:acc>
                            <m:accPr>
                              <m:chr m:val="̂"/>
                              <m:ctrlPr>
                                <a:rPr lang="es-ES" altLang="zh-CN" sz="2000" i="1">
                                  <a:latin typeface="Cambria Math" panose="02040503050406030204" pitchFamily="18" charset="0"/>
                                </a:rPr>
                              </m:ctrlPr>
                            </m:accPr>
                            <m:e>
                              <m:r>
                                <a:rPr lang="es-ES" altLang="zh-CN" sz="2000" i="1">
                                  <a:latin typeface="Cambria Math" panose="02040503050406030204" pitchFamily="18" charset="0"/>
                                </a:rPr>
                                <m:t>𝑦</m:t>
                              </m:r>
                            </m:e>
                          </m:acc>
                          <m:r>
                            <a:rPr lang="es-ES" altLang="zh-CN" sz="2000" i="1">
                              <a:latin typeface="Cambria Math" panose="02040503050406030204" pitchFamily="18" charset="0"/>
                            </a:rPr>
                            <m:t>=1</m:t>
                          </m:r>
                        </m:e>
                        <m:e>
                          <m:r>
                            <a:rPr lang="es-ES" altLang="zh-CN" sz="2000" i="1">
                              <a:latin typeface="Cambria Math" panose="02040503050406030204" pitchFamily="18" charset="0"/>
                            </a:rPr>
                            <m:t>𝑦</m:t>
                          </m:r>
                          <m:r>
                            <a:rPr lang="es-ES" altLang="zh-CN" sz="2000" i="1">
                              <a:latin typeface="Cambria Math" panose="02040503050406030204" pitchFamily="18" charset="0"/>
                            </a:rPr>
                            <m:t>=1</m:t>
                          </m:r>
                        </m:e>
                      </m:d>
                      <m:r>
                        <a:rPr lang="en-US" altLang="zh-CN" sz="2000" b="0" i="1" smtClean="0">
                          <a:latin typeface="Cambria Math" panose="02040503050406030204" pitchFamily="18" charset="0"/>
                        </a:rPr>
                        <m:t>, </m:t>
                      </m:r>
                      <m:r>
                        <m:rPr>
                          <m:sty m:val="p"/>
                        </m:rPr>
                        <a:rPr lang="en-US" altLang="zh-CN" sz="2000" b="0" i="1" smtClean="0">
                          <a:latin typeface="Cambria Math" panose="02040503050406030204" pitchFamily="18" charset="0"/>
                        </a:rPr>
                        <m:t>and</m:t>
                      </m:r>
                    </m:oMath>
                  </m:oMathPara>
                </a14:m>
                <a:endParaRPr lang="en-US" altLang="zh-CN" sz="2000" dirty="0"/>
              </a:p>
              <a:p>
                <a:endParaRPr lang="zh-CN" altLang="en-US" sz="2000" dirty="0"/>
              </a:p>
            </p:txBody>
          </p:sp>
        </mc:Choice>
        <mc:Fallback xmlns="">
          <p:sp>
            <p:nvSpPr>
              <p:cNvPr id="6" name="文本框 5">
                <a:extLst>
                  <a:ext uri="{FF2B5EF4-FFF2-40B4-BE49-F238E27FC236}">
                    <a16:creationId xmlns:a16="http://schemas.microsoft.com/office/drawing/2014/main" id="{4571B424-39AE-F76D-6105-434846FAE42B}"/>
                  </a:ext>
                </a:extLst>
              </p:cNvPr>
              <p:cNvSpPr txBox="1">
                <a:spLocks noRot="1" noChangeAspect="1" noMove="1" noResize="1" noEditPoints="1" noAdjustHandles="1" noChangeArrowheads="1" noChangeShapeType="1" noTextEdit="1"/>
              </p:cNvSpPr>
              <p:nvPr/>
            </p:nvSpPr>
            <p:spPr>
              <a:xfrm>
                <a:off x="1185650" y="3066968"/>
                <a:ext cx="10443599" cy="615553"/>
              </a:xfrm>
              <a:prstGeom prst="rect">
                <a:avLst/>
              </a:prstGeom>
              <a:blipFill>
                <a:blip r:embed="rId6"/>
                <a:stretch>
                  <a:fillRect t="-89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634C6B7-8505-CBB9-ED97-8873E812234E}"/>
                  </a:ext>
                </a:extLst>
              </p:cNvPr>
              <p:cNvSpPr txBox="1"/>
              <p:nvPr/>
            </p:nvSpPr>
            <p:spPr>
              <a:xfrm>
                <a:off x="3128352" y="3541975"/>
                <a:ext cx="9947935"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altLang="zh-CN" sz="2000" i="1" smtClean="0">
                          <a:latin typeface="Cambria Math" panose="02040503050406030204" pitchFamily="18" charset="0"/>
                        </a:rPr>
                        <m:t>𝑞</m:t>
                      </m:r>
                      <m:d>
                        <m:dPr>
                          <m:sepChr m:val="∣"/>
                          <m:ctrlPr>
                            <a:rPr lang="es-ES" altLang="zh-CN" sz="2000" i="1">
                              <a:latin typeface="Cambria Math" panose="02040503050406030204" pitchFamily="18" charset="0"/>
                            </a:rPr>
                          </m:ctrlPr>
                        </m:dPr>
                        <m:e>
                          <m:acc>
                            <m:accPr>
                              <m:chr m:val="̂"/>
                              <m:ctrlPr>
                                <a:rPr lang="es-ES" altLang="zh-CN" sz="2000" i="1">
                                  <a:latin typeface="Cambria Math" panose="02040503050406030204" pitchFamily="18" charset="0"/>
                                </a:rPr>
                              </m:ctrlPr>
                            </m:accPr>
                            <m:e>
                              <m:r>
                                <a:rPr lang="es-ES" altLang="zh-CN" sz="2000" i="1">
                                  <a:latin typeface="Cambria Math" panose="02040503050406030204" pitchFamily="18" charset="0"/>
                                </a:rPr>
                                <m:t>𝑦</m:t>
                              </m:r>
                            </m:e>
                          </m:acc>
                          <m:r>
                            <a:rPr lang="es-ES" altLang="zh-CN" sz="2000" i="1">
                              <a:latin typeface="Cambria Math" panose="02040503050406030204" pitchFamily="18" charset="0"/>
                            </a:rPr>
                            <m:t>=1</m:t>
                          </m:r>
                        </m:e>
                        <m:e>
                          <m:r>
                            <a:rPr lang="es-ES" altLang="zh-CN" sz="2000" i="1">
                              <a:latin typeface="Cambria Math" panose="02040503050406030204" pitchFamily="18" charset="0"/>
                            </a:rPr>
                            <m:t>𝑦</m:t>
                          </m:r>
                          <m:r>
                            <a:rPr lang="es-ES" altLang="zh-CN" sz="2000" i="1">
                              <a:latin typeface="Cambria Math" panose="02040503050406030204" pitchFamily="18" charset="0"/>
                            </a:rPr>
                            <m:t>=0</m:t>
                          </m:r>
                        </m:e>
                      </m:d>
                      <m:r>
                        <a:rPr lang="es-ES" altLang="zh-CN" sz="2000" i="1">
                          <a:latin typeface="Cambria Math" panose="02040503050406030204" pitchFamily="18" charset="0"/>
                        </a:rPr>
                        <m:t>=</m:t>
                      </m:r>
                      <m:r>
                        <a:rPr lang="es-ES" altLang="zh-CN" sz="2000" i="1">
                          <a:latin typeface="Cambria Math" panose="02040503050406030204" pitchFamily="18" charset="0"/>
                        </a:rPr>
                        <m:t>𝑝</m:t>
                      </m:r>
                      <m:d>
                        <m:dPr>
                          <m:sepChr m:val="∣"/>
                          <m:ctrlPr>
                            <a:rPr lang="es-ES" altLang="zh-CN" sz="2000" i="1">
                              <a:latin typeface="Cambria Math" panose="02040503050406030204" pitchFamily="18" charset="0"/>
                            </a:rPr>
                          </m:ctrlPr>
                        </m:dPr>
                        <m:e>
                          <m:acc>
                            <m:accPr>
                              <m:chr m:val="̂"/>
                              <m:ctrlPr>
                                <a:rPr lang="es-ES" altLang="zh-CN" sz="2000" i="1">
                                  <a:latin typeface="Cambria Math" panose="02040503050406030204" pitchFamily="18" charset="0"/>
                                </a:rPr>
                              </m:ctrlPr>
                            </m:accPr>
                            <m:e>
                              <m:r>
                                <a:rPr lang="es-ES" altLang="zh-CN" sz="2000" i="1">
                                  <a:latin typeface="Cambria Math" panose="02040503050406030204" pitchFamily="18" charset="0"/>
                                </a:rPr>
                                <m:t>𝑦</m:t>
                              </m:r>
                            </m:e>
                          </m:acc>
                          <m:r>
                            <a:rPr lang="es-ES" altLang="zh-CN" sz="2000" i="1">
                              <a:latin typeface="Cambria Math" panose="02040503050406030204" pitchFamily="18" charset="0"/>
                            </a:rPr>
                            <m:t>=1</m:t>
                          </m:r>
                        </m:e>
                        <m:e>
                          <m:r>
                            <a:rPr lang="es-ES" altLang="zh-CN" sz="2000" i="1">
                              <a:latin typeface="Cambria Math" panose="02040503050406030204" pitchFamily="18" charset="0"/>
                            </a:rPr>
                            <m:t>𝑦</m:t>
                          </m:r>
                          <m:r>
                            <a:rPr lang="es-ES" altLang="zh-CN" sz="2000" i="1">
                              <a:latin typeface="Cambria Math" panose="02040503050406030204" pitchFamily="18" charset="0"/>
                            </a:rPr>
                            <m:t>=0</m:t>
                          </m:r>
                        </m:e>
                      </m:d>
                    </m:oMath>
                  </m:oMathPara>
                </a14:m>
                <a:endParaRPr lang="en-US" altLang="zh-CN" sz="2000" dirty="0"/>
              </a:p>
              <a:p>
                <a:endParaRPr lang="zh-CN" altLang="en-US" sz="2000" dirty="0"/>
              </a:p>
            </p:txBody>
          </p:sp>
        </mc:Choice>
        <mc:Fallback xmlns="">
          <p:sp>
            <p:nvSpPr>
              <p:cNvPr id="7" name="文本框 6">
                <a:extLst>
                  <a:ext uri="{FF2B5EF4-FFF2-40B4-BE49-F238E27FC236}">
                    <a16:creationId xmlns:a16="http://schemas.microsoft.com/office/drawing/2014/main" id="{6634C6B7-8505-CBB9-ED97-8873E812234E}"/>
                  </a:ext>
                </a:extLst>
              </p:cNvPr>
              <p:cNvSpPr txBox="1">
                <a:spLocks noRot="1" noChangeAspect="1" noMove="1" noResize="1" noEditPoints="1" noAdjustHandles="1" noChangeArrowheads="1" noChangeShapeType="1" noTextEdit="1"/>
              </p:cNvSpPr>
              <p:nvPr/>
            </p:nvSpPr>
            <p:spPr>
              <a:xfrm>
                <a:off x="3128352" y="3541975"/>
                <a:ext cx="9947935" cy="615553"/>
              </a:xfrm>
              <a:prstGeom prst="rect">
                <a:avLst/>
              </a:prstGeom>
              <a:blipFill>
                <a:blip r:embed="rId7"/>
                <a:stretch>
                  <a:fillRect t="-89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75D14448-8C9B-AA92-6F39-663091EA27B3}"/>
                  </a:ext>
                </a:extLst>
              </p:cNvPr>
              <p:cNvSpPr txBox="1"/>
              <p:nvPr/>
            </p:nvSpPr>
            <p:spPr>
              <a:xfrm>
                <a:off x="1527315" y="4333901"/>
                <a:ext cx="9947935" cy="1265475"/>
              </a:xfrm>
              <a:prstGeom prst="rect">
                <a:avLst/>
              </a:prstGeom>
              <a:noFill/>
            </p:spPr>
            <p:txBody>
              <a:bodyPr wrap="square" lIns="0" tIns="0" rIns="0" bIns="0" rtlCol="0">
                <a:spAutoFit/>
              </a:bodyPr>
              <a:lstStyle/>
              <a:p>
                <a:endParaRPr lang="en-US" altLang="zh-CN" sz="20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𝑦</m:t>
                                  </m:r>
                                </m:e>
                              </m:acc>
                              <m:r>
                                <a:rPr lang="en-US" altLang="zh-CN" sz="2000" i="1">
                                  <a:latin typeface="Cambria Math" panose="02040503050406030204" pitchFamily="18" charset="0"/>
                                </a:rPr>
                                <m:t>=1,</m:t>
                              </m:r>
                              <m:r>
                                <a:rPr lang="en-US" altLang="zh-CN" sz="2000" i="1">
                                  <a:latin typeface="Cambria Math" panose="02040503050406030204" pitchFamily="18" charset="0"/>
                                </a:rPr>
                                <m:t>𝑦</m:t>
                              </m:r>
                              <m:r>
                                <a:rPr lang="en-US" altLang="zh-CN" sz="2000" i="1">
                                  <a:latin typeface="Cambria Math" panose="02040503050406030204" pitchFamily="18" charset="0"/>
                                </a:rPr>
                                <m:t>=1</m:t>
                              </m:r>
                            </m:e>
                          </m:d>
                        </m:num>
                        <m:den>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𝑦</m:t>
                              </m:r>
                              <m:r>
                                <a:rPr lang="en-US" altLang="zh-CN" sz="2000" i="1">
                                  <a:latin typeface="Cambria Math" panose="02040503050406030204" pitchFamily="18" charset="0"/>
                                </a:rPr>
                                <m:t>=1</m:t>
                              </m:r>
                            </m:e>
                          </m:d>
                        </m:den>
                      </m:f>
                      <m:r>
                        <a:rPr lang="en-US" altLang="zh-CN" sz="2000" i="1">
                          <a:latin typeface="Cambria Math" panose="02040503050406030204" pitchFamily="18" charset="0"/>
                        </a:rPr>
                        <m:t>𝑞</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𝑦</m:t>
                          </m:r>
                          <m:r>
                            <a:rPr lang="en-US" altLang="zh-CN" sz="2000" i="1">
                              <a:latin typeface="Cambria Math" panose="02040503050406030204" pitchFamily="18" charset="0"/>
                            </a:rPr>
                            <m:t>=1</m:t>
                          </m:r>
                        </m:e>
                      </m:d>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𝑦</m:t>
                                  </m:r>
                                </m:e>
                              </m:acc>
                              <m:r>
                                <a:rPr lang="en-US" altLang="zh-CN" sz="2000" i="1">
                                  <a:latin typeface="Cambria Math" panose="02040503050406030204" pitchFamily="18" charset="0"/>
                                </a:rPr>
                                <m:t>=1,</m:t>
                              </m:r>
                              <m:r>
                                <a:rPr lang="en-US" altLang="zh-CN" sz="2000" i="1">
                                  <a:latin typeface="Cambria Math" panose="02040503050406030204" pitchFamily="18" charset="0"/>
                                </a:rPr>
                                <m:t>𝑦</m:t>
                              </m:r>
                              <m:r>
                                <a:rPr lang="en-US" altLang="zh-CN" sz="2000" i="1">
                                  <a:latin typeface="Cambria Math" panose="02040503050406030204" pitchFamily="18" charset="0"/>
                                </a:rPr>
                                <m:t>=0</m:t>
                              </m:r>
                            </m:e>
                          </m:d>
                        </m:num>
                        <m:den>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𝑦</m:t>
                              </m:r>
                              <m:r>
                                <a:rPr lang="en-US" altLang="zh-CN" sz="2000" i="1">
                                  <a:latin typeface="Cambria Math" panose="02040503050406030204" pitchFamily="18" charset="0"/>
                                </a:rPr>
                                <m:t>=0</m:t>
                              </m:r>
                            </m:e>
                          </m:d>
                        </m:den>
                      </m:f>
                      <m:r>
                        <a:rPr lang="en-US" altLang="zh-CN" sz="2000" i="1">
                          <a:latin typeface="Cambria Math" panose="02040503050406030204" pitchFamily="18" charset="0"/>
                        </a:rPr>
                        <m:t>𝑞</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𝑦</m:t>
                          </m:r>
                          <m:r>
                            <a:rPr lang="en-US" altLang="zh-CN" sz="2000" i="1">
                              <a:latin typeface="Cambria Math" panose="02040503050406030204" pitchFamily="18" charset="0"/>
                            </a:rPr>
                            <m:t>=0</m:t>
                          </m:r>
                        </m:e>
                      </m:d>
                    </m:oMath>
                  </m:oMathPara>
                </a14:m>
                <a:endParaRPr lang="en-US" altLang="zh-CN" sz="2000" dirty="0"/>
              </a:p>
              <a:p>
                <a:endParaRPr lang="zh-CN" altLang="en-US" sz="2000" dirty="0"/>
              </a:p>
            </p:txBody>
          </p:sp>
        </mc:Choice>
        <mc:Fallback xmlns="">
          <p:sp>
            <p:nvSpPr>
              <p:cNvPr id="8" name="文本框 7">
                <a:extLst>
                  <a:ext uri="{FF2B5EF4-FFF2-40B4-BE49-F238E27FC236}">
                    <a16:creationId xmlns:a16="http://schemas.microsoft.com/office/drawing/2014/main" id="{75D14448-8C9B-AA92-6F39-663091EA27B3}"/>
                  </a:ext>
                </a:extLst>
              </p:cNvPr>
              <p:cNvSpPr txBox="1">
                <a:spLocks noRot="1" noChangeAspect="1" noMove="1" noResize="1" noEditPoints="1" noAdjustHandles="1" noChangeArrowheads="1" noChangeShapeType="1" noTextEdit="1"/>
              </p:cNvSpPr>
              <p:nvPr/>
            </p:nvSpPr>
            <p:spPr>
              <a:xfrm>
                <a:off x="1527315" y="4333901"/>
                <a:ext cx="9947935" cy="126547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85125C91-64B6-BFC9-A17A-0E0628AE7C9F}"/>
                  </a:ext>
                </a:extLst>
              </p:cNvPr>
              <p:cNvSpPr txBox="1"/>
              <p:nvPr/>
            </p:nvSpPr>
            <p:spPr>
              <a:xfrm>
                <a:off x="1561179" y="4127864"/>
                <a:ext cx="8750409"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000" b="0" i="1" smtClean="0">
                          <a:latin typeface="Cambria Math" panose="02040503050406030204" pitchFamily="18" charset="0"/>
                        </a:rPr>
                        <m:t>SO</m:t>
                      </m:r>
                      <m:r>
                        <a:rPr lang="en-US" altLang="zh-CN" sz="2000" b="0" i="1" smtClean="0">
                          <a:latin typeface="Cambria Math" panose="02040503050406030204" pitchFamily="18" charset="0"/>
                        </a:rPr>
                        <m:t>, </m:t>
                      </m:r>
                      <m:r>
                        <a:rPr lang="es-ES" altLang="zh-CN" sz="2000" i="1" smtClean="0">
                          <a:latin typeface="Cambria Math" panose="02040503050406030204" pitchFamily="18" charset="0"/>
                        </a:rPr>
                        <m:t>𝑞</m:t>
                      </m:r>
                      <m:d>
                        <m:dPr>
                          <m:ctrlPr>
                            <a:rPr lang="es-ES" altLang="zh-CN" sz="2000" i="1">
                              <a:latin typeface="Cambria Math" panose="02040503050406030204" pitchFamily="18" charset="0"/>
                            </a:rPr>
                          </m:ctrlPr>
                        </m:dPr>
                        <m:e>
                          <m:acc>
                            <m:accPr>
                              <m:chr m:val="̂"/>
                              <m:ctrlPr>
                                <a:rPr lang="es-ES" altLang="zh-CN" sz="2000" i="1">
                                  <a:latin typeface="Cambria Math" panose="02040503050406030204" pitchFamily="18" charset="0"/>
                                </a:rPr>
                              </m:ctrlPr>
                            </m:accPr>
                            <m:e>
                              <m:r>
                                <a:rPr lang="es-ES" altLang="zh-CN" sz="2000" i="1">
                                  <a:latin typeface="Cambria Math" panose="02040503050406030204" pitchFamily="18" charset="0"/>
                                </a:rPr>
                                <m:t>𝑦</m:t>
                              </m:r>
                            </m:e>
                          </m:acc>
                          <m:r>
                            <a:rPr lang="es-ES" altLang="zh-CN" sz="2000" i="1">
                              <a:latin typeface="Cambria Math" panose="02040503050406030204" pitchFamily="18" charset="0"/>
                            </a:rPr>
                            <m:t>=1</m:t>
                          </m:r>
                        </m:e>
                      </m:d>
                      <m:r>
                        <a:rPr lang="es-ES" altLang="zh-CN" sz="2000" i="1">
                          <a:latin typeface="Cambria Math" panose="02040503050406030204" pitchFamily="18" charset="0"/>
                        </a:rPr>
                        <m:t>=</m:t>
                      </m:r>
                      <m:r>
                        <a:rPr lang="es-ES" altLang="zh-CN" sz="2000" i="1">
                          <a:latin typeface="Cambria Math" panose="02040503050406030204" pitchFamily="18" charset="0"/>
                        </a:rPr>
                        <m:t>𝑝</m:t>
                      </m:r>
                      <m:d>
                        <m:dPr>
                          <m:sepChr m:val="∣"/>
                          <m:ctrlPr>
                            <a:rPr lang="es-ES" altLang="zh-CN" sz="2000" i="1">
                              <a:latin typeface="Cambria Math" panose="02040503050406030204" pitchFamily="18" charset="0"/>
                            </a:rPr>
                          </m:ctrlPr>
                        </m:dPr>
                        <m:e>
                          <m:acc>
                            <m:accPr>
                              <m:chr m:val="̂"/>
                              <m:ctrlPr>
                                <a:rPr lang="es-ES" altLang="zh-CN" sz="2000" i="1">
                                  <a:latin typeface="Cambria Math" panose="02040503050406030204" pitchFamily="18" charset="0"/>
                                </a:rPr>
                              </m:ctrlPr>
                            </m:accPr>
                            <m:e>
                              <m:r>
                                <a:rPr lang="es-ES" altLang="zh-CN" sz="2000" i="1">
                                  <a:latin typeface="Cambria Math" panose="02040503050406030204" pitchFamily="18" charset="0"/>
                                </a:rPr>
                                <m:t>𝑦</m:t>
                              </m:r>
                            </m:e>
                          </m:acc>
                          <m:r>
                            <a:rPr lang="es-ES" altLang="zh-CN" sz="2000" i="1">
                              <a:latin typeface="Cambria Math" panose="02040503050406030204" pitchFamily="18" charset="0"/>
                            </a:rPr>
                            <m:t>=1</m:t>
                          </m:r>
                        </m:e>
                        <m:e>
                          <m:r>
                            <a:rPr lang="es-ES" altLang="zh-CN" sz="2000" i="1">
                              <a:latin typeface="Cambria Math" panose="02040503050406030204" pitchFamily="18" charset="0"/>
                            </a:rPr>
                            <m:t>𝑦</m:t>
                          </m:r>
                          <m:r>
                            <a:rPr lang="es-ES" altLang="zh-CN" sz="2000" i="1">
                              <a:latin typeface="Cambria Math" panose="02040503050406030204" pitchFamily="18" charset="0"/>
                            </a:rPr>
                            <m:t>=1</m:t>
                          </m:r>
                        </m:e>
                      </m:d>
                      <m:r>
                        <a:rPr lang="es-ES" altLang="zh-CN" sz="2000" i="1">
                          <a:latin typeface="Cambria Math" panose="02040503050406030204" pitchFamily="18" charset="0"/>
                        </a:rPr>
                        <m:t>𝑞</m:t>
                      </m:r>
                      <m:d>
                        <m:dPr>
                          <m:ctrlPr>
                            <a:rPr lang="es-ES" altLang="zh-CN" sz="2000" i="1">
                              <a:latin typeface="Cambria Math" panose="02040503050406030204" pitchFamily="18" charset="0"/>
                            </a:rPr>
                          </m:ctrlPr>
                        </m:dPr>
                        <m:e>
                          <m:r>
                            <a:rPr lang="es-ES" altLang="zh-CN" sz="2000" i="1">
                              <a:latin typeface="Cambria Math" panose="02040503050406030204" pitchFamily="18" charset="0"/>
                            </a:rPr>
                            <m:t>𝑦</m:t>
                          </m:r>
                          <m:r>
                            <a:rPr lang="es-ES" altLang="zh-CN" sz="2000" i="1">
                              <a:latin typeface="Cambria Math" panose="02040503050406030204" pitchFamily="18" charset="0"/>
                            </a:rPr>
                            <m:t>=1</m:t>
                          </m:r>
                        </m:e>
                      </m:d>
                      <m:r>
                        <a:rPr lang="es-ES" altLang="zh-CN" sz="2000" i="1">
                          <a:latin typeface="Cambria Math" panose="02040503050406030204" pitchFamily="18" charset="0"/>
                        </a:rPr>
                        <m:t>+</m:t>
                      </m:r>
                      <m:r>
                        <a:rPr lang="es-ES" altLang="zh-CN" sz="2000" i="1">
                          <a:latin typeface="Cambria Math" panose="02040503050406030204" pitchFamily="18" charset="0"/>
                        </a:rPr>
                        <m:t>𝑝</m:t>
                      </m:r>
                      <m:d>
                        <m:dPr>
                          <m:sepChr m:val="∣"/>
                          <m:ctrlPr>
                            <a:rPr lang="es-ES" altLang="zh-CN" sz="2000" i="1">
                              <a:latin typeface="Cambria Math" panose="02040503050406030204" pitchFamily="18" charset="0"/>
                            </a:rPr>
                          </m:ctrlPr>
                        </m:dPr>
                        <m:e>
                          <m:acc>
                            <m:accPr>
                              <m:chr m:val="̂"/>
                              <m:ctrlPr>
                                <a:rPr lang="es-ES" altLang="zh-CN" sz="2000" i="1">
                                  <a:latin typeface="Cambria Math" panose="02040503050406030204" pitchFamily="18" charset="0"/>
                                </a:rPr>
                              </m:ctrlPr>
                            </m:accPr>
                            <m:e>
                              <m:r>
                                <a:rPr lang="es-ES" altLang="zh-CN" sz="2000" i="1">
                                  <a:latin typeface="Cambria Math" panose="02040503050406030204" pitchFamily="18" charset="0"/>
                                </a:rPr>
                                <m:t>𝑦</m:t>
                              </m:r>
                            </m:e>
                          </m:acc>
                          <m:r>
                            <a:rPr lang="es-ES" altLang="zh-CN" sz="2000" i="1">
                              <a:latin typeface="Cambria Math" panose="02040503050406030204" pitchFamily="18" charset="0"/>
                            </a:rPr>
                            <m:t>=1</m:t>
                          </m:r>
                        </m:e>
                        <m:e>
                          <m:r>
                            <a:rPr lang="es-ES" altLang="zh-CN" sz="2000" i="1">
                              <a:latin typeface="Cambria Math" panose="02040503050406030204" pitchFamily="18" charset="0"/>
                            </a:rPr>
                            <m:t>𝑦</m:t>
                          </m:r>
                          <m:r>
                            <a:rPr lang="es-ES" altLang="zh-CN" sz="2000" i="1">
                              <a:latin typeface="Cambria Math" panose="02040503050406030204" pitchFamily="18" charset="0"/>
                            </a:rPr>
                            <m:t>=0</m:t>
                          </m:r>
                        </m:e>
                      </m:d>
                      <m:r>
                        <a:rPr lang="es-ES" altLang="zh-CN" sz="2000" i="1">
                          <a:latin typeface="Cambria Math" panose="02040503050406030204" pitchFamily="18" charset="0"/>
                        </a:rPr>
                        <m:t>𝑞</m:t>
                      </m:r>
                      <m:d>
                        <m:dPr>
                          <m:ctrlPr>
                            <a:rPr lang="es-ES" altLang="zh-CN" sz="2000" i="1">
                              <a:latin typeface="Cambria Math" panose="02040503050406030204" pitchFamily="18" charset="0"/>
                            </a:rPr>
                          </m:ctrlPr>
                        </m:dPr>
                        <m:e>
                          <m:r>
                            <a:rPr lang="es-ES" altLang="zh-CN" sz="2000" i="1">
                              <a:latin typeface="Cambria Math" panose="02040503050406030204" pitchFamily="18" charset="0"/>
                            </a:rPr>
                            <m:t>𝑦</m:t>
                          </m:r>
                          <m:r>
                            <a:rPr lang="es-ES" altLang="zh-CN" sz="2000" i="1">
                              <a:latin typeface="Cambria Math" panose="02040503050406030204" pitchFamily="18" charset="0"/>
                            </a:rPr>
                            <m:t>=0</m:t>
                          </m:r>
                        </m:e>
                      </m:d>
                    </m:oMath>
                  </m:oMathPara>
                </a14:m>
                <a:endParaRPr lang="en-US" altLang="zh-CN" sz="2000" dirty="0"/>
              </a:p>
              <a:p>
                <a:endParaRPr lang="zh-CN" altLang="en-US" sz="2000" dirty="0"/>
              </a:p>
            </p:txBody>
          </p:sp>
        </mc:Choice>
        <mc:Fallback xmlns="">
          <p:sp>
            <p:nvSpPr>
              <p:cNvPr id="10" name="文本框 9">
                <a:extLst>
                  <a:ext uri="{FF2B5EF4-FFF2-40B4-BE49-F238E27FC236}">
                    <a16:creationId xmlns:a16="http://schemas.microsoft.com/office/drawing/2014/main" id="{85125C91-64B6-BFC9-A17A-0E0628AE7C9F}"/>
                  </a:ext>
                </a:extLst>
              </p:cNvPr>
              <p:cNvSpPr txBox="1">
                <a:spLocks noRot="1" noChangeAspect="1" noMove="1" noResize="1" noEditPoints="1" noAdjustHandles="1" noChangeArrowheads="1" noChangeShapeType="1" noTextEdit="1"/>
              </p:cNvSpPr>
              <p:nvPr/>
            </p:nvSpPr>
            <p:spPr>
              <a:xfrm>
                <a:off x="1561179" y="4127864"/>
                <a:ext cx="8750409" cy="615553"/>
              </a:xfrm>
              <a:prstGeom prst="rect">
                <a:avLst/>
              </a:prstGeom>
              <a:blipFill>
                <a:blip r:embed="rId9"/>
                <a:stretch>
                  <a:fillRect t="-89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E42982D-26E5-432F-91CB-3C50CF587B1D}"/>
                  </a:ext>
                </a:extLst>
              </p:cNvPr>
              <p:cNvSpPr txBox="1"/>
              <p:nvPr/>
            </p:nvSpPr>
            <p:spPr>
              <a:xfrm>
                <a:off x="3453995" y="5394797"/>
                <a:ext cx="464832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rPr>
                        <m:t>=</m:t>
                      </m:r>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𝑦</m:t>
                              </m:r>
                            </m:e>
                          </m:acc>
                          <m:r>
                            <a:rPr lang="en-US" altLang="zh-CN" sz="2000" i="1">
                              <a:latin typeface="Cambria Math" panose="02040503050406030204" pitchFamily="18" charset="0"/>
                            </a:rPr>
                            <m:t>=1,</m:t>
                          </m:r>
                          <m:r>
                            <a:rPr lang="en-US" altLang="zh-CN" sz="2000" i="1">
                              <a:latin typeface="Cambria Math" panose="02040503050406030204" pitchFamily="18" charset="0"/>
                            </a:rPr>
                            <m:t>𝑦</m:t>
                          </m:r>
                          <m:r>
                            <a:rPr lang="en-US" altLang="zh-CN" sz="2000" i="1">
                              <a:latin typeface="Cambria Math" panose="02040503050406030204" pitchFamily="18" charset="0"/>
                            </a:rPr>
                            <m:t>=1</m:t>
                          </m:r>
                        </m:e>
                      </m:d>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𝑦</m:t>
                              </m:r>
                            </m:e>
                          </m:acc>
                          <m:r>
                            <a:rPr lang="en-US" altLang="zh-CN" sz="2000" i="1">
                              <a:latin typeface="Cambria Math" panose="02040503050406030204" pitchFamily="18" charset="0"/>
                            </a:rPr>
                            <m:t>=1,</m:t>
                          </m:r>
                          <m:r>
                            <a:rPr lang="en-US" altLang="zh-CN" sz="2000" i="1">
                              <a:latin typeface="Cambria Math" panose="02040503050406030204" pitchFamily="18" charset="0"/>
                            </a:rPr>
                            <m:t>𝑦</m:t>
                          </m:r>
                          <m:r>
                            <a:rPr lang="en-US" altLang="zh-CN" sz="2000" i="1">
                              <a:latin typeface="Cambria Math" panose="02040503050406030204" pitchFamily="18" charset="0"/>
                            </a:rPr>
                            <m:t>=0</m:t>
                          </m:r>
                        </m:e>
                      </m:d>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0</m:t>
                          </m:r>
                        </m:sub>
                      </m:sSub>
                    </m:oMath>
                  </m:oMathPara>
                </a14:m>
                <a:endParaRPr lang="en-US" altLang="zh-CN" sz="2000" dirty="0"/>
              </a:p>
            </p:txBody>
          </p:sp>
        </mc:Choice>
        <mc:Fallback xmlns="">
          <p:sp>
            <p:nvSpPr>
              <p:cNvPr id="11" name="文本框 10">
                <a:extLst>
                  <a:ext uri="{FF2B5EF4-FFF2-40B4-BE49-F238E27FC236}">
                    <a16:creationId xmlns:a16="http://schemas.microsoft.com/office/drawing/2014/main" id="{9E42982D-26E5-432F-91CB-3C50CF587B1D}"/>
                  </a:ext>
                </a:extLst>
              </p:cNvPr>
              <p:cNvSpPr txBox="1">
                <a:spLocks noRot="1" noChangeAspect="1" noMove="1" noResize="1" noEditPoints="1" noAdjustHandles="1" noChangeArrowheads="1" noChangeShapeType="1" noTextEdit="1"/>
              </p:cNvSpPr>
              <p:nvPr/>
            </p:nvSpPr>
            <p:spPr>
              <a:xfrm>
                <a:off x="3453995" y="5394797"/>
                <a:ext cx="4648324" cy="307777"/>
              </a:xfrm>
              <a:prstGeom prst="rect">
                <a:avLst/>
              </a:prstGeom>
              <a:blipFill>
                <a:blip r:embed="rId10"/>
                <a:stretch>
                  <a:fillRect l="-131" t="-20000" b="-3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58A42009-ECD6-068C-C3E0-7420447FAD67}"/>
                  </a:ext>
                </a:extLst>
              </p:cNvPr>
              <p:cNvSpPr txBox="1"/>
              <p:nvPr/>
            </p:nvSpPr>
            <p:spPr>
              <a:xfrm>
                <a:off x="1461050" y="5850646"/>
                <a:ext cx="8040687"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000" i="1">
                          <a:latin typeface="Cambria Math" panose="02040503050406030204" pitchFamily="18" charset="0"/>
                        </a:rPr>
                        <m:t>Similarl</m:t>
                      </m:r>
                      <m:r>
                        <m:rPr>
                          <m:sty m:val="p"/>
                        </m:rPr>
                        <a:rPr lang="en-US" altLang="zh-CN" sz="2000" b="0" i="1" smtClean="0">
                          <a:latin typeface="Cambria Math" panose="02040503050406030204" pitchFamily="18" charset="0"/>
                        </a:rPr>
                        <m:t>y</m:t>
                      </m:r>
                      <m:r>
                        <a:rPr lang="en-US" altLang="zh-CN" sz="2000" b="0" i="1" smtClean="0">
                          <a:latin typeface="Cambria Math" panose="02040503050406030204" pitchFamily="18" charset="0"/>
                        </a:rPr>
                        <m:t>,</m:t>
                      </m:r>
                      <m:r>
                        <a:rPr lang="es-ES" altLang="zh-CN" sz="2000" i="1">
                          <a:latin typeface="Cambria Math" panose="02040503050406030204" pitchFamily="18" charset="0"/>
                        </a:rPr>
                        <m:t>𝑞</m:t>
                      </m:r>
                      <m:d>
                        <m:dPr>
                          <m:ctrlPr>
                            <a:rPr lang="es-ES" altLang="zh-CN" sz="2000" i="1">
                              <a:latin typeface="Cambria Math" panose="02040503050406030204" pitchFamily="18" charset="0"/>
                            </a:rPr>
                          </m:ctrlPr>
                        </m:dPr>
                        <m:e>
                          <m:acc>
                            <m:accPr>
                              <m:chr m:val="̂"/>
                              <m:ctrlPr>
                                <a:rPr lang="es-ES" altLang="zh-CN" sz="2000" i="1">
                                  <a:latin typeface="Cambria Math" panose="02040503050406030204" pitchFamily="18" charset="0"/>
                                </a:rPr>
                              </m:ctrlPr>
                            </m:accPr>
                            <m:e>
                              <m:r>
                                <a:rPr lang="es-ES" altLang="zh-CN" sz="2000" i="1">
                                  <a:latin typeface="Cambria Math" panose="02040503050406030204" pitchFamily="18" charset="0"/>
                                </a:rPr>
                                <m:t>𝑦</m:t>
                              </m:r>
                            </m:e>
                          </m:acc>
                          <m:r>
                            <a:rPr lang="es-ES" altLang="zh-CN" sz="2000" i="1">
                              <a:latin typeface="Cambria Math" panose="02040503050406030204" pitchFamily="18" charset="0"/>
                            </a:rPr>
                            <m:t>=</m:t>
                          </m:r>
                          <m:r>
                            <a:rPr lang="en-US" altLang="zh-CN" sz="2000" b="0" i="1" smtClean="0">
                              <a:latin typeface="Cambria Math" panose="02040503050406030204" pitchFamily="18" charset="0"/>
                            </a:rPr>
                            <m:t>0</m:t>
                          </m:r>
                        </m:e>
                      </m:d>
                      <m:r>
                        <a:rPr lang="en-US" altLang="zh-CN" sz="2000" i="1" smtClean="0">
                          <a:latin typeface="Cambria Math" panose="02040503050406030204" pitchFamily="18" charset="0"/>
                        </a:rPr>
                        <m:t>=</m:t>
                      </m:r>
                      <m:r>
                        <a:rPr lang="en-US" altLang="zh-CN" sz="2000" i="1" smtClean="0">
                          <a:latin typeface="Cambria Math" panose="02040503050406030204" pitchFamily="18" charset="0"/>
                        </a:rPr>
                        <m:t>𝑝</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𝑦</m:t>
                              </m:r>
                            </m:e>
                          </m:acc>
                          <m:r>
                            <a:rPr lang="en-US" altLang="zh-CN" sz="2000" i="1">
                              <a:latin typeface="Cambria Math" panose="02040503050406030204" pitchFamily="18" charset="0"/>
                            </a:rPr>
                            <m:t>=</m:t>
                          </m:r>
                          <m:r>
                            <a:rPr lang="en-US" altLang="zh-CN" sz="2000" b="0" i="1" smtClean="0">
                              <a:latin typeface="Cambria Math" panose="02040503050406030204" pitchFamily="18" charset="0"/>
                            </a:rPr>
                            <m:t>0</m:t>
                          </m:r>
                          <m:r>
                            <a:rPr lang="en-US" altLang="zh-CN" sz="2000" i="1">
                              <a:latin typeface="Cambria Math" panose="02040503050406030204" pitchFamily="18" charset="0"/>
                            </a:rPr>
                            <m:t>,</m:t>
                          </m:r>
                          <m:r>
                            <a:rPr lang="en-US" altLang="zh-CN" sz="2000" i="1">
                              <a:latin typeface="Cambria Math" panose="02040503050406030204" pitchFamily="18" charset="0"/>
                            </a:rPr>
                            <m:t>𝑦</m:t>
                          </m:r>
                          <m:r>
                            <a:rPr lang="en-US" altLang="zh-CN" sz="2000" i="1">
                              <a:latin typeface="Cambria Math" panose="02040503050406030204" pitchFamily="18" charset="0"/>
                            </a:rPr>
                            <m:t>=1</m:t>
                          </m:r>
                        </m:e>
                      </m:d>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𝑦</m:t>
                              </m:r>
                            </m:e>
                          </m:acc>
                          <m:r>
                            <a:rPr lang="en-US" altLang="zh-CN" sz="2000" i="1">
                              <a:latin typeface="Cambria Math" panose="02040503050406030204" pitchFamily="18" charset="0"/>
                            </a:rPr>
                            <m:t>=</m:t>
                          </m:r>
                          <m:r>
                            <a:rPr lang="en-US" altLang="zh-CN" sz="2000" b="0" i="1" smtClean="0">
                              <a:latin typeface="Cambria Math" panose="02040503050406030204" pitchFamily="18" charset="0"/>
                            </a:rPr>
                            <m:t>0</m:t>
                          </m:r>
                          <m:r>
                            <a:rPr lang="en-US" altLang="zh-CN" sz="2000" i="1">
                              <a:latin typeface="Cambria Math" panose="02040503050406030204" pitchFamily="18" charset="0"/>
                            </a:rPr>
                            <m:t>,</m:t>
                          </m:r>
                          <m:r>
                            <a:rPr lang="en-US" altLang="zh-CN" sz="2000" i="1">
                              <a:latin typeface="Cambria Math" panose="02040503050406030204" pitchFamily="18" charset="0"/>
                            </a:rPr>
                            <m:t>𝑦</m:t>
                          </m:r>
                          <m:r>
                            <a:rPr lang="en-US" altLang="zh-CN" sz="2000" i="1">
                              <a:latin typeface="Cambria Math" panose="02040503050406030204" pitchFamily="18" charset="0"/>
                            </a:rPr>
                            <m:t>=0</m:t>
                          </m:r>
                        </m:e>
                      </m:d>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0</m:t>
                          </m:r>
                        </m:sub>
                      </m:sSub>
                    </m:oMath>
                  </m:oMathPara>
                </a14:m>
                <a:endParaRPr lang="en-US" altLang="zh-CN" sz="2000" dirty="0"/>
              </a:p>
            </p:txBody>
          </p:sp>
        </mc:Choice>
        <mc:Fallback xmlns="">
          <p:sp>
            <p:nvSpPr>
              <p:cNvPr id="13" name="文本框 12">
                <a:extLst>
                  <a:ext uri="{FF2B5EF4-FFF2-40B4-BE49-F238E27FC236}">
                    <a16:creationId xmlns:a16="http://schemas.microsoft.com/office/drawing/2014/main" id="{58A42009-ECD6-068C-C3E0-7420447FAD67}"/>
                  </a:ext>
                </a:extLst>
              </p:cNvPr>
              <p:cNvSpPr txBox="1">
                <a:spLocks noRot="1" noChangeAspect="1" noMove="1" noResize="1" noEditPoints="1" noAdjustHandles="1" noChangeArrowheads="1" noChangeShapeType="1" noTextEdit="1"/>
              </p:cNvSpPr>
              <p:nvPr/>
            </p:nvSpPr>
            <p:spPr>
              <a:xfrm>
                <a:off x="1461050" y="5850646"/>
                <a:ext cx="8040687" cy="400110"/>
              </a:xfrm>
              <a:prstGeom prst="rect">
                <a:avLst/>
              </a:prstGeom>
              <a:blipFill>
                <a:blip r:embed="rId11"/>
                <a:stretch>
                  <a:fillRect t="-3077" b="-1076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build="p"/>
      <p:bldP spid="4" grpId="0"/>
      <p:bldP spid="5" grpId="0"/>
      <p:bldP spid="6" grpId="0"/>
      <p:bldP spid="7" grpId="0"/>
      <p:bldP spid="8" grpId="0"/>
      <p:bldP spid="10" grpId="0"/>
      <p:bldP spid="11"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g3d44f2775a5_0_51"/>
          <p:cNvSpPr txBox="1">
            <a:spLocks noGrp="1"/>
          </p:cNvSpPr>
          <p:nvPr>
            <p:ph type="title"/>
          </p:nvPr>
        </p:nvSpPr>
        <p:spPr>
          <a:xfrm>
            <a:off x="1461050" y="344764"/>
            <a:ext cx="9892800" cy="877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200"/>
              <a:buFont typeface="Cormorant"/>
              <a:buNone/>
            </a:pPr>
            <a:r>
              <a:rPr lang="en-US"/>
              <a:t>EM Algorithm &amp; MLLS</a:t>
            </a:r>
            <a:endParaRPr>
              <a:solidFill>
                <a:srgbClr val="8C6D2C"/>
              </a:solidFill>
            </a:endParaRPr>
          </a:p>
        </p:txBody>
      </p:sp>
      <p:sp>
        <p:nvSpPr>
          <p:cNvPr id="120" name="Google Shape;120;g3d44f2775a5_0_51"/>
          <p:cNvSpPr txBox="1">
            <a:spLocks noGrp="1"/>
          </p:cNvSpPr>
          <p:nvPr>
            <p:ph type="body" idx="1"/>
          </p:nvPr>
        </p:nvSpPr>
        <p:spPr>
          <a:xfrm>
            <a:off x="1461050" y="1401425"/>
            <a:ext cx="10731000" cy="4775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sz="2500" dirty="0">
                <a:latin typeface="Times New Roman"/>
                <a:ea typeface="Times New Roman"/>
                <a:cs typeface="Times New Roman"/>
                <a:sym typeface="Times New Roman"/>
              </a:rPr>
              <a:t>Steps to use EM Algorithm</a:t>
            </a:r>
            <a:endParaRPr sz="2500" dirty="0">
              <a:latin typeface="Times New Roman"/>
              <a:ea typeface="Times New Roman"/>
              <a:cs typeface="Times New Roman"/>
              <a:sym typeface="Times New Roman"/>
            </a:endParaRPr>
          </a:p>
          <a:p>
            <a:pPr marL="0" lvl="0" indent="0" algn="l" rtl="0">
              <a:lnSpc>
                <a:spcPct val="90000"/>
              </a:lnSpc>
              <a:spcBef>
                <a:spcPts val="0"/>
              </a:spcBef>
              <a:spcAft>
                <a:spcPts val="0"/>
              </a:spcAft>
              <a:buSzPts val="1800"/>
              <a:buNone/>
            </a:pPr>
            <a:endParaRPr sz="2500" dirty="0">
              <a:latin typeface="Times New Roman"/>
              <a:ea typeface="Times New Roman"/>
              <a:cs typeface="Times New Roman"/>
              <a:sym typeface="Times New Roman"/>
            </a:endParaRPr>
          </a:p>
          <a:p>
            <a:pPr marL="457200" lvl="0" indent="-387350" algn="l" rtl="0">
              <a:lnSpc>
                <a:spcPct val="15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Train a probabilistic classifier on the source data and predict on the target data. </a:t>
            </a:r>
            <a:endParaRPr sz="2500" dirty="0">
              <a:latin typeface="Times New Roman"/>
              <a:ea typeface="Times New Roman"/>
              <a:cs typeface="Times New Roman"/>
              <a:sym typeface="Times New Roman"/>
            </a:endParaRPr>
          </a:p>
          <a:p>
            <a:pPr marL="457200" lvl="0" indent="-387350" algn="l" rtl="0">
              <a:lnSpc>
                <a:spcPct val="15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Initialize the target class proportions using the source class proportions.</a:t>
            </a:r>
            <a:endParaRPr sz="2500" dirty="0">
              <a:latin typeface="Times New Roman"/>
              <a:ea typeface="Times New Roman"/>
              <a:cs typeface="Times New Roman"/>
              <a:sym typeface="Times New Roman"/>
            </a:endParaRPr>
          </a:p>
          <a:p>
            <a:pPr marL="457200" lvl="0" indent="-387350" algn="l" rtl="0">
              <a:lnSpc>
                <a:spcPct val="15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compute soft labels for target observations.</a:t>
            </a:r>
            <a:endParaRPr sz="2500" dirty="0">
              <a:latin typeface="Times New Roman"/>
              <a:ea typeface="Times New Roman"/>
              <a:cs typeface="Times New Roman"/>
              <a:sym typeface="Times New Roman"/>
            </a:endParaRPr>
          </a:p>
          <a:p>
            <a:pPr marL="457200" lvl="0" indent="-387350" algn="l" rtl="0">
              <a:lnSpc>
                <a:spcPct val="15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update the target class proportions.</a:t>
            </a:r>
            <a:endParaRPr sz="2500" dirty="0">
              <a:latin typeface="Times New Roman"/>
              <a:ea typeface="Times New Roman"/>
              <a:cs typeface="Times New Roman"/>
              <a:sym typeface="Times New Roman"/>
            </a:endParaRPr>
          </a:p>
          <a:p>
            <a:pPr marL="457200" lvl="0" indent="-387350" algn="l" rtl="0">
              <a:lnSpc>
                <a:spcPct val="150000"/>
              </a:lnSpc>
              <a:spcBef>
                <a:spcPts val="0"/>
              </a:spcBef>
              <a:spcAft>
                <a:spcPts val="0"/>
              </a:spcAft>
              <a:buSzPts val="2500"/>
              <a:buFont typeface="Times New Roman"/>
              <a:buChar char="●"/>
            </a:pPr>
            <a:r>
              <a:rPr lang="en-US" sz="2500" dirty="0">
                <a:latin typeface="Times New Roman"/>
                <a:ea typeface="Times New Roman"/>
                <a:cs typeface="Times New Roman"/>
                <a:sym typeface="Times New Roman"/>
              </a:rPr>
              <a:t>Repeat until convergence, then convert the result into label-shift weights.</a:t>
            </a:r>
            <a:endParaRPr sz="2500" dirty="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3d44f2775a5_0_56"/>
          <p:cNvSpPr txBox="1">
            <a:spLocks noGrp="1"/>
          </p:cNvSpPr>
          <p:nvPr>
            <p:ph type="title"/>
          </p:nvPr>
        </p:nvSpPr>
        <p:spPr>
          <a:xfrm>
            <a:off x="1461050" y="344764"/>
            <a:ext cx="9892800" cy="877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200"/>
              <a:buFont typeface="Cormorant"/>
              <a:buNone/>
            </a:pPr>
            <a:r>
              <a:rPr lang="en-US"/>
              <a:t>Label Shift Correction</a:t>
            </a:r>
            <a:endParaRPr>
              <a:solidFill>
                <a:srgbClr val="8C6D2C"/>
              </a:solidFill>
            </a:endParaRPr>
          </a:p>
        </p:txBody>
      </p:sp>
      <mc:AlternateContent xmlns:mc="http://schemas.openxmlformats.org/markup-compatibility/2006" xmlns:a14="http://schemas.microsoft.com/office/drawing/2010/main">
        <mc:Choice Requires="a14">
          <p:sp>
            <p:nvSpPr>
              <p:cNvPr id="126" name="Google Shape;126;g3d44f2775a5_0_56"/>
              <p:cNvSpPr txBox="1">
                <a:spLocks noGrp="1"/>
              </p:cNvSpPr>
              <p:nvPr>
                <p:ph type="body" idx="1"/>
              </p:nvPr>
            </p:nvSpPr>
            <p:spPr>
              <a:xfrm>
                <a:off x="1278850" y="1221964"/>
                <a:ext cx="10622700" cy="4954861"/>
              </a:xfrm>
              <a:prstGeom prst="rect">
                <a:avLst/>
              </a:prstGeom>
              <a:noFill/>
              <a:ln>
                <a:noFill/>
              </a:ln>
            </p:spPr>
            <p:txBody>
              <a:bodyPr spcFirstLastPara="1" wrap="square" lIns="91425" tIns="45700" rIns="91425" bIns="45700" anchor="t" anchorCtr="0">
                <a:normAutofit fontScale="92500"/>
              </a:bodyPr>
              <a:lstStyle/>
              <a:p>
                <a:pPr marL="0" lvl="0" indent="0" algn="l" rtl="0">
                  <a:lnSpc>
                    <a:spcPct val="170000"/>
                  </a:lnSpc>
                  <a:spcBef>
                    <a:spcPts val="0"/>
                  </a:spcBef>
                  <a:spcAft>
                    <a:spcPts val="0"/>
                  </a:spcAft>
                  <a:buSzPts val="1800"/>
                  <a:buNone/>
                </a:pPr>
                <a:r>
                  <a:rPr lang="en-US" sz="1800" dirty="0">
                    <a:latin typeface="Times New Roman"/>
                    <a:ea typeface="Times New Roman"/>
                    <a:cs typeface="Times New Roman"/>
                    <a:sym typeface="Times New Roman"/>
                  </a:rPr>
                  <a:t>After we estimate the weight, how can we correct for label shift?</a:t>
                </a:r>
                <a:endParaRPr sz="1800" dirty="0">
                  <a:latin typeface="Times New Roman"/>
                  <a:ea typeface="Times New Roman"/>
                  <a:cs typeface="Times New Roman"/>
                  <a:sym typeface="Times New Roman"/>
                </a:endParaRPr>
              </a:p>
              <a:p>
                <a:pPr lvl="0" indent="-387350">
                  <a:lnSpc>
                    <a:spcPct val="170000"/>
                  </a:lnSpc>
                  <a:spcBef>
                    <a:spcPts val="0"/>
                  </a:spcBef>
                  <a:buSzPts val="2500"/>
                  <a:buFont typeface="Times New Roman"/>
                  <a:buChar char="●"/>
                </a:pPr>
                <a:r>
                  <a:rPr lang="en-US" sz="1800" dirty="0">
                    <a:latin typeface="Times New Roman"/>
                    <a:ea typeface="Times New Roman"/>
                    <a:cs typeface="Times New Roman"/>
                    <a:sym typeface="Times New Roman"/>
                  </a:rPr>
                  <a:t>With Bayes’ Rule, we have </a:t>
                </a:r>
                <a14:m>
                  <m:oMath xmlns:m="http://schemas.openxmlformats.org/officeDocument/2006/math">
                    <m:r>
                      <a:rPr lang="es-ES" sz="1800" i="1" dirty="0" smtClean="0">
                        <a:latin typeface="Cambria Math" panose="02040503050406030204" pitchFamily="18" charset="0"/>
                        <a:ea typeface="Times New Roman"/>
                        <a:cs typeface="Times New Roman"/>
                        <a:sym typeface="Times New Roman"/>
                      </a:rPr>
                      <m:t>𝑞</m:t>
                    </m:r>
                    <m:d>
                      <m:dPr>
                        <m:sepChr m:val="∣"/>
                        <m:ctrlPr>
                          <a:rPr lang="es-ES" sz="1800" i="1" dirty="0" smtClean="0">
                            <a:latin typeface="Cambria Math" panose="02040503050406030204" pitchFamily="18" charset="0"/>
                            <a:ea typeface="Times New Roman"/>
                            <a:cs typeface="Times New Roman"/>
                            <a:sym typeface="Times New Roman"/>
                          </a:rPr>
                        </m:ctrlPr>
                      </m:dPr>
                      <m:e>
                        <m:r>
                          <a:rPr lang="es-ES" sz="1800" i="1" dirty="0" smtClean="0">
                            <a:latin typeface="Cambria Math" panose="02040503050406030204" pitchFamily="18" charset="0"/>
                            <a:ea typeface="Times New Roman"/>
                            <a:cs typeface="Times New Roman"/>
                            <a:sym typeface="Times New Roman"/>
                          </a:rPr>
                          <m:t>𝑦</m:t>
                        </m:r>
                        <m:r>
                          <a:rPr lang="es-ES" sz="1800" i="1" dirty="0" smtClean="0">
                            <a:latin typeface="Cambria Math" panose="02040503050406030204" pitchFamily="18" charset="0"/>
                            <a:ea typeface="Times New Roman"/>
                            <a:cs typeface="Times New Roman"/>
                            <a:sym typeface="Times New Roman"/>
                          </a:rPr>
                          <m:t>=</m:t>
                        </m:r>
                        <m:r>
                          <a:rPr lang="es-ES" sz="1800" i="1" dirty="0" smtClean="0">
                            <a:latin typeface="Cambria Math" panose="02040503050406030204" pitchFamily="18" charset="0"/>
                            <a:ea typeface="Times New Roman"/>
                            <a:cs typeface="Times New Roman"/>
                            <a:sym typeface="Times New Roman"/>
                          </a:rPr>
                          <m:t>𝑗</m:t>
                        </m:r>
                      </m:e>
                      <m:e>
                        <m:r>
                          <a:rPr lang="es-ES" sz="1800" i="1" dirty="0" smtClean="0">
                            <a:latin typeface="Cambria Math" panose="02040503050406030204" pitchFamily="18" charset="0"/>
                            <a:ea typeface="Times New Roman"/>
                            <a:cs typeface="Times New Roman"/>
                            <a:sym typeface="Times New Roman"/>
                          </a:rPr>
                          <m:t>𝑥</m:t>
                        </m:r>
                      </m:e>
                    </m:d>
                    <m:r>
                      <a:rPr lang="es-ES" sz="1800" i="1" dirty="0" smtClean="0">
                        <a:latin typeface="Cambria Math" panose="02040503050406030204" pitchFamily="18" charset="0"/>
                        <a:ea typeface="Times New Roman"/>
                        <a:cs typeface="Times New Roman"/>
                        <a:sym typeface="Times New Roman"/>
                      </a:rPr>
                      <m:t>=</m:t>
                    </m:r>
                    <m:f>
                      <m:fPr>
                        <m:ctrlPr>
                          <a:rPr lang="es-ES" sz="1800" i="1" dirty="0" smtClean="0">
                            <a:latin typeface="Cambria Math" panose="02040503050406030204" pitchFamily="18" charset="0"/>
                            <a:ea typeface="Times New Roman"/>
                            <a:cs typeface="Times New Roman"/>
                            <a:sym typeface="Times New Roman"/>
                          </a:rPr>
                        </m:ctrlPr>
                      </m:fPr>
                      <m:num>
                        <m:r>
                          <a:rPr lang="es-ES" sz="1800" i="1" dirty="0" smtClean="0">
                            <a:latin typeface="Cambria Math" panose="02040503050406030204" pitchFamily="18" charset="0"/>
                            <a:ea typeface="Times New Roman"/>
                            <a:cs typeface="Times New Roman"/>
                            <a:sym typeface="Times New Roman"/>
                          </a:rPr>
                          <m:t>𝑞</m:t>
                        </m:r>
                        <m:d>
                          <m:dPr>
                            <m:ctrlPr>
                              <a:rPr lang="es-ES" sz="1800" i="1" dirty="0" smtClean="0">
                                <a:latin typeface="Cambria Math" panose="02040503050406030204" pitchFamily="18" charset="0"/>
                                <a:ea typeface="Times New Roman"/>
                                <a:cs typeface="Times New Roman"/>
                                <a:sym typeface="Times New Roman"/>
                              </a:rPr>
                            </m:ctrlPr>
                          </m:dPr>
                          <m:e>
                            <m:r>
                              <a:rPr lang="es-ES" sz="1800" i="1" dirty="0" smtClean="0">
                                <a:latin typeface="Cambria Math" panose="02040503050406030204" pitchFamily="18" charset="0"/>
                                <a:ea typeface="Times New Roman"/>
                                <a:cs typeface="Times New Roman"/>
                                <a:sym typeface="Times New Roman"/>
                              </a:rPr>
                              <m:t>𝑦</m:t>
                            </m:r>
                            <m:r>
                              <a:rPr lang="es-ES" sz="1800" i="1" dirty="0" smtClean="0">
                                <a:latin typeface="Cambria Math" panose="02040503050406030204" pitchFamily="18" charset="0"/>
                                <a:ea typeface="Times New Roman"/>
                                <a:cs typeface="Times New Roman"/>
                                <a:sym typeface="Times New Roman"/>
                              </a:rPr>
                              <m:t>=</m:t>
                            </m:r>
                            <m:r>
                              <a:rPr lang="es-ES" sz="1800" i="1" dirty="0" smtClean="0">
                                <a:latin typeface="Cambria Math" panose="02040503050406030204" pitchFamily="18" charset="0"/>
                                <a:ea typeface="Times New Roman"/>
                                <a:cs typeface="Times New Roman"/>
                                <a:sym typeface="Times New Roman"/>
                              </a:rPr>
                              <m:t>𝑗</m:t>
                            </m:r>
                          </m:e>
                        </m:d>
                        <m:r>
                          <a:rPr lang="en-US" sz="1800" b="0" i="1" dirty="0" smtClean="0">
                            <a:latin typeface="Cambria Math" panose="02040503050406030204" pitchFamily="18" charset="0"/>
                            <a:ea typeface="Times New Roman"/>
                            <a:cs typeface="Times New Roman"/>
                            <a:sym typeface="Times New Roman"/>
                          </a:rPr>
                          <m:t> </m:t>
                        </m:r>
                        <m:r>
                          <a:rPr lang="es-ES" sz="1800" i="1" dirty="0">
                            <a:latin typeface="Cambria Math" panose="02040503050406030204" pitchFamily="18" charset="0"/>
                            <a:ea typeface="Times New Roman"/>
                            <a:cs typeface="Times New Roman"/>
                            <a:sym typeface="Times New Roman"/>
                          </a:rPr>
                          <m:t>𝑞</m:t>
                        </m:r>
                        <m:d>
                          <m:dPr>
                            <m:sepChr m:val="∣"/>
                            <m:ctrlPr>
                              <a:rPr lang="es-ES" sz="1800" i="1" dirty="0">
                                <a:latin typeface="Cambria Math" panose="02040503050406030204" pitchFamily="18" charset="0"/>
                                <a:ea typeface="Times New Roman"/>
                                <a:cs typeface="Times New Roman"/>
                                <a:sym typeface="Times New Roman"/>
                              </a:rPr>
                            </m:ctrlPr>
                          </m:dPr>
                          <m:e>
                            <m:r>
                              <a:rPr lang="es-ES" sz="1800" i="1" dirty="0">
                                <a:latin typeface="Cambria Math" panose="02040503050406030204" pitchFamily="18" charset="0"/>
                                <a:ea typeface="Times New Roman"/>
                                <a:cs typeface="Times New Roman"/>
                                <a:sym typeface="Times New Roman"/>
                              </a:rPr>
                              <m:t>𝑥</m:t>
                            </m:r>
                          </m:e>
                          <m:e>
                            <m:r>
                              <a:rPr lang="es-ES" sz="1800" i="1" dirty="0">
                                <a:latin typeface="Cambria Math" panose="02040503050406030204" pitchFamily="18" charset="0"/>
                                <a:ea typeface="Times New Roman"/>
                                <a:cs typeface="Times New Roman"/>
                                <a:sym typeface="Times New Roman"/>
                              </a:rPr>
                              <m:t>𝑦</m:t>
                            </m:r>
                            <m:r>
                              <a:rPr lang="es-ES" sz="1800" i="1" dirty="0">
                                <a:latin typeface="Cambria Math" panose="02040503050406030204" pitchFamily="18" charset="0"/>
                                <a:ea typeface="Times New Roman"/>
                                <a:cs typeface="Times New Roman"/>
                                <a:sym typeface="Times New Roman"/>
                              </a:rPr>
                              <m:t>=</m:t>
                            </m:r>
                            <m:r>
                              <a:rPr lang="es-ES" sz="1800" i="1" dirty="0">
                                <a:latin typeface="Cambria Math" panose="02040503050406030204" pitchFamily="18" charset="0"/>
                                <a:ea typeface="Times New Roman"/>
                                <a:cs typeface="Times New Roman"/>
                                <a:sym typeface="Times New Roman"/>
                              </a:rPr>
                              <m:t>𝑗</m:t>
                            </m:r>
                          </m:e>
                        </m:d>
                      </m:num>
                      <m:den>
                        <m:r>
                          <a:rPr lang="es-ES" sz="1800" i="1" dirty="0">
                            <a:latin typeface="Cambria Math" panose="02040503050406030204" pitchFamily="18" charset="0"/>
                            <a:ea typeface="Times New Roman"/>
                            <a:cs typeface="Times New Roman"/>
                            <a:sym typeface="Times New Roman"/>
                          </a:rPr>
                          <m:t>𝑞</m:t>
                        </m:r>
                        <m:d>
                          <m:dPr>
                            <m:ctrlPr>
                              <a:rPr lang="es-ES" sz="1800" i="1" dirty="0">
                                <a:latin typeface="Cambria Math" panose="02040503050406030204" pitchFamily="18" charset="0"/>
                                <a:ea typeface="Times New Roman"/>
                                <a:cs typeface="Times New Roman"/>
                                <a:sym typeface="Times New Roman"/>
                              </a:rPr>
                            </m:ctrlPr>
                          </m:dPr>
                          <m:e>
                            <m:r>
                              <a:rPr lang="es-ES" sz="1800" i="1" dirty="0">
                                <a:latin typeface="Cambria Math" panose="02040503050406030204" pitchFamily="18" charset="0"/>
                                <a:ea typeface="Times New Roman"/>
                                <a:cs typeface="Times New Roman"/>
                                <a:sym typeface="Times New Roman"/>
                              </a:rPr>
                              <m:t>𝑥</m:t>
                            </m:r>
                          </m:e>
                        </m:d>
                      </m:den>
                    </m:f>
                  </m:oMath>
                </a14:m>
                <a:endParaRPr sz="1800" dirty="0">
                  <a:latin typeface="Times New Roman"/>
                  <a:ea typeface="Times New Roman"/>
                  <a:cs typeface="Times New Roman"/>
                  <a:sym typeface="Times New Roman"/>
                </a:endParaRPr>
              </a:p>
              <a:p>
                <a:pPr lvl="0" indent="-387350">
                  <a:lnSpc>
                    <a:spcPct val="120000"/>
                  </a:lnSpc>
                  <a:spcBef>
                    <a:spcPts val="0"/>
                  </a:spcBef>
                  <a:buSzPts val="2500"/>
                  <a:buFont typeface="Times New Roman"/>
                  <a:buChar char="●"/>
                </a:pPr>
                <a:r>
                  <a:rPr lang="en-US" sz="1800" dirty="0">
                    <a:latin typeface="Times New Roman"/>
                    <a:ea typeface="Times New Roman"/>
                    <a:cs typeface="Times New Roman"/>
                    <a:sym typeface="Times New Roman"/>
                  </a:rPr>
                  <a:t>Under Label Shift: </a:t>
                </a:r>
                <a14:m>
                  <m:oMath xmlns:m="http://schemas.openxmlformats.org/officeDocument/2006/math">
                    <m:r>
                      <a:rPr lang="en-US" sz="1800" i="1" dirty="0" smtClean="0">
                        <a:latin typeface="Cambria Math" panose="02040503050406030204" pitchFamily="18" charset="0"/>
                        <a:ea typeface="Times New Roman"/>
                        <a:cs typeface="Times New Roman"/>
                        <a:sym typeface="Times New Roman"/>
                      </a:rPr>
                      <m:t>𝑞</m:t>
                    </m:r>
                    <m:d>
                      <m:dPr>
                        <m:sepChr m:val="∣"/>
                        <m:ctrlPr>
                          <a:rPr lang="en-US" sz="1800" i="1" dirty="0" smtClean="0">
                            <a:latin typeface="Cambria Math" panose="02040503050406030204" pitchFamily="18" charset="0"/>
                            <a:ea typeface="Times New Roman"/>
                            <a:cs typeface="Times New Roman"/>
                            <a:sym typeface="Times New Roman"/>
                          </a:rPr>
                        </m:ctrlPr>
                      </m:dPr>
                      <m:e>
                        <m:r>
                          <a:rPr lang="en-US" sz="1800" i="1" dirty="0" smtClean="0">
                            <a:latin typeface="Cambria Math" panose="02040503050406030204" pitchFamily="18" charset="0"/>
                            <a:ea typeface="Times New Roman"/>
                            <a:cs typeface="Times New Roman"/>
                            <a:sym typeface="Times New Roman"/>
                          </a:rPr>
                          <m:t>𝑦</m:t>
                        </m:r>
                        <m:r>
                          <a:rPr lang="en-US" sz="1800" i="1" dirty="0" smtClean="0">
                            <a:latin typeface="Cambria Math" panose="02040503050406030204" pitchFamily="18" charset="0"/>
                            <a:ea typeface="Times New Roman"/>
                            <a:cs typeface="Times New Roman"/>
                            <a:sym typeface="Times New Roman"/>
                          </a:rPr>
                          <m:t>=</m:t>
                        </m:r>
                        <m:r>
                          <a:rPr lang="en-US" sz="1800" i="1" dirty="0" smtClean="0">
                            <a:latin typeface="Cambria Math" panose="02040503050406030204" pitchFamily="18" charset="0"/>
                            <a:ea typeface="Times New Roman"/>
                            <a:cs typeface="Times New Roman"/>
                            <a:sym typeface="Times New Roman"/>
                          </a:rPr>
                          <m:t>𝑗</m:t>
                        </m:r>
                      </m:e>
                      <m:e>
                        <m:r>
                          <a:rPr lang="en-US" sz="1800" i="1" dirty="0" smtClean="0">
                            <a:latin typeface="Cambria Math" panose="02040503050406030204" pitchFamily="18" charset="0"/>
                            <a:ea typeface="Times New Roman"/>
                            <a:cs typeface="Times New Roman"/>
                            <a:sym typeface="Times New Roman"/>
                          </a:rPr>
                          <m:t>𝑥</m:t>
                        </m:r>
                      </m:e>
                    </m:d>
                    <m:r>
                      <a:rPr lang="en-US" sz="1800" i="1" dirty="0" smtClean="0">
                        <a:latin typeface="Cambria Math" panose="02040503050406030204" pitchFamily="18" charset="0"/>
                        <a:ea typeface="Times New Roman"/>
                        <a:cs typeface="Times New Roman"/>
                        <a:sym typeface="Times New Roman"/>
                      </a:rPr>
                      <m:t>=</m:t>
                    </m:r>
                    <m:f>
                      <m:fPr>
                        <m:ctrlPr>
                          <a:rPr lang="en-US" sz="1800" i="1" dirty="0" smtClean="0">
                            <a:latin typeface="Cambria Math" panose="02040503050406030204" pitchFamily="18" charset="0"/>
                            <a:ea typeface="Times New Roman"/>
                            <a:cs typeface="Times New Roman"/>
                            <a:sym typeface="Times New Roman"/>
                          </a:rPr>
                        </m:ctrlPr>
                      </m:fPr>
                      <m:num>
                        <m:r>
                          <a:rPr lang="en-US" sz="1800" i="1" dirty="0" smtClean="0">
                            <a:latin typeface="Cambria Math" panose="02040503050406030204" pitchFamily="18" charset="0"/>
                            <a:ea typeface="Times New Roman"/>
                            <a:cs typeface="Times New Roman"/>
                            <a:sym typeface="Times New Roman"/>
                          </a:rPr>
                          <m:t>𝑞</m:t>
                        </m:r>
                        <m:d>
                          <m:dPr>
                            <m:ctrlPr>
                              <a:rPr lang="en-US" sz="1800" i="1" dirty="0" smtClean="0">
                                <a:latin typeface="Cambria Math" panose="02040503050406030204" pitchFamily="18" charset="0"/>
                                <a:ea typeface="Times New Roman"/>
                                <a:cs typeface="Times New Roman"/>
                                <a:sym typeface="Times New Roman"/>
                              </a:rPr>
                            </m:ctrlPr>
                          </m:dPr>
                          <m:e>
                            <m:r>
                              <a:rPr lang="en-US" sz="1800" i="1" dirty="0" smtClean="0">
                                <a:latin typeface="Cambria Math" panose="02040503050406030204" pitchFamily="18" charset="0"/>
                                <a:ea typeface="Times New Roman"/>
                                <a:cs typeface="Times New Roman"/>
                                <a:sym typeface="Times New Roman"/>
                              </a:rPr>
                              <m:t>𝑦</m:t>
                            </m:r>
                            <m:r>
                              <a:rPr lang="en-US" sz="1800" i="1" dirty="0" smtClean="0">
                                <a:latin typeface="Cambria Math" panose="02040503050406030204" pitchFamily="18" charset="0"/>
                                <a:ea typeface="Times New Roman"/>
                                <a:cs typeface="Times New Roman"/>
                                <a:sym typeface="Times New Roman"/>
                              </a:rPr>
                              <m:t>=</m:t>
                            </m:r>
                            <m:r>
                              <a:rPr lang="en-US" sz="1800" i="1" dirty="0" smtClean="0">
                                <a:latin typeface="Cambria Math" panose="02040503050406030204" pitchFamily="18" charset="0"/>
                                <a:ea typeface="Times New Roman"/>
                                <a:cs typeface="Times New Roman"/>
                                <a:sym typeface="Times New Roman"/>
                              </a:rPr>
                              <m:t>𝑗</m:t>
                            </m:r>
                          </m:e>
                        </m:d>
                        <m:r>
                          <a:rPr lang="en-US" sz="1800" b="0" i="1" dirty="0" smtClean="0">
                            <a:latin typeface="Cambria Math" panose="02040503050406030204" pitchFamily="18" charset="0"/>
                            <a:ea typeface="Times New Roman"/>
                            <a:cs typeface="Times New Roman"/>
                            <a:sym typeface="Times New Roman"/>
                          </a:rPr>
                          <m:t> </m:t>
                        </m:r>
                        <m:r>
                          <a:rPr lang="en-US" sz="1800" i="1" dirty="0">
                            <a:latin typeface="Cambria Math" panose="02040503050406030204" pitchFamily="18" charset="0"/>
                            <a:ea typeface="Times New Roman"/>
                            <a:cs typeface="Times New Roman"/>
                            <a:sym typeface="Times New Roman"/>
                          </a:rPr>
                          <m:t>𝑝</m:t>
                        </m:r>
                        <m:d>
                          <m:dPr>
                            <m:sepChr m:val="∣"/>
                            <m:ctrlPr>
                              <a:rPr lang="en-US" sz="1800" i="1" dirty="0">
                                <a:latin typeface="Cambria Math" panose="02040503050406030204" pitchFamily="18" charset="0"/>
                                <a:ea typeface="Times New Roman"/>
                                <a:cs typeface="Times New Roman"/>
                                <a:sym typeface="Times New Roman"/>
                              </a:rPr>
                            </m:ctrlPr>
                          </m:dPr>
                          <m:e>
                            <m:r>
                              <a:rPr lang="en-US" sz="1800" i="1" dirty="0">
                                <a:latin typeface="Cambria Math" panose="02040503050406030204" pitchFamily="18" charset="0"/>
                                <a:ea typeface="Times New Roman"/>
                                <a:cs typeface="Times New Roman"/>
                                <a:sym typeface="Times New Roman"/>
                              </a:rPr>
                              <m:t>𝑥</m:t>
                            </m:r>
                          </m:e>
                          <m:e>
                            <m:r>
                              <a:rPr lang="en-US" sz="1800" i="1" dirty="0">
                                <a:latin typeface="Cambria Math" panose="02040503050406030204" pitchFamily="18" charset="0"/>
                                <a:ea typeface="Times New Roman"/>
                                <a:cs typeface="Times New Roman"/>
                                <a:sym typeface="Times New Roman"/>
                              </a:rPr>
                              <m:t>𝑦</m:t>
                            </m:r>
                            <m:r>
                              <a:rPr lang="en-US" sz="1800" i="1" dirty="0">
                                <a:latin typeface="Cambria Math" panose="02040503050406030204" pitchFamily="18" charset="0"/>
                                <a:ea typeface="Times New Roman"/>
                                <a:cs typeface="Times New Roman"/>
                                <a:sym typeface="Times New Roman"/>
                              </a:rPr>
                              <m:t>=</m:t>
                            </m:r>
                            <m:r>
                              <a:rPr lang="en-US" sz="1800" i="1" dirty="0">
                                <a:latin typeface="Cambria Math" panose="02040503050406030204" pitchFamily="18" charset="0"/>
                                <a:ea typeface="Times New Roman"/>
                                <a:cs typeface="Times New Roman"/>
                                <a:sym typeface="Times New Roman"/>
                              </a:rPr>
                              <m:t>𝑗</m:t>
                            </m:r>
                          </m:e>
                        </m:d>
                      </m:num>
                      <m:den>
                        <m:nary>
                          <m:naryPr>
                            <m:chr m:val="∑"/>
                            <m:ctrlPr>
                              <a:rPr lang="en-US" sz="1800" i="1" dirty="0">
                                <a:latin typeface="Cambria Math" panose="02040503050406030204" pitchFamily="18" charset="0"/>
                                <a:ea typeface="Times New Roman"/>
                                <a:cs typeface="Times New Roman"/>
                                <a:sym typeface="Times New Roman"/>
                              </a:rPr>
                            </m:ctrlPr>
                          </m:naryPr>
                          <m:sub>
                            <m:r>
                              <a:rPr lang="en-US" sz="1800" i="1" dirty="0">
                                <a:latin typeface="Cambria Math" panose="02040503050406030204" pitchFamily="18" charset="0"/>
                                <a:ea typeface="Times New Roman"/>
                                <a:cs typeface="Times New Roman"/>
                                <a:sym typeface="Times New Roman"/>
                              </a:rPr>
                              <m:t>ℓ=1</m:t>
                            </m:r>
                          </m:sub>
                          <m:sup>
                            <m:r>
                              <a:rPr lang="en-US" sz="1800" i="1" dirty="0">
                                <a:latin typeface="Cambria Math" panose="02040503050406030204" pitchFamily="18" charset="0"/>
                                <a:ea typeface="Times New Roman"/>
                                <a:cs typeface="Times New Roman"/>
                                <a:sym typeface="Times New Roman"/>
                              </a:rPr>
                              <m:t>𝑘</m:t>
                            </m:r>
                          </m:sup>
                          <m:e>
                            <m:r>
                              <a:rPr lang="en-US" sz="1800" i="1" dirty="0">
                                <a:latin typeface="Cambria Math" panose="02040503050406030204" pitchFamily="18" charset="0"/>
                                <a:ea typeface="Times New Roman"/>
                                <a:cs typeface="Times New Roman"/>
                                <a:sym typeface="Times New Roman"/>
                              </a:rPr>
                              <m:t>𝑞</m:t>
                            </m:r>
                            <m:d>
                              <m:dPr>
                                <m:ctrlPr>
                                  <a:rPr lang="en-US" sz="1800" i="1" dirty="0">
                                    <a:latin typeface="Cambria Math" panose="02040503050406030204" pitchFamily="18" charset="0"/>
                                    <a:ea typeface="Times New Roman"/>
                                    <a:cs typeface="Times New Roman"/>
                                    <a:sym typeface="Times New Roman"/>
                                  </a:rPr>
                                </m:ctrlPr>
                              </m:dPr>
                              <m:e>
                                <m:r>
                                  <a:rPr lang="en-US" sz="1800" i="1" dirty="0">
                                    <a:latin typeface="Cambria Math" panose="02040503050406030204" pitchFamily="18" charset="0"/>
                                    <a:ea typeface="Times New Roman"/>
                                    <a:cs typeface="Times New Roman"/>
                                    <a:sym typeface="Times New Roman"/>
                                  </a:rPr>
                                  <m:t>𝑦</m:t>
                                </m:r>
                                <m:r>
                                  <a:rPr lang="en-US" sz="1800" i="1" dirty="0">
                                    <a:latin typeface="Cambria Math" panose="02040503050406030204" pitchFamily="18" charset="0"/>
                                    <a:ea typeface="Times New Roman"/>
                                    <a:cs typeface="Times New Roman"/>
                                    <a:sym typeface="Times New Roman"/>
                                  </a:rPr>
                                  <m:t>=ℓ</m:t>
                                </m:r>
                              </m:e>
                            </m:d>
                            <m:r>
                              <a:rPr lang="en-US" sz="1800" b="0" i="1" dirty="0" smtClean="0">
                                <a:latin typeface="Cambria Math" panose="02040503050406030204" pitchFamily="18" charset="0"/>
                                <a:ea typeface="Times New Roman"/>
                                <a:cs typeface="Times New Roman"/>
                                <a:sym typeface="Times New Roman"/>
                              </a:rPr>
                              <m:t> </m:t>
                            </m:r>
                            <m:r>
                              <a:rPr lang="en-US" sz="1800" i="1" dirty="0">
                                <a:latin typeface="Cambria Math" panose="02040503050406030204" pitchFamily="18" charset="0"/>
                                <a:ea typeface="Times New Roman"/>
                                <a:cs typeface="Times New Roman"/>
                                <a:sym typeface="Times New Roman"/>
                              </a:rPr>
                              <m:t>𝑝</m:t>
                            </m:r>
                            <m:d>
                              <m:dPr>
                                <m:sepChr m:val="∣"/>
                                <m:ctrlPr>
                                  <a:rPr lang="en-US" sz="1800" i="1" dirty="0">
                                    <a:latin typeface="Cambria Math" panose="02040503050406030204" pitchFamily="18" charset="0"/>
                                    <a:ea typeface="Times New Roman"/>
                                    <a:cs typeface="Times New Roman"/>
                                    <a:sym typeface="Times New Roman"/>
                                  </a:rPr>
                                </m:ctrlPr>
                              </m:dPr>
                              <m:e>
                                <m:r>
                                  <a:rPr lang="en-US" sz="1800" i="1" dirty="0">
                                    <a:latin typeface="Cambria Math" panose="02040503050406030204" pitchFamily="18" charset="0"/>
                                    <a:ea typeface="Times New Roman"/>
                                    <a:cs typeface="Times New Roman"/>
                                    <a:sym typeface="Times New Roman"/>
                                  </a:rPr>
                                  <m:t>𝑥</m:t>
                                </m:r>
                              </m:e>
                              <m:e>
                                <m:r>
                                  <a:rPr lang="en-US" sz="1800" i="1" dirty="0">
                                    <a:latin typeface="Cambria Math" panose="02040503050406030204" pitchFamily="18" charset="0"/>
                                    <a:ea typeface="Times New Roman"/>
                                    <a:cs typeface="Times New Roman"/>
                                    <a:sym typeface="Times New Roman"/>
                                  </a:rPr>
                                  <m:t>𝑦</m:t>
                                </m:r>
                                <m:r>
                                  <a:rPr lang="en-US" sz="1800" i="1" dirty="0">
                                    <a:latin typeface="Cambria Math" panose="02040503050406030204" pitchFamily="18" charset="0"/>
                                    <a:ea typeface="Times New Roman"/>
                                    <a:cs typeface="Times New Roman"/>
                                    <a:sym typeface="Times New Roman"/>
                                  </a:rPr>
                                  <m:t>=ℓ</m:t>
                                </m:r>
                              </m:e>
                            </m:d>
                          </m:e>
                        </m:nary>
                      </m:den>
                    </m:f>
                  </m:oMath>
                </a14:m>
                <a:endParaRPr lang="en-US" sz="1800" dirty="0">
                  <a:latin typeface="Times New Roman"/>
                  <a:ea typeface="Times New Roman"/>
                  <a:cs typeface="Times New Roman"/>
                  <a:sym typeface="Times New Roman"/>
                </a:endParaRPr>
              </a:p>
              <a:p>
                <a:pPr lvl="0" indent="-387350">
                  <a:lnSpc>
                    <a:spcPct val="120000"/>
                  </a:lnSpc>
                  <a:spcBef>
                    <a:spcPts val="0"/>
                  </a:spcBef>
                  <a:buSzPts val="2500"/>
                  <a:buFont typeface="Times New Roman"/>
                  <a:buChar char="●"/>
                </a:pPr>
                <a:r>
                  <a:rPr lang="en-US" sz="1800" dirty="0">
                    <a:latin typeface="Times New Roman"/>
                    <a:ea typeface="Times New Roman"/>
                    <a:cs typeface="Times New Roman"/>
                    <a:sym typeface="Times New Roman"/>
                  </a:rPr>
                  <a:t>Since </a:t>
                </a:r>
                <a14:m>
                  <m:oMath xmlns:m="http://schemas.openxmlformats.org/officeDocument/2006/math">
                    <m:r>
                      <a:rPr lang="es-ES" sz="1800" i="1" dirty="0" smtClean="0">
                        <a:latin typeface="Cambria Math" panose="02040503050406030204" pitchFamily="18" charset="0"/>
                        <a:ea typeface="Times New Roman"/>
                        <a:cs typeface="Times New Roman"/>
                        <a:sym typeface="Times New Roman"/>
                      </a:rPr>
                      <m:t>𝑝</m:t>
                    </m:r>
                    <m:d>
                      <m:dPr>
                        <m:sepChr m:val="∣"/>
                        <m:ctrlPr>
                          <a:rPr lang="es-ES" sz="1800" i="1" dirty="0" smtClean="0">
                            <a:latin typeface="Cambria Math" panose="02040503050406030204" pitchFamily="18" charset="0"/>
                            <a:ea typeface="Times New Roman"/>
                            <a:cs typeface="Times New Roman"/>
                            <a:sym typeface="Times New Roman"/>
                          </a:rPr>
                        </m:ctrlPr>
                      </m:dPr>
                      <m:e>
                        <m:r>
                          <a:rPr lang="es-ES" sz="1800" i="1" dirty="0" smtClean="0">
                            <a:latin typeface="Cambria Math" panose="02040503050406030204" pitchFamily="18" charset="0"/>
                            <a:ea typeface="Times New Roman"/>
                            <a:cs typeface="Times New Roman"/>
                            <a:sym typeface="Times New Roman"/>
                          </a:rPr>
                          <m:t>𝑦</m:t>
                        </m:r>
                        <m:r>
                          <a:rPr lang="es-ES" sz="1800" i="1" dirty="0" smtClean="0">
                            <a:latin typeface="Cambria Math" panose="02040503050406030204" pitchFamily="18" charset="0"/>
                            <a:ea typeface="Times New Roman"/>
                            <a:cs typeface="Times New Roman"/>
                            <a:sym typeface="Times New Roman"/>
                          </a:rPr>
                          <m:t>=</m:t>
                        </m:r>
                        <m:r>
                          <a:rPr lang="es-ES" sz="1800" i="1" dirty="0" smtClean="0">
                            <a:latin typeface="Cambria Math" panose="02040503050406030204" pitchFamily="18" charset="0"/>
                            <a:ea typeface="Times New Roman"/>
                            <a:cs typeface="Times New Roman"/>
                            <a:sym typeface="Times New Roman"/>
                          </a:rPr>
                          <m:t>𝑗</m:t>
                        </m:r>
                      </m:e>
                      <m:e>
                        <m:r>
                          <a:rPr lang="es-ES" sz="1800" i="1" dirty="0" smtClean="0">
                            <a:latin typeface="Cambria Math" panose="02040503050406030204" pitchFamily="18" charset="0"/>
                            <a:ea typeface="Times New Roman"/>
                            <a:cs typeface="Times New Roman"/>
                            <a:sym typeface="Times New Roman"/>
                          </a:rPr>
                          <m:t>𝑥</m:t>
                        </m:r>
                      </m:e>
                    </m:d>
                    <m:r>
                      <a:rPr lang="es-ES" sz="1800" i="1" dirty="0" smtClean="0">
                        <a:latin typeface="Cambria Math" panose="02040503050406030204" pitchFamily="18" charset="0"/>
                        <a:ea typeface="Times New Roman"/>
                        <a:cs typeface="Times New Roman"/>
                        <a:sym typeface="Times New Roman"/>
                      </a:rPr>
                      <m:t>=</m:t>
                    </m:r>
                    <m:f>
                      <m:fPr>
                        <m:ctrlPr>
                          <a:rPr lang="es-ES" sz="1800" i="1" dirty="0" smtClean="0">
                            <a:latin typeface="Cambria Math" panose="02040503050406030204" pitchFamily="18" charset="0"/>
                            <a:ea typeface="Times New Roman"/>
                            <a:cs typeface="Times New Roman"/>
                            <a:sym typeface="Times New Roman"/>
                          </a:rPr>
                        </m:ctrlPr>
                      </m:fPr>
                      <m:num>
                        <m:r>
                          <a:rPr lang="es-ES" sz="1800" i="1" dirty="0" smtClean="0">
                            <a:latin typeface="Cambria Math" panose="02040503050406030204" pitchFamily="18" charset="0"/>
                            <a:ea typeface="Times New Roman"/>
                            <a:cs typeface="Times New Roman"/>
                            <a:sym typeface="Times New Roman"/>
                          </a:rPr>
                          <m:t>𝑝</m:t>
                        </m:r>
                        <m:d>
                          <m:dPr>
                            <m:ctrlPr>
                              <a:rPr lang="es-ES" sz="1800" i="1" dirty="0" smtClean="0">
                                <a:latin typeface="Cambria Math" panose="02040503050406030204" pitchFamily="18" charset="0"/>
                                <a:ea typeface="Times New Roman"/>
                                <a:cs typeface="Times New Roman"/>
                                <a:sym typeface="Times New Roman"/>
                              </a:rPr>
                            </m:ctrlPr>
                          </m:dPr>
                          <m:e>
                            <m:r>
                              <a:rPr lang="es-ES" sz="1800" i="1" dirty="0" smtClean="0">
                                <a:latin typeface="Cambria Math" panose="02040503050406030204" pitchFamily="18" charset="0"/>
                                <a:ea typeface="Times New Roman"/>
                                <a:cs typeface="Times New Roman"/>
                                <a:sym typeface="Times New Roman"/>
                              </a:rPr>
                              <m:t>𝑦</m:t>
                            </m:r>
                            <m:r>
                              <a:rPr lang="es-ES" sz="1800" i="1" dirty="0" smtClean="0">
                                <a:latin typeface="Cambria Math" panose="02040503050406030204" pitchFamily="18" charset="0"/>
                                <a:ea typeface="Times New Roman"/>
                                <a:cs typeface="Times New Roman"/>
                                <a:sym typeface="Times New Roman"/>
                              </a:rPr>
                              <m:t>=</m:t>
                            </m:r>
                            <m:r>
                              <a:rPr lang="es-ES" sz="1800" i="1" dirty="0" smtClean="0">
                                <a:latin typeface="Cambria Math" panose="02040503050406030204" pitchFamily="18" charset="0"/>
                                <a:ea typeface="Times New Roman"/>
                                <a:cs typeface="Times New Roman"/>
                                <a:sym typeface="Times New Roman"/>
                              </a:rPr>
                              <m:t>𝑗</m:t>
                            </m:r>
                          </m:e>
                        </m:d>
                        <m:r>
                          <a:rPr lang="en-US" sz="1800" b="0" i="1" dirty="0" smtClean="0">
                            <a:latin typeface="Cambria Math" panose="02040503050406030204" pitchFamily="18" charset="0"/>
                            <a:ea typeface="Times New Roman"/>
                            <a:cs typeface="Times New Roman"/>
                            <a:sym typeface="Times New Roman"/>
                          </a:rPr>
                          <m:t> </m:t>
                        </m:r>
                        <m:r>
                          <a:rPr lang="es-ES" sz="1800" i="1" dirty="0">
                            <a:latin typeface="Cambria Math" panose="02040503050406030204" pitchFamily="18" charset="0"/>
                            <a:ea typeface="Times New Roman"/>
                            <a:cs typeface="Times New Roman"/>
                            <a:sym typeface="Times New Roman"/>
                          </a:rPr>
                          <m:t>𝑝</m:t>
                        </m:r>
                        <m:d>
                          <m:dPr>
                            <m:sepChr m:val="∣"/>
                            <m:ctrlPr>
                              <a:rPr lang="es-ES" sz="1800" i="1" dirty="0">
                                <a:latin typeface="Cambria Math" panose="02040503050406030204" pitchFamily="18" charset="0"/>
                                <a:ea typeface="Times New Roman"/>
                                <a:cs typeface="Times New Roman"/>
                                <a:sym typeface="Times New Roman"/>
                              </a:rPr>
                            </m:ctrlPr>
                          </m:dPr>
                          <m:e>
                            <m:r>
                              <a:rPr lang="es-ES" sz="1800" i="1" dirty="0">
                                <a:latin typeface="Cambria Math" panose="02040503050406030204" pitchFamily="18" charset="0"/>
                                <a:ea typeface="Times New Roman"/>
                                <a:cs typeface="Times New Roman"/>
                                <a:sym typeface="Times New Roman"/>
                              </a:rPr>
                              <m:t>𝑥</m:t>
                            </m:r>
                          </m:e>
                          <m:e>
                            <m:r>
                              <a:rPr lang="es-ES" sz="1800" i="1" dirty="0">
                                <a:latin typeface="Cambria Math" panose="02040503050406030204" pitchFamily="18" charset="0"/>
                                <a:ea typeface="Times New Roman"/>
                                <a:cs typeface="Times New Roman"/>
                                <a:sym typeface="Times New Roman"/>
                              </a:rPr>
                              <m:t>𝑦</m:t>
                            </m:r>
                            <m:r>
                              <a:rPr lang="es-ES" sz="1800" i="1" dirty="0">
                                <a:latin typeface="Cambria Math" panose="02040503050406030204" pitchFamily="18" charset="0"/>
                                <a:ea typeface="Times New Roman"/>
                                <a:cs typeface="Times New Roman"/>
                                <a:sym typeface="Times New Roman"/>
                              </a:rPr>
                              <m:t>=</m:t>
                            </m:r>
                            <m:r>
                              <a:rPr lang="es-ES" sz="1800" i="1" dirty="0">
                                <a:latin typeface="Cambria Math" panose="02040503050406030204" pitchFamily="18" charset="0"/>
                                <a:ea typeface="Times New Roman"/>
                                <a:cs typeface="Times New Roman"/>
                                <a:sym typeface="Times New Roman"/>
                              </a:rPr>
                              <m:t>𝑗</m:t>
                            </m:r>
                          </m:e>
                        </m:d>
                      </m:num>
                      <m:den>
                        <m:r>
                          <a:rPr lang="es-ES" sz="1800" i="1" dirty="0">
                            <a:latin typeface="Cambria Math" panose="02040503050406030204" pitchFamily="18" charset="0"/>
                            <a:ea typeface="Times New Roman"/>
                            <a:cs typeface="Times New Roman"/>
                            <a:sym typeface="Times New Roman"/>
                          </a:rPr>
                          <m:t>𝑝</m:t>
                        </m:r>
                        <m:d>
                          <m:dPr>
                            <m:ctrlPr>
                              <a:rPr lang="es-ES" sz="1800" i="1" dirty="0">
                                <a:latin typeface="Cambria Math" panose="02040503050406030204" pitchFamily="18" charset="0"/>
                                <a:ea typeface="Times New Roman"/>
                                <a:cs typeface="Times New Roman"/>
                                <a:sym typeface="Times New Roman"/>
                              </a:rPr>
                            </m:ctrlPr>
                          </m:dPr>
                          <m:e>
                            <m:r>
                              <a:rPr lang="es-ES" sz="1800" i="1" dirty="0">
                                <a:latin typeface="Cambria Math" panose="02040503050406030204" pitchFamily="18" charset="0"/>
                                <a:ea typeface="Times New Roman"/>
                                <a:cs typeface="Times New Roman"/>
                                <a:sym typeface="Times New Roman"/>
                              </a:rPr>
                              <m:t>𝑥</m:t>
                            </m:r>
                          </m:e>
                        </m:d>
                      </m:den>
                    </m:f>
                  </m:oMath>
                </a14:m>
                <a:r>
                  <a:rPr lang="en-US" sz="1800" dirty="0">
                    <a:latin typeface="Times New Roman"/>
                    <a:ea typeface="Times New Roman"/>
                    <a:cs typeface="Times New Roman"/>
                    <a:sym typeface="Times New Roman"/>
                  </a:rPr>
                  <a:t>,  we can rewrite the target posterior </a:t>
                </a:r>
                <a:r>
                  <a:rPr lang="en-US" altLang="zh-CN" sz="1800" dirty="0">
                    <a:latin typeface="Times New Roman"/>
                    <a:ea typeface="Times New Roman"/>
                    <a:cs typeface="Times New Roman"/>
                    <a:sym typeface="Times New Roman"/>
                  </a:rPr>
                  <a:t>as</a:t>
                </a:r>
                <a:r>
                  <a:rPr lang="en-US" sz="1800" dirty="0">
                    <a:latin typeface="Times New Roman"/>
                    <a:ea typeface="Times New Roman"/>
                    <a:cs typeface="Times New Roman"/>
                    <a:sym typeface="Times New Roman"/>
                  </a:rPr>
                  <a:t> </a:t>
                </a:r>
                <a14:m>
                  <m:oMath xmlns:m="http://schemas.openxmlformats.org/officeDocument/2006/math">
                    <m:r>
                      <a:rPr lang="en-US" sz="1800" b="0" i="1" dirty="0" smtClean="0">
                        <a:latin typeface="Cambria Math" panose="02040503050406030204" pitchFamily="18" charset="0"/>
                        <a:ea typeface="Times New Roman"/>
                        <a:cs typeface="Times New Roman"/>
                        <a:sym typeface="Times New Roman"/>
                      </a:rPr>
                      <m:t> </m:t>
                    </m:r>
                    <m:f>
                      <m:fPr>
                        <m:ctrlPr>
                          <a:rPr lang="en-US" sz="1800" i="1" dirty="0" smtClean="0">
                            <a:latin typeface="Cambria Math" panose="02040503050406030204" pitchFamily="18" charset="0"/>
                            <a:ea typeface="Times New Roman"/>
                            <a:cs typeface="Times New Roman"/>
                            <a:sym typeface="Times New Roman"/>
                          </a:rPr>
                        </m:ctrlPr>
                      </m:fPr>
                      <m:num>
                        <m:sSub>
                          <m:sSubPr>
                            <m:ctrlPr>
                              <a:rPr lang="en-US" sz="1800" i="1" dirty="0" err="1" smtClean="0">
                                <a:latin typeface="Cambria Math" panose="02040503050406030204" pitchFamily="18" charset="0"/>
                                <a:ea typeface="Times New Roman"/>
                                <a:cs typeface="Times New Roman"/>
                                <a:sym typeface="Times New Roman"/>
                              </a:rPr>
                            </m:ctrlPr>
                          </m:sSubPr>
                          <m:e>
                            <m:r>
                              <a:rPr lang="en-US" sz="1800" i="1" dirty="0" err="1">
                                <a:latin typeface="Cambria Math" panose="02040503050406030204" pitchFamily="18" charset="0"/>
                                <a:ea typeface="Times New Roman"/>
                                <a:cs typeface="Times New Roman"/>
                                <a:sym typeface="Times New Roman"/>
                              </a:rPr>
                              <m:t>𝑤</m:t>
                            </m:r>
                          </m:e>
                          <m:sub>
                            <m:r>
                              <a:rPr lang="en-US" sz="1800" i="1" dirty="0" err="1">
                                <a:latin typeface="Cambria Math" panose="02040503050406030204" pitchFamily="18" charset="0"/>
                                <a:ea typeface="Times New Roman"/>
                                <a:cs typeface="Times New Roman"/>
                                <a:sym typeface="Times New Roman"/>
                              </a:rPr>
                              <m:t>𝑗</m:t>
                            </m:r>
                          </m:sub>
                        </m:sSub>
                        <m:r>
                          <a:rPr lang="en-US" sz="1800" b="0" i="1" dirty="0" smtClean="0">
                            <a:latin typeface="Cambria Math" panose="02040503050406030204" pitchFamily="18" charset="0"/>
                            <a:ea typeface="Times New Roman"/>
                            <a:cs typeface="Times New Roman"/>
                            <a:sym typeface="Times New Roman"/>
                          </a:rPr>
                          <m:t> </m:t>
                        </m:r>
                        <m:r>
                          <a:rPr lang="en-US" sz="1800" i="1" dirty="0" smtClean="0">
                            <a:latin typeface="Cambria Math" panose="02040503050406030204" pitchFamily="18" charset="0"/>
                            <a:ea typeface="Times New Roman"/>
                            <a:cs typeface="Times New Roman"/>
                            <a:sym typeface="Times New Roman"/>
                          </a:rPr>
                          <m:t>𝑝</m:t>
                        </m:r>
                        <m:d>
                          <m:dPr>
                            <m:sepChr m:val="∣"/>
                            <m:ctrlPr>
                              <a:rPr lang="en-US" sz="1800" i="1" dirty="0">
                                <a:latin typeface="Cambria Math" panose="02040503050406030204" pitchFamily="18" charset="0"/>
                                <a:ea typeface="Times New Roman"/>
                                <a:cs typeface="Times New Roman"/>
                                <a:sym typeface="Times New Roman"/>
                              </a:rPr>
                            </m:ctrlPr>
                          </m:dPr>
                          <m:e>
                            <m:r>
                              <a:rPr lang="en-US" sz="1800" i="1" dirty="0">
                                <a:latin typeface="Cambria Math" panose="02040503050406030204" pitchFamily="18" charset="0"/>
                                <a:ea typeface="Times New Roman"/>
                                <a:cs typeface="Times New Roman"/>
                                <a:sym typeface="Times New Roman"/>
                              </a:rPr>
                              <m:t>𝑦</m:t>
                            </m:r>
                            <m:r>
                              <a:rPr lang="en-US" sz="1800" i="1" dirty="0">
                                <a:latin typeface="Cambria Math" panose="02040503050406030204" pitchFamily="18" charset="0"/>
                                <a:ea typeface="Times New Roman"/>
                                <a:cs typeface="Times New Roman"/>
                                <a:sym typeface="Times New Roman"/>
                              </a:rPr>
                              <m:t>=</m:t>
                            </m:r>
                            <m:r>
                              <a:rPr lang="en-US" sz="1800" i="1" dirty="0">
                                <a:latin typeface="Cambria Math" panose="02040503050406030204" pitchFamily="18" charset="0"/>
                                <a:ea typeface="Times New Roman"/>
                                <a:cs typeface="Times New Roman"/>
                                <a:sym typeface="Times New Roman"/>
                              </a:rPr>
                              <m:t>𝑗</m:t>
                            </m:r>
                          </m:e>
                          <m:e>
                            <m:r>
                              <a:rPr lang="en-US" sz="1800" i="1" dirty="0">
                                <a:latin typeface="Cambria Math" panose="02040503050406030204" pitchFamily="18" charset="0"/>
                                <a:ea typeface="Times New Roman"/>
                                <a:cs typeface="Times New Roman"/>
                                <a:sym typeface="Times New Roman"/>
                              </a:rPr>
                              <m:t>𝑥</m:t>
                            </m:r>
                          </m:e>
                        </m:d>
                      </m:num>
                      <m:den>
                        <m:nary>
                          <m:naryPr>
                            <m:chr m:val="∑"/>
                            <m:ctrlPr>
                              <a:rPr lang="en-US" sz="1800" i="1" dirty="0">
                                <a:latin typeface="Cambria Math" panose="02040503050406030204" pitchFamily="18" charset="0"/>
                                <a:ea typeface="Times New Roman"/>
                                <a:cs typeface="Times New Roman"/>
                                <a:sym typeface="Times New Roman"/>
                              </a:rPr>
                            </m:ctrlPr>
                          </m:naryPr>
                          <m:sub>
                            <m:r>
                              <a:rPr lang="en-US" sz="1800" i="1" dirty="0">
                                <a:latin typeface="Cambria Math" panose="02040503050406030204" pitchFamily="18" charset="0"/>
                                <a:ea typeface="Times New Roman"/>
                                <a:cs typeface="Times New Roman"/>
                                <a:sym typeface="Times New Roman"/>
                              </a:rPr>
                              <m:t>ℓ=1</m:t>
                            </m:r>
                          </m:sub>
                          <m:sup>
                            <m:r>
                              <a:rPr lang="en-US" sz="1800" i="1" dirty="0">
                                <a:latin typeface="Cambria Math" panose="02040503050406030204" pitchFamily="18" charset="0"/>
                                <a:ea typeface="Times New Roman"/>
                                <a:cs typeface="Times New Roman"/>
                                <a:sym typeface="Times New Roman"/>
                              </a:rPr>
                              <m:t>𝑘</m:t>
                            </m:r>
                          </m:sup>
                          <m:e>
                            <m:sSub>
                              <m:sSubPr>
                                <m:ctrlPr>
                                  <a:rPr lang="en-US" sz="1800" i="1" dirty="0">
                                    <a:latin typeface="Cambria Math" panose="02040503050406030204" pitchFamily="18" charset="0"/>
                                    <a:ea typeface="Times New Roman"/>
                                    <a:cs typeface="Times New Roman"/>
                                    <a:sym typeface="Times New Roman"/>
                                  </a:rPr>
                                </m:ctrlPr>
                              </m:sSubPr>
                              <m:e>
                                <m:r>
                                  <a:rPr lang="en-US" sz="1800" i="1" dirty="0">
                                    <a:latin typeface="Cambria Math" panose="02040503050406030204" pitchFamily="18" charset="0"/>
                                    <a:ea typeface="Times New Roman"/>
                                    <a:cs typeface="Times New Roman"/>
                                    <a:sym typeface="Times New Roman"/>
                                  </a:rPr>
                                  <m:t>𝑤</m:t>
                                </m:r>
                              </m:e>
                              <m:sub>
                                <m:r>
                                  <a:rPr lang="en-US" sz="1800" i="1" dirty="0">
                                    <a:latin typeface="Cambria Math" panose="02040503050406030204" pitchFamily="18" charset="0"/>
                                    <a:ea typeface="Times New Roman"/>
                                    <a:cs typeface="Times New Roman"/>
                                    <a:sym typeface="Times New Roman"/>
                                  </a:rPr>
                                  <m:t>ℓ</m:t>
                                </m:r>
                              </m:sub>
                            </m:sSub>
                            <m:r>
                              <a:rPr lang="en-US" sz="1800" b="0" i="1" dirty="0" smtClean="0">
                                <a:latin typeface="Cambria Math" panose="02040503050406030204" pitchFamily="18" charset="0"/>
                                <a:ea typeface="Times New Roman"/>
                                <a:cs typeface="Times New Roman"/>
                                <a:sym typeface="Times New Roman"/>
                              </a:rPr>
                              <m:t> </m:t>
                            </m:r>
                            <m:r>
                              <a:rPr lang="en-US" sz="1800" i="1" dirty="0">
                                <a:latin typeface="Cambria Math" panose="02040503050406030204" pitchFamily="18" charset="0"/>
                                <a:ea typeface="Times New Roman"/>
                                <a:cs typeface="Times New Roman"/>
                                <a:sym typeface="Times New Roman"/>
                              </a:rPr>
                              <m:t>𝑝</m:t>
                            </m:r>
                            <m:d>
                              <m:dPr>
                                <m:sepChr m:val="∣"/>
                                <m:ctrlPr>
                                  <a:rPr lang="en-US" sz="1800" i="1" dirty="0">
                                    <a:latin typeface="Cambria Math" panose="02040503050406030204" pitchFamily="18" charset="0"/>
                                    <a:ea typeface="Times New Roman"/>
                                    <a:cs typeface="Times New Roman"/>
                                    <a:sym typeface="Times New Roman"/>
                                  </a:rPr>
                                </m:ctrlPr>
                              </m:dPr>
                              <m:e>
                                <m:r>
                                  <a:rPr lang="en-US" sz="1800" i="1" dirty="0">
                                    <a:latin typeface="Cambria Math" panose="02040503050406030204" pitchFamily="18" charset="0"/>
                                    <a:ea typeface="Times New Roman"/>
                                    <a:cs typeface="Times New Roman"/>
                                    <a:sym typeface="Times New Roman"/>
                                  </a:rPr>
                                  <m:t>𝑦</m:t>
                                </m:r>
                                <m:r>
                                  <a:rPr lang="en-US" sz="1800" i="1" dirty="0">
                                    <a:latin typeface="Cambria Math" panose="02040503050406030204" pitchFamily="18" charset="0"/>
                                    <a:ea typeface="Times New Roman"/>
                                    <a:cs typeface="Times New Roman"/>
                                    <a:sym typeface="Times New Roman"/>
                                  </a:rPr>
                                  <m:t>=ℓ</m:t>
                                </m:r>
                              </m:e>
                              <m:e>
                                <m:r>
                                  <a:rPr lang="en-US" sz="1800" i="1" dirty="0">
                                    <a:latin typeface="Cambria Math" panose="02040503050406030204" pitchFamily="18" charset="0"/>
                                    <a:ea typeface="Times New Roman"/>
                                    <a:cs typeface="Times New Roman"/>
                                    <a:sym typeface="Times New Roman"/>
                                  </a:rPr>
                                  <m:t>𝑥</m:t>
                                </m:r>
                              </m:e>
                            </m:d>
                          </m:e>
                        </m:nary>
                      </m:den>
                    </m:f>
                  </m:oMath>
                </a14:m>
                <a:endParaRPr sz="1800" dirty="0">
                  <a:latin typeface="Times New Roman"/>
                  <a:ea typeface="Times New Roman"/>
                  <a:cs typeface="Times New Roman"/>
                  <a:sym typeface="Times New Roman"/>
                </a:endParaRPr>
              </a:p>
              <a:p>
                <a:pPr marL="457200" lvl="0" indent="-387350" algn="l" rtl="0">
                  <a:lnSpc>
                    <a:spcPct val="170000"/>
                  </a:lnSpc>
                  <a:spcBef>
                    <a:spcPts val="0"/>
                  </a:spcBef>
                  <a:spcAft>
                    <a:spcPts val="0"/>
                  </a:spcAft>
                  <a:buSzPts val="2500"/>
                  <a:buFont typeface="Times New Roman"/>
                  <a:buChar char="●"/>
                </a:pPr>
                <a:r>
                  <a:rPr lang="en-US" sz="1800" dirty="0">
                    <a:latin typeface="Times New Roman"/>
                    <a:ea typeface="Times New Roman"/>
                    <a:cs typeface="Times New Roman"/>
                    <a:sym typeface="Times New Roman"/>
                  </a:rPr>
                  <a:t>Thus, once we have the estimated weights, we can plug it back.</a:t>
                </a:r>
                <a:endParaRPr sz="1800" dirty="0">
                  <a:latin typeface="Times New Roman"/>
                  <a:ea typeface="Times New Roman"/>
                  <a:cs typeface="Times New Roman"/>
                  <a:sym typeface="Times New Roman"/>
                </a:endParaRPr>
              </a:p>
              <a:p>
                <a:pPr lvl="0" indent="-387350">
                  <a:lnSpc>
                    <a:spcPct val="170000"/>
                  </a:lnSpc>
                  <a:spcBef>
                    <a:spcPts val="0"/>
                  </a:spcBef>
                  <a:buSzPts val="2500"/>
                  <a:buFont typeface="Times New Roman"/>
                  <a:buChar char="●"/>
                </a:pPr>
                <a:r>
                  <a:rPr lang="en-US" sz="1800" dirty="0">
                    <a:latin typeface="Times New Roman"/>
                    <a:ea typeface="Times New Roman"/>
                    <a:cs typeface="Times New Roman"/>
                    <a:sym typeface="Times New Roman"/>
                  </a:rPr>
                  <a:t>Let </a:t>
                </a:r>
                <a14:m>
                  <m:oMath xmlns:m="http://schemas.openxmlformats.org/officeDocument/2006/math">
                    <m:r>
                      <a:rPr lang="es-ES" sz="1800" i="1" dirty="0" smtClean="0">
                        <a:latin typeface="Cambria Math" panose="02040503050406030204" pitchFamily="18" charset="0"/>
                        <a:ea typeface="Times New Roman"/>
                        <a:cs typeface="Times New Roman"/>
                        <a:sym typeface="Times New Roman"/>
                      </a:rPr>
                      <m:t>𝑝</m:t>
                    </m:r>
                    <m:d>
                      <m:dPr>
                        <m:ctrlPr>
                          <a:rPr lang="es-ES" sz="1800" i="1" dirty="0" smtClean="0">
                            <a:latin typeface="Cambria Math" panose="02040503050406030204" pitchFamily="18" charset="0"/>
                            <a:ea typeface="Times New Roman"/>
                            <a:cs typeface="Times New Roman"/>
                            <a:sym typeface="Times New Roman"/>
                          </a:rPr>
                        </m:ctrlPr>
                      </m:dPr>
                      <m:e>
                        <m:r>
                          <a:rPr lang="es-ES" sz="1800" i="1" dirty="0" smtClean="0">
                            <a:latin typeface="Cambria Math" panose="02040503050406030204" pitchFamily="18" charset="0"/>
                            <a:ea typeface="Times New Roman"/>
                            <a:cs typeface="Times New Roman"/>
                            <a:sym typeface="Times New Roman"/>
                          </a:rPr>
                          <m:t>1</m:t>
                        </m:r>
                      </m:e>
                    </m:d>
                    <m:r>
                      <a:rPr lang="es-ES" sz="1800" i="1" dirty="0" smtClean="0">
                        <a:latin typeface="Cambria Math" panose="02040503050406030204" pitchFamily="18" charset="0"/>
                        <a:ea typeface="Times New Roman"/>
                        <a:cs typeface="Times New Roman"/>
                        <a:sym typeface="Times New Roman"/>
                      </a:rPr>
                      <m:t>≔</m:t>
                    </m:r>
                    <m:r>
                      <a:rPr lang="es-ES" sz="1800" i="1" dirty="0" smtClean="0">
                        <a:latin typeface="Cambria Math" panose="02040503050406030204" pitchFamily="18" charset="0"/>
                        <a:ea typeface="Times New Roman"/>
                        <a:cs typeface="Times New Roman"/>
                        <a:sym typeface="Times New Roman"/>
                      </a:rPr>
                      <m:t>𝑝</m:t>
                    </m:r>
                    <m:d>
                      <m:dPr>
                        <m:sepChr m:val="∣"/>
                        <m:ctrlPr>
                          <a:rPr lang="es-ES" sz="1800" i="1" dirty="0" smtClean="0">
                            <a:latin typeface="Cambria Math" panose="02040503050406030204" pitchFamily="18" charset="0"/>
                            <a:ea typeface="Times New Roman"/>
                            <a:cs typeface="Times New Roman"/>
                            <a:sym typeface="Times New Roman"/>
                          </a:rPr>
                        </m:ctrlPr>
                      </m:dPr>
                      <m:e>
                        <m:r>
                          <a:rPr lang="es-ES" sz="1800" i="1" dirty="0" smtClean="0">
                            <a:latin typeface="Cambria Math" panose="02040503050406030204" pitchFamily="18" charset="0"/>
                            <a:ea typeface="Times New Roman"/>
                            <a:cs typeface="Times New Roman"/>
                            <a:sym typeface="Times New Roman"/>
                          </a:rPr>
                          <m:t>𝑦</m:t>
                        </m:r>
                        <m:r>
                          <a:rPr lang="es-ES" sz="1800" i="1" dirty="0" smtClean="0">
                            <a:latin typeface="Cambria Math" panose="02040503050406030204" pitchFamily="18" charset="0"/>
                            <a:ea typeface="Times New Roman"/>
                            <a:cs typeface="Times New Roman"/>
                            <a:sym typeface="Times New Roman"/>
                          </a:rPr>
                          <m:t>=1</m:t>
                        </m:r>
                      </m:e>
                      <m:e>
                        <m:r>
                          <a:rPr lang="es-ES" sz="1800" i="1" dirty="0" smtClean="0">
                            <a:latin typeface="Cambria Math" panose="02040503050406030204" pitchFamily="18" charset="0"/>
                            <a:ea typeface="Times New Roman"/>
                            <a:cs typeface="Times New Roman"/>
                            <a:sym typeface="Times New Roman"/>
                          </a:rPr>
                          <m:t>𝑥</m:t>
                        </m:r>
                      </m:e>
                    </m:d>
                  </m:oMath>
                </a14:m>
                <a:r>
                  <a:rPr lang="en-US" sz="1800" dirty="0">
                    <a:latin typeface="Times New Roman"/>
                    <a:ea typeface="Times New Roman"/>
                    <a:cs typeface="Times New Roman"/>
                    <a:sym typeface="Times New Roman"/>
                  </a:rPr>
                  <a:t>.</a:t>
                </a:r>
                <a:r>
                  <a:rPr lang="zh-CN" altLang="en-US" sz="1800" dirty="0">
                    <a:latin typeface="Times New Roman"/>
                    <a:ea typeface="Times New Roman"/>
                    <a:cs typeface="Times New Roman"/>
                    <a:sym typeface="Times New Roman"/>
                  </a:rPr>
                  <a:t> </a:t>
                </a:r>
                <a:r>
                  <a:rPr lang="en-US" sz="1800" dirty="0">
                    <a:latin typeface="Times New Roman"/>
                    <a:ea typeface="Times New Roman"/>
                    <a:cs typeface="Times New Roman"/>
                    <a:sym typeface="Times New Roman"/>
                  </a:rPr>
                  <a:t>In binary cases, we have: </a:t>
                </a:r>
              </a:p>
              <a:p>
                <a:pPr marL="69850" lvl="0" indent="0">
                  <a:lnSpc>
                    <a:spcPct val="100000"/>
                  </a:lnSpc>
                  <a:spcBef>
                    <a:spcPts val="0"/>
                  </a:spcBef>
                  <a:buSzPts val="2500"/>
                  <a:buNone/>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ea typeface="Times New Roman"/>
                              <a:cs typeface="Times New Roman"/>
                              <a:sym typeface="Times New Roman"/>
                            </a:rPr>
                          </m:ctrlPr>
                        </m:sSubPr>
                        <m:e>
                          <m:acc>
                            <m:accPr>
                              <m:chr m:val="̂"/>
                              <m:ctrlPr>
                                <a:rPr lang="en-US" sz="1800" i="1" dirty="0">
                                  <a:latin typeface="Cambria Math" panose="02040503050406030204" pitchFamily="18" charset="0"/>
                                  <a:ea typeface="Times New Roman"/>
                                  <a:cs typeface="Times New Roman"/>
                                  <a:sym typeface="Times New Roman"/>
                                </a:rPr>
                              </m:ctrlPr>
                            </m:accPr>
                            <m:e>
                              <m:r>
                                <a:rPr lang="en-US" sz="1800" i="1" dirty="0">
                                  <a:latin typeface="Cambria Math" panose="02040503050406030204" pitchFamily="18" charset="0"/>
                                  <a:ea typeface="Times New Roman"/>
                                  <a:cs typeface="Times New Roman"/>
                                  <a:sym typeface="Times New Roman"/>
                                </a:rPr>
                                <m:t>𝑞</m:t>
                              </m:r>
                            </m:e>
                          </m:acc>
                        </m:e>
                        <m:sub>
                          <m:r>
                            <m:rPr>
                              <m:nor/>
                            </m:rPr>
                            <a:rPr lang="en-US" sz="1800" i="0" dirty="0">
                              <a:latin typeface="Cambria Math" panose="02040503050406030204" pitchFamily="18" charset="0"/>
                              <a:ea typeface="Times New Roman"/>
                              <a:cs typeface="Times New Roman"/>
                              <a:sym typeface="Times New Roman"/>
                            </a:rPr>
                            <m:t>BBSE</m:t>
                          </m:r>
                        </m:sub>
                      </m:sSub>
                      <m:d>
                        <m:dPr>
                          <m:sepChr m:val="∣"/>
                          <m:ctrlPr>
                            <a:rPr lang="en-US" sz="1800" i="1" dirty="0">
                              <a:latin typeface="Cambria Math" panose="02040503050406030204" pitchFamily="18" charset="0"/>
                              <a:ea typeface="Times New Roman"/>
                              <a:cs typeface="Times New Roman"/>
                              <a:sym typeface="Times New Roman"/>
                            </a:rPr>
                          </m:ctrlPr>
                        </m:dPr>
                        <m:e>
                          <m:r>
                            <a:rPr lang="en-US" sz="1800" i="1" dirty="0">
                              <a:latin typeface="Cambria Math" panose="02040503050406030204" pitchFamily="18" charset="0"/>
                              <a:ea typeface="Times New Roman"/>
                              <a:cs typeface="Times New Roman"/>
                              <a:sym typeface="Times New Roman"/>
                            </a:rPr>
                            <m:t>𝑦</m:t>
                          </m:r>
                          <m:r>
                            <a:rPr lang="en-US" sz="1800" i="1" dirty="0">
                              <a:latin typeface="Cambria Math" panose="02040503050406030204" pitchFamily="18" charset="0"/>
                              <a:ea typeface="Times New Roman"/>
                              <a:cs typeface="Times New Roman"/>
                              <a:sym typeface="Times New Roman"/>
                            </a:rPr>
                            <m:t>=1</m:t>
                          </m:r>
                        </m:e>
                        <m:e>
                          <m:r>
                            <a:rPr lang="en-US" sz="1800" i="1" dirty="0">
                              <a:latin typeface="Cambria Math" panose="02040503050406030204" pitchFamily="18" charset="0"/>
                              <a:ea typeface="Times New Roman"/>
                              <a:cs typeface="Times New Roman"/>
                              <a:sym typeface="Times New Roman"/>
                            </a:rPr>
                            <m:t>𝑥</m:t>
                          </m:r>
                        </m:e>
                      </m:d>
                      <m:r>
                        <a:rPr lang="en-US" sz="1800" i="1" dirty="0">
                          <a:latin typeface="Cambria Math" panose="02040503050406030204" pitchFamily="18" charset="0"/>
                          <a:ea typeface="Times New Roman"/>
                          <a:cs typeface="Times New Roman"/>
                          <a:sym typeface="Times New Roman"/>
                        </a:rPr>
                        <m:t>=</m:t>
                      </m:r>
                      <m:f>
                        <m:fPr>
                          <m:ctrlPr>
                            <a:rPr lang="en-US" sz="1800" i="1" dirty="0">
                              <a:latin typeface="Cambria Math" panose="02040503050406030204" pitchFamily="18" charset="0"/>
                              <a:ea typeface="Times New Roman"/>
                              <a:cs typeface="Times New Roman"/>
                              <a:sym typeface="Times New Roman"/>
                            </a:rPr>
                          </m:ctrlPr>
                        </m:fPr>
                        <m:num>
                          <m:sSubSup>
                            <m:sSubSupPr>
                              <m:ctrlPr>
                                <a:rPr lang="en-US" altLang="zh-CN" sz="1800" i="1" dirty="0">
                                  <a:latin typeface="Cambria Math" panose="02040503050406030204" pitchFamily="18" charset="0"/>
                                  <a:ea typeface="Times New Roman"/>
                                  <a:cs typeface="Times New Roman"/>
                                  <a:sym typeface="Times New Roman"/>
                                </a:rPr>
                              </m:ctrlPr>
                            </m:sSubSupPr>
                            <m:e>
                              <m:acc>
                                <m:accPr>
                                  <m:chr m:val="̂"/>
                                  <m:ctrlPr>
                                    <a:rPr lang="en-US" altLang="zh-CN" sz="1800" i="1" dirty="0">
                                      <a:latin typeface="Cambria Math" panose="02040503050406030204" pitchFamily="18" charset="0"/>
                                      <a:ea typeface="Times New Roman"/>
                                      <a:cs typeface="Times New Roman"/>
                                      <a:sym typeface="Times New Roman"/>
                                    </a:rPr>
                                  </m:ctrlPr>
                                </m:accPr>
                                <m:e>
                                  <m:r>
                                    <a:rPr lang="en-US" altLang="zh-CN" sz="1800" i="1" dirty="0">
                                      <a:latin typeface="Cambria Math" panose="02040503050406030204" pitchFamily="18" charset="0"/>
                                      <a:ea typeface="Times New Roman"/>
                                      <a:cs typeface="Times New Roman"/>
                                      <a:sym typeface="Times New Roman"/>
                                    </a:rPr>
                                    <m:t>𝑤</m:t>
                                  </m:r>
                                </m:e>
                              </m:acc>
                            </m:e>
                            <m:sub>
                              <m:r>
                                <a:rPr lang="en-US" altLang="zh-CN" sz="1800" i="1" dirty="0">
                                  <a:latin typeface="Cambria Math" panose="02040503050406030204" pitchFamily="18" charset="0"/>
                                  <a:ea typeface="Times New Roman"/>
                                  <a:cs typeface="Times New Roman"/>
                                  <a:sym typeface="Times New Roman"/>
                                </a:rPr>
                                <m:t>1</m:t>
                              </m:r>
                            </m:sub>
                            <m:sup>
                              <m:r>
                                <m:rPr>
                                  <m:nor/>
                                </m:rPr>
                                <a:rPr lang="en-US" altLang="zh-CN" sz="1800" dirty="0">
                                  <a:latin typeface="Cambria Math" panose="02040503050406030204" pitchFamily="18" charset="0"/>
                                  <a:ea typeface="Times New Roman"/>
                                  <a:cs typeface="Times New Roman"/>
                                  <a:sym typeface="Times New Roman"/>
                                </a:rPr>
                                <m:t>BBSE</m:t>
                              </m:r>
                            </m:sup>
                          </m:sSubSup>
                          <m:r>
                            <a:rPr lang="en-US" altLang="zh-CN" sz="1800" i="1" dirty="0">
                              <a:latin typeface="Cambria Math" panose="02040503050406030204" pitchFamily="18" charset="0"/>
                              <a:ea typeface="Times New Roman"/>
                              <a:cs typeface="Times New Roman"/>
                              <a:sym typeface="Times New Roman"/>
                            </a:rPr>
                            <m:t> </m:t>
                          </m:r>
                          <m:r>
                            <a:rPr lang="en-US" altLang="zh-CN" sz="1800" i="1" dirty="0">
                              <a:latin typeface="Cambria Math" panose="02040503050406030204" pitchFamily="18" charset="0"/>
                              <a:ea typeface="Times New Roman"/>
                              <a:cs typeface="Times New Roman"/>
                              <a:sym typeface="Times New Roman"/>
                            </a:rPr>
                            <m:t>𝑝</m:t>
                          </m:r>
                          <m:d>
                            <m:dPr>
                              <m:ctrlPr>
                                <a:rPr lang="en-US" altLang="zh-CN" sz="1800" i="1" dirty="0">
                                  <a:latin typeface="Cambria Math" panose="02040503050406030204" pitchFamily="18" charset="0"/>
                                  <a:ea typeface="Times New Roman"/>
                                  <a:cs typeface="Times New Roman"/>
                                  <a:sym typeface="Times New Roman"/>
                                </a:rPr>
                              </m:ctrlPr>
                            </m:dPr>
                            <m:e>
                              <m:r>
                                <a:rPr lang="en-US" altLang="zh-CN" sz="1800" i="1" dirty="0">
                                  <a:latin typeface="Cambria Math" panose="02040503050406030204" pitchFamily="18" charset="0"/>
                                  <a:ea typeface="Times New Roman"/>
                                  <a:cs typeface="Times New Roman"/>
                                  <a:sym typeface="Times New Roman"/>
                                </a:rPr>
                                <m:t>1</m:t>
                              </m:r>
                            </m:e>
                          </m:d>
                        </m:num>
                        <m:den>
                          <m:sSubSup>
                            <m:sSubSupPr>
                              <m:ctrlPr>
                                <a:rPr lang="en-US" sz="1800" i="1" dirty="0">
                                  <a:latin typeface="Cambria Math" panose="02040503050406030204" pitchFamily="18" charset="0"/>
                                  <a:ea typeface="Times New Roman"/>
                                  <a:cs typeface="Times New Roman"/>
                                  <a:sym typeface="Times New Roman"/>
                                </a:rPr>
                              </m:ctrlPr>
                            </m:sSubSupPr>
                            <m:e>
                              <m:acc>
                                <m:accPr>
                                  <m:chr m:val="̂"/>
                                  <m:ctrlPr>
                                    <a:rPr lang="en-US" sz="1800" i="1" dirty="0">
                                      <a:latin typeface="Cambria Math" panose="02040503050406030204" pitchFamily="18" charset="0"/>
                                      <a:ea typeface="Times New Roman"/>
                                      <a:cs typeface="Times New Roman"/>
                                      <a:sym typeface="Times New Roman"/>
                                    </a:rPr>
                                  </m:ctrlPr>
                                </m:accPr>
                                <m:e>
                                  <m:r>
                                    <a:rPr lang="en-US" sz="1800" i="1" dirty="0">
                                      <a:latin typeface="Cambria Math" panose="02040503050406030204" pitchFamily="18" charset="0"/>
                                      <a:ea typeface="Times New Roman"/>
                                      <a:cs typeface="Times New Roman"/>
                                      <a:sym typeface="Times New Roman"/>
                                    </a:rPr>
                                    <m:t>𝑤</m:t>
                                  </m:r>
                                </m:e>
                              </m:acc>
                            </m:e>
                            <m:sub>
                              <m:r>
                                <a:rPr lang="en-US" sz="1800" i="1" dirty="0">
                                  <a:latin typeface="Cambria Math" panose="02040503050406030204" pitchFamily="18" charset="0"/>
                                  <a:ea typeface="Times New Roman"/>
                                  <a:cs typeface="Times New Roman"/>
                                  <a:sym typeface="Times New Roman"/>
                                </a:rPr>
                                <m:t>1</m:t>
                              </m:r>
                            </m:sub>
                            <m:sup>
                              <m:r>
                                <m:rPr>
                                  <m:nor/>
                                </m:rPr>
                                <a:rPr lang="en-US" sz="1800" i="0" dirty="0">
                                  <a:latin typeface="Cambria Math" panose="02040503050406030204" pitchFamily="18" charset="0"/>
                                  <a:ea typeface="Times New Roman"/>
                                  <a:cs typeface="Times New Roman"/>
                                  <a:sym typeface="Times New Roman"/>
                                </a:rPr>
                                <m:t>BBSE</m:t>
                              </m:r>
                            </m:sup>
                          </m:sSubSup>
                          <m:r>
                            <a:rPr lang="en-US" sz="1800" i="1" dirty="0">
                              <a:latin typeface="Cambria Math" panose="02040503050406030204" pitchFamily="18" charset="0"/>
                              <a:ea typeface="Times New Roman"/>
                              <a:cs typeface="Times New Roman"/>
                              <a:sym typeface="Times New Roman"/>
                            </a:rPr>
                            <m:t> </m:t>
                          </m:r>
                          <m:r>
                            <a:rPr lang="en-US" sz="1800" i="1" dirty="0">
                              <a:latin typeface="Cambria Math" panose="02040503050406030204" pitchFamily="18" charset="0"/>
                              <a:ea typeface="Times New Roman"/>
                              <a:cs typeface="Times New Roman"/>
                              <a:sym typeface="Times New Roman"/>
                            </a:rPr>
                            <m:t>𝑝</m:t>
                          </m:r>
                          <m:d>
                            <m:dPr>
                              <m:ctrlPr>
                                <a:rPr lang="en-US" sz="1800" i="1" dirty="0">
                                  <a:latin typeface="Cambria Math" panose="02040503050406030204" pitchFamily="18" charset="0"/>
                                  <a:ea typeface="Times New Roman"/>
                                  <a:cs typeface="Times New Roman"/>
                                  <a:sym typeface="Times New Roman"/>
                                </a:rPr>
                              </m:ctrlPr>
                            </m:dPr>
                            <m:e>
                              <m:r>
                                <a:rPr lang="en-US" sz="1800" i="1" dirty="0">
                                  <a:latin typeface="Cambria Math" panose="02040503050406030204" pitchFamily="18" charset="0"/>
                                  <a:ea typeface="Times New Roman"/>
                                  <a:cs typeface="Times New Roman"/>
                                  <a:sym typeface="Times New Roman"/>
                                </a:rPr>
                                <m:t>1</m:t>
                              </m:r>
                            </m:e>
                          </m:d>
                          <m:r>
                            <a:rPr lang="en-US" sz="1800" i="1" dirty="0">
                              <a:latin typeface="Cambria Math" panose="02040503050406030204" pitchFamily="18" charset="0"/>
                              <a:ea typeface="Times New Roman"/>
                              <a:cs typeface="Times New Roman"/>
                              <a:sym typeface="Times New Roman"/>
                            </a:rPr>
                            <m:t>+</m:t>
                          </m:r>
                          <m:sSubSup>
                            <m:sSubSupPr>
                              <m:ctrlPr>
                                <a:rPr lang="en-US" sz="1800" i="1" dirty="0">
                                  <a:latin typeface="Cambria Math" panose="02040503050406030204" pitchFamily="18" charset="0"/>
                                  <a:ea typeface="Times New Roman"/>
                                  <a:cs typeface="Times New Roman"/>
                                  <a:sym typeface="Times New Roman"/>
                                </a:rPr>
                              </m:ctrlPr>
                            </m:sSubSupPr>
                            <m:e>
                              <m:acc>
                                <m:accPr>
                                  <m:chr m:val="̂"/>
                                  <m:ctrlPr>
                                    <a:rPr lang="en-US" sz="1800" i="1" dirty="0">
                                      <a:latin typeface="Cambria Math" panose="02040503050406030204" pitchFamily="18" charset="0"/>
                                      <a:ea typeface="Times New Roman"/>
                                      <a:cs typeface="Times New Roman"/>
                                      <a:sym typeface="Times New Roman"/>
                                    </a:rPr>
                                  </m:ctrlPr>
                                </m:accPr>
                                <m:e>
                                  <m:r>
                                    <a:rPr lang="en-US" sz="1800" i="1" dirty="0">
                                      <a:latin typeface="Cambria Math" panose="02040503050406030204" pitchFamily="18" charset="0"/>
                                      <a:ea typeface="Times New Roman"/>
                                      <a:cs typeface="Times New Roman"/>
                                      <a:sym typeface="Times New Roman"/>
                                    </a:rPr>
                                    <m:t>𝑤</m:t>
                                  </m:r>
                                </m:e>
                              </m:acc>
                            </m:e>
                            <m:sub>
                              <m:r>
                                <a:rPr lang="en-US" sz="1800" i="1" dirty="0">
                                  <a:latin typeface="Cambria Math" panose="02040503050406030204" pitchFamily="18" charset="0"/>
                                  <a:ea typeface="Times New Roman"/>
                                  <a:cs typeface="Times New Roman"/>
                                  <a:sym typeface="Times New Roman"/>
                                </a:rPr>
                                <m:t>0</m:t>
                              </m:r>
                            </m:sub>
                            <m:sup>
                              <m:r>
                                <m:rPr>
                                  <m:nor/>
                                </m:rPr>
                                <a:rPr lang="en-US" sz="1800" i="0" dirty="0">
                                  <a:latin typeface="Cambria Math" panose="02040503050406030204" pitchFamily="18" charset="0"/>
                                  <a:ea typeface="Times New Roman"/>
                                  <a:cs typeface="Times New Roman"/>
                                  <a:sym typeface="Times New Roman"/>
                                </a:rPr>
                                <m:t>BBSE</m:t>
                              </m:r>
                            </m:sup>
                          </m:sSubSup>
                          <m:r>
                            <a:rPr lang="en-US" sz="1800" i="1" dirty="0">
                              <a:latin typeface="Cambria Math" panose="02040503050406030204" pitchFamily="18" charset="0"/>
                              <a:ea typeface="Times New Roman"/>
                              <a:cs typeface="Times New Roman"/>
                              <a:sym typeface="Times New Roman"/>
                            </a:rPr>
                            <m:t> </m:t>
                          </m:r>
                          <m:d>
                            <m:dPr>
                              <m:begChr m:val="["/>
                              <m:endChr m:val="]"/>
                              <m:ctrlPr>
                                <a:rPr lang="en-US" sz="1800" i="1" dirty="0">
                                  <a:latin typeface="Cambria Math" panose="02040503050406030204" pitchFamily="18" charset="0"/>
                                  <a:ea typeface="Times New Roman"/>
                                  <a:cs typeface="Times New Roman"/>
                                  <a:sym typeface="Times New Roman"/>
                                </a:rPr>
                              </m:ctrlPr>
                            </m:dPr>
                            <m:e>
                              <m:r>
                                <a:rPr lang="en-US" sz="1800" i="1" dirty="0">
                                  <a:latin typeface="Cambria Math" panose="02040503050406030204" pitchFamily="18" charset="0"/>
                                  <a:ea typeface="Times New Roman"/>
                                  <a:cs typeface="Times New Roman"/>
                                  <a:sym typeface="Times New Roman"/>
                                </a:rPr>
                                <m:t>1−</m:t>
                              </m:r>
                              <m:r>
                                <a:rPr lang="en-US" sz="1800" i="1" dirty="0">
                                  <a:latin typeface="Cambria Math" panose="02040503050406030204" pitchFamily="18" charset="0"/>
                                  <a:ea typeface="Times New Roman"/>
                                  <a:cs typeface="Times New Roman"/>
                                  <a:sym typeface="Times New Roman"/>
                                </a:rPr>
                                <m:t>𝑝</m:t>
                              </m:r>
                              <m:d>
                                <m:dPr>
                                  <m:ctrlPr>
                                    <a:rPr lang="en-US" sz="1800" i="1" dirty="0">
                                      <a:latin typeface="Cambria Math" panose="02040503050406030204" pitchFamily="18" charset="0"/>
                                      <a:ea typeface="Times New Roman"/>
                                      <a:cs typeface="Times New Roman"/>
                                      <a:sym typeface="Times New Roman"/>
                                    </a:rPr>
                                  </m:ctrlPr>
                                </m:dPr>
                                <m:e>
                                  <m:r>
                                    <a:rPr lang="en-US" sz="1800" i="1" dirty="0">
                                      <a:latin typeface="Cambria Math" panose="02040503050406030204" pitchFamily="18" charset="0"/>
                                      <a:ea typeface="Times New Roman"/>
                                      <a:cs typeface="Times New Roman"/>
                                      <a:sym typeface="Times New Roman"/>
                                    </a:rPr>
                                    <m:t>1</m:t>
                                  </m:r>
                                </m:e>
                              </m:d>
                            </m:e>
                          </m:d>
                        </m:den>
                      </m:f>
                    </m:oMath>
                  </m:oMathPara>
                </a14:m>
                <a:endParaRPr lang="en-US" sz="1800" i="1" dirty="0">
                  <a:latin typeface="Cambria Math" panose="02040503050406030204" pitchFamily="18" charset="0"/>
                  <a:ea typeface="Times New Roman"/>
                  <a:cs typeface="Times New Roman"/>
                  <a:sym typeface="Times New Roman"/>
                </a:endParaRPr>
              </a:p>
              <a:p>
                <a:pPr marL="69850" lvl="0" indent="0">
                  <a:lnSpc>
                    <a:spcPct val="100000"/>
                  </a:lnSpc>
                  <a:spcBef>
                    <a:spcPts val="0"/>
                  </a:spcBef>
                  <a:buSzPts val="2500"/>
                  <a:buNone/>
                </a:pPr>
                <a:endParaRPr lang="en-US" sz="1800" i="1" dirty="0">
                  <a:latin typeface="Cambria Math" panose="02040503050406030204" pitchFamily="18" charset="0"/>
                  <a:ea typeface="Times New Roman"/>
                  <a:cs typeface="Times New Roman"/>
                  <a:sym typeface="Times New Roman"/>
                </a:endParaRPr>
              </a:p>
              <a:p>
                <a:pPr marL="69850" lvl="0" indent="0">
                  <a:lnSpc>
                    <a:spcPct val="100000"/>
                  </a:lnSpc>
                  <a:spcBef>
                    <a:spcPts val="0"/>
                  </a:spcBef>
                  <a:buSzPts val="2500"/>
                  <a:buNone/>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ea typeface="Times New Roman"/>
                              <a:cs typeface="Times New Roman"/>
                              <a:sym typeface="Times New Roman"/>
                            </a:rPr>
                          </m:ctrlPr>
                        </m:sSubPr>
                        <m:e>
                          <m:acc>
                            <m:accPr>
                              <m:chr m:val="̂"/>
                              <m:ctrlPr>
                                <a:rPr lang="en-US" sz="1800" i="1" dirty="0">
                                  <a:latin typeface="Cambria Math" panose="02040503050406030204" pitchFamily="18" charset="0"/>
                                  <a:ea typeface="Times New Roman"/>
                                  <a:cs typeface="Times New Roman"/>
                                  <a:sym typeface="Times New Roman"/>
                                </a:rPr>
                              </m:ctrlPr>
                            </m:accPr>
                            <m:e>
                              <m:r>
                                <a:rPr lang="en-US" sz="1800" i="1" dirty="0">
                                  <a:latin typeface="Cambria Math" panose="02040503050406030204" pitchFamily="18" charset="0"/>
                                  <a:ea typeface="Times New Roman"/>
                                  <a:cs typeface="Times New Roman"/>
                                  <a:sym typeface="Times New Roman"/>
                                </a:rPr>
                                <m:t>𝑞</m:t>
                              </m:r>
                            </m:e>
                          </m:acc>
                        </m:e>
                        <m:sub>
                          <m:r>
                            <m:rPr>
                              <m:nor/>
                            </m:rPr>
                            <a:rPr lang="en-US" sz="1800" i="0" dirty="0">
                              <a:latin typeface="Cambria Math" panose="02040503050406030204" pitchFamily="18" charset="0"/>
                              <a:ea typeface="Times New Roman"/>
                              <a:cs typeface="Times New Roman"/>
                              <a:sym typeface="Times New Roman"/>
                            </a:rPr>
                            <m:t>MLLS</m:t>
                          </m:r>
                        </m:sub>
                      </m:sSub>
                      <m:d>
                        <m:dPr>
                          <m:sepChr m:val="∣"/>
                          <m:ctrlPr>
                            <a:rPr lang="en-US" sz="1800" i="1" dirty="0">
                              <a:latin typeface="Cambria Math" panose="02040503050406030204" pitchFamily="18" charset="0"/>
                              <a:ea typeface="Times New Roman"/>
                              <a:cs typeface="Times New Roman"/>
                              <a:sym typeface="Times New Roman"/>
                            </a:rPr>
                          </m:ctrlPr>
                        </m:dPr>
                        <m:e>
                          <m:r>
                            <a:rPr lang="en-US" sz="1800" i="1" dirty="0">
                              <a:latin typeface="Cambria Math" panose="02040503050406030204" pitchFamily="18" charset="0"/>
                              <a:ea typeface="Times New Roman"/>
                              <a:cs typeface="Times New Roman"/>
                              <a:sym typeface="Times New Roman"/>
                            </a:rPr>
                            <m:t>𝑦</m:t>
                          </m:r>
                          <m:r>
                            <a:rPr lang="en-US" sz="1800" i="1" dirty="0">
                              <a:latin typeface="Cambria Math" panose="02040503050406030204" pitchFamily="18" charset="0"/>
                              <a:ea typeface="Times New Roman"/>
                              <a:cs typeface="Times New Roman"/>
                              <a:sym typeface="Times New Roman"/>
                            </a:rPr>
                            <m:t>=1</m:t>
                          </m:r>
                        </m:e>
                        <m:e>
                          <m:r>
                            <a:rPr lang="en-US" sz="1800" i="1" dirty="0">
                              <a:latin typeface="Cambria Math" panose="02040503050406030204" pitchFamily="18" charset="0"/>
                              <a:ea typeface="Times New Roman"/>
                              <a:cs typeface="Times New Roman"/>
                              <a:sym typeface="Times New Roman"/>
                            </a:rPr>
                            <m:t>𝑥</m:t>
                          </m:r>
                        </m:e>
                      </m:d>
                      <m:r>
                        <a:rPr lang="en-US" sz="1800" i="1" dirty="0">
                          <a:latin typeface="Cambria Math" panose="02040503050406030204" pitchFamily="18" charset="0"/>
                          <a:ea typeface="Times New Roman"/>
                          <a:cs typeface="Times New Roman"/>
                          <a:sym typeface="Times New Roman"/>
                        </a:rPr>
                        <m:t>=</m:t>
                      </m:r>
                      <m:f>
                        <m:fPr>
                          <m:ctrlPr>
                            <a:rPr lang="en-US" sz="1800" i="1" dirty="0">
                              <a:latin typeface="Cambria Math" panose="02040503050406030204" pitchFamily="18" charset="0"/>
                              <a:ea typeface="Times New Roman"/>
                              <a:cs typeface="Times New Roman"/>
                              <a:sym typeface="Times New Roman"/>
                            </a:rPr>
                          </m:ctrlPr>
                        </m:fPr>
                        <m:num>
                          <m:sSubSup>
                            <m:sSubSupPr>
                              <m:ctrlPr>
                                <a:rPr lang="en-US" altLang="zh-CN" sz="1800" i="1" dirty="0">
                                  <a:latin typeface="Cambria Math" panose="02040503050406030204" pitchFamily="18" charset="0"/>
                                  <a:ea typeface="Times New Roman"/>
                                  <a:cs typeface="Times New Roman"/>
                                  <a:sym typeface="Times New Roman"/>
                                </a:rPr>
                              </m:ctrlPr>
                            </m:sSubSupPr>
                            <m:e>
                              <m:acc>
                                <m:accPr>
                                  <m:chr m:val="̂"/>
                                  <m:ctrlPr>
                                    <a:rPr lang="en-US" altLang="zh-CN" sz="1800" i="1" dirty="0">
                                      <a:latin typeface="Cambria Math" panose="02040503050406030204" pitchFamily="18" charset="0"/>
                                      <a:ea typeface="Times New Roman"/>
                                      <a:cs typeface="Times New Roman"/>
                                      <a:sym typeface="Times New Roman"/>
                                    </a:rPr>
                                  </m:ctrlPr>
                                </m:accPr>
                                <m:e>
                                  <m:r>
                                    <a:rPr lang="en-US" altLang="zh-CN" sz="1800" i="1" dirty="0">
                                      <a:latin typeface="Cambria Math" panose="02040503050406030204" pitchFamily="18" charset="0"/>
                                      <a:ea typeface="Times New Roman"/>
                                      <a:cs typeface="Times New Roman"/>
                                      <a:sym typeface="Times New Roman"/>
                                    </a:rPr>
                                    <m:t>𝑤</m:t>
                                  </m:r>
                                </m:e>
                              </m:acc>
                            </m:e>
                            <m:sub>
                              <m:r>
                                <a:rPr lang="en-US" altLang="zh-CN" sz="1800" i="1" dirty="0">
                                  <a:latin typeface="Cambria Math" panose="02040503050406030204" pitchFamily="18" charset="0"/>
                                  <a:ea typeface="Times New Roman"/>
                                  <a:cs typeface="Times New Roman"/>
                                  <a:sym typeface="Times New Roman"/>
                                </a:rPr>
                                <m:t>1</m:t>
                              </m:r>
                            </m:sub>
                            <m:sup>
                              <m:r>
                                <m:rPr>
                                  <m:nor/>
                                </m:rPr>
                                <a:rPr lang="en-US" altLang="zh-CN" sz="1800" dirty="0">
                                  <a:latin typeface="Cambria Math" panose="02040503050406030204" pitchFamily="18" charset="0"/>
                                  <a:ea typeface="Times New Roman"/>
                                  <a:cs typeface="Times New Roman"/>
                                  <a:sym typeface="Times New Roman"/>
                                </a:rPr>
                                <m:t>MLLS</m:t>
                              </m:r>
                            </m:sup>
                          </m:sSubSup>
                          <m:r>
                            <a:rPr lang="en-US" altLang="zh-CN" sz="1800" i="1" dirty="0">
                              <a:latin typeface="Cambria Math" panose="02040503050406030204" pitchFamily="18" charset="0"/>
                              <a:ea typeface="Times New Roman"/>
                              <a:cs typeface="Times New Roman"/>
                              <a:sym typeface="Times New Roman"/>
                            </a:rPr>
                            <m:t> </m:t>
                          </m:r>
                          <m:r>
                            <a:rPr lang="en-US" altLang="zh-CN" sz="1800" i="1" dirty="0">
                              <a:latin typeface="Cambria Math" panose="02040503050406030204" pitchFamily="18" charset="0"/>
                              <a:ea typeface="Times New Roman"/>
                              <a:cs typeface="Times New Roman"/>
                              <a:sym typeface="Times New Roman"/>
                            </a:rPr>
                            <m:t>𝑝</m:t>
                          </m:r>
                          <m:d>
                            <m:dPr>
                              <m:ctrlPr>
                                <a:rPr lang="en-US" altLang="zh-CN" sz="1800" i="1" dirty="0">
                                  <a:latin typeface="Cambria Math" panose="02040503050406030204" pitchFamily="18" charset="0"/>
                                  <a:ea typeface="Times New Roman"/>
                                  <a:cs typeface="Times New Roman"/>
                                  <a:sym typeface="Times New Roman"/>
                                </a:rPr>
                              </m:ctrlPr>
                            </m:dPr>
                            <m:e>
                              <m:r>
                                <a:rPr lang="en-US" altLang="zh-CN" sz="1800" i="1" dirty="0">
                                  <a:latin typeface="Cambria Math" panose="02040503050406030204" pitchFamily="18" charset="0"/>
                                  <a:ea typeface="Times New Roman"/>
                                  <a:cs typeface="Times New Roman"/>
                                  <a:sym typeface="Times New Roman"/>
                                </a:rPr>
                                <m:t>1</m:t>
                              </m:r>
                            </m:e>
                          </m:d>
                        </m:num>
                        <m:den>
                          <m:sSubSup>
                            <m:sSubSupPr>
                              <m:ctrlPr>
                                <a:rPr lang="en-US" sz="1800" i="1" dirty="0">
                                  <a:latin typeface="Cambria Math" panose="02040503050406030204" pitchFamily="18" charset="0"/>
                                  <a:ea typeface="Times New Roman"/>
                                  <a:cs typeface="Times New Roman"/>
                                  <a:sym typeface="Times New Roman"/>
                                </a:rPr>
                              </m:ctrlPr>
                            </m:sSubSupPr>
                            <m:e>
                              <m:acc>
                                <m:accPr>
                                  <m:chr m:val="̂"/>
                                  <m:ctrlPr>
                                    <a:rPr lang="en-US" sz="1800" i="1" dirty="0">
                                      <a:latin typeface="Cambria Math" panose="02040503050406030204" pitchFamily="18" charset="0"/>
                                      <a:ea typeface="Times New Roman"/>
                                      <a:cs typeface="Times New Roman"/>
                                      <a:sym typeface="Times New Roman"/>
                                    </a:rPr>
                                  </m:ctrlPr>
                                </m:accPr>
                                <m:e>
                                  <m:r>
                                    <a:rPr lang="en-US" sz="1800" i="1" dirty="0">
                                      <a:latin typeface="Cambria Math" panose="02040503050406030204" pitchFamily="18" charset="0"/>
                                      <a:ea typeface="Times New Roman"/>
                                      <a:cs typeface="Times New Roman"/>
                                      <a:sym typeface="Times New Roman"/>
                                    </a:rPr>
                                    <m:t>𝑤</m:t>
                                  </m:r>
                                </m:e>
                              </m:acc>
                            </m:e>
                            <m:sub>
                              <m:r>
                                <a:rPr lang="en-US" sz="1800" i="1" dirty="0">
                                  <a:latin typeface="Cambria Math" panose="02040503050406030204" pitchFamily="18" charset="0"/>
                                  <a:ea typeface="Times New Roman"/>
                                  <a:cs typeface="Times New Roman"/>
                                  <a:sym typeface="Times New Roman"/>
                                </a:rPr>
                                <m:t>1</m:t>
                              </m:r>
                            </m:sub>
                            <m:sup>
                              <m:r>
                                <m:rPr>
                                  <m:nor/>
                                </m:rPr>
                                <a:rPr lang="en-US" sz="1800" i="0" dirty="0">
                                  <a:latin typeface="Cambria Math" panose="02040503050406030204" pitchFamily="18" charset="0"/>
                                  <a:ea typeface="Times New Roman"/>
                                  <a:cs typeface="Times New Roman"/>
                                  <a:sym typeface="Times New Roman"/>
                                </a:rPr>
                                <m:t>MLLS</m:t>
                              </m:r>
                            </m:sup>
                          </m:sSubSup>
                          <m:r>
                            <a:rPr lang="en-US" sz="1800" i="1" dirty="0">
                              <a:latin typeface="Cambria Math" panose="02040503050406030204" pitchFamily="18" charset="0"/>
                              <a:ea typeface="Times New Roman"/>
                              <a:cs typeface="Times New Roman"/>
                              <a:sym typeface="Times New Roman"/>
                            </a:rPr>
                            <m:t> </m:t>
                          </m:r>
                          <m:r>
                            <a:rPr lang="en-US" sz="1800" i="1" dirty="0">
                              <a:latin typeface="Cambria Math" panose="02040503050406030204" pitchFamily="18" charset="0"/>
                              <a:ea typeface="Times New Roman"/>
                              <a:cs typeface="Times New Roman"/>
                              <a:sym typeface="Times New Roman"/>
                            </a:rPr>
                            <m:t>𝑝</m:t>
                          </m:r>
                          <m:d>
                            <m:dPr>
                              <m:ctrlPr>
                                <a:rPr lang="en-US" sz="1800" i="1" dirty="0">
                                  <a:latin typeface="Cambria Math" panose="02040503050406030204" pitchFamily="18" charset="0"/>
                                  <a:ea typeface="Times New Roman"/>
                                  <a:cs typeface="Times New Roman"/>
                                  <a:sym typeface="Times New Roman"/>
                                </a:rPr>
                              </m:ctrlPr>
                            </m:dPr>
                            <m:e>
                              <m:r>
                                <a:rPr lang="en-US" sz="1800" i="1" dirty="0">
                                  <a:latin typeface="Cambria Math" panose="02040503050406030204" pitchFamily="18" charset="0"/>
                                  <a:ea typeface="Times New Roman"/>
                                  <a:cs typeface="Times New Roman"/>
                                  <a:sym typeface="Times New Roman"/>
                                </a:rPr>
                                <m:t>1</m:t>
                              </m:r>
                            </m:e>
                          </m:d>
                          <m:r>
                            <a:rPr lang="en-US" sz="1800" i="1" dirty="0">
                              <a:latin typeface="Cambria Math" panose="02040503050406030204" pitchFamily="18" charset="0"/>
                              <a:ea typeface="Times New Roman"/>
                              <a:cs typeface="Times New Roman"/>
                              <a:sym typeface="Times New Roman"/>
                            </a:rPr>
                            <m:t>+</m:t>
                          </m:r>
                          <m:sSubSup>
                            <m:sSubSupPr>
                              <m:ctrlPr>
                                <a:rPr lang="en-US" sz="1800" i="1" dirty="0">
                                  <a:latin typeface="Cambria Math" panose="02040503050406030204" pitchFamily="18" charset="0"/>
                                  <a:ea typeface="Times New Roman"/>
                                  <a:cs typeface="Times New Roman"/>
                                  <a:sym typeface="Times New Roman"/>
                                </a:rPr>
                              </m:ctrlPr>
                            </m:sSubSupPr>
                            <m:e>
                              <m:acc>
                                <m:accPr>
                                  <m:chr m:val="̂"/>
                                  <m:ctrlPr>
                                    <a:rPr lang="en-US" sz="1800" i="1" dirty="0">
                                      <a:latin typeface="Cambria Math" panose="02040503050406030204" pitchFamily="18" charset="0"/>
                                      <a:ea typeface="Times New Roman"/>
                                      <a:cs typeface="Times New Roman"/>
                                      <a:sym typeface="Times New Roman"/>
                                    </a:rPr>
                                  </m:ctrlPr>
                                </m:accPr>
                                <m:e>
                                  <m:r>
                                    <a:rPr lang="en-US" sz="1800" i="1" dirty="0">
                                      <a:latin typeface="Cambria Math" panose="02040503050406030204" pitchFamily="18" charset="0"/>
                                      <a:ea typeface="Times New Roman"/>
                                      <a:cs typeface="Times New Roman"/>
                                      <a:sym typeface="Times New Roman"/>
                                    </a:rPr>
                                    <m:t>𝑤</m:t>
                                  </m:r>
                                </m:e>
                              </m:acc>
                            </m:e>
                            <m:sub>
                              <m:r>
                                <a:rPr lang="en-US" sz="1800" i="1" dirty="0">
                                  <a:latin typeface="Cambria Math" panose="02040503050406030204" pitchFamily="18" charset="0"/>
                                  <a:ea typeface="Times New Roman"/>
                                  <a:cs typeface="Times New Roman"/>
                                  <a:sym typeface="Times New Roman"/>
                                </a:rPr>
                                <m:t>0</m:t>
                              </m:r>
                            </m:sub>
                            <m:sup>
                              <m:r>
                                <m:rPr>
                                  <m:nor/>
                                </m:rPr>
                                <a:rPr lang="en-US" sz="1800" i="0" dirty="0">
                                  <a:latin typeface="Cambria Math" panose="02040503050406030204" pitchFamily="18" charset="0"/>
                                  <a:ea typeface="Times New Roman"/>
                                  <a:cs typeface="Times New Roman"/>
                                  <a:sym typeface="Times New Roman"/>
                                </a:rPr>
                                <m:t>MLLS</m:t>
                              </m:r>
                            </m:sup>
                          </m:sSubSup>
                          <m:r>
                            <a:rPr lang="en-US" sz="1800" i="1" dirty="0">
                              <a:latin typeface="Cambria Math" panose="02040503050406030204" pitchFamily="18" charset="0"/>
                              <a:ea typeface="Times New Roman"/>
                              <a:cs typeface="Times New Roman"/>
                              <a:sym typeface="Times New Roman"/>
                            </a:rPr>
                            <m:t> </m:t>
                          </m:r>
                          <m:d>
                            <m:dPr>
                              <m:begChr m:val="["/>
                              <m:endChr m:val="]"/>
                              <m:ctrlPr>
                                <a:rPr lang="en-US" sz="1800" i="1" dirty="0">
                                  <a:latin typeface="Cambria Math" panose="02040503050406030204" pitchFamily="18" charset="0"/>
                                  <a:ea typeface="Times New Roman"/>
                                  <a:cs typeface="Times New Roman"/>
                                  <a:sym typeface="Times New Roman"/>
                                </a:rPr>
                              </m:ctrlPr>
                            </m:dPr>
                            <m:e>
                              <m:r>
                                <a:rPr lang="en-US" sz="1800" i="1" dirty="0">
                                  <a:latin typeface="Cambria Math" panose="02040503050406030204" pitchFamily="18" charset="0"/>
                                  <a:ea typeface="Times New Roman"/>
                                  <a:cs typeface="Times New Roman"/>
                                  <a:sym typeface="Times New Roman"/>
                                </a:rPr>
                                <m:t>1−</m:t>
                              </m:r>
                              <m:r>
                                <a:rPr lang="en-US" sz="1800" i="1" dirty="0">
                                  <a:latin typeface="Cambria Math" panose="02040503050406030204" pitchFamily="18" charset="0"/>
                                  <a:ea typeface="Times New Roman"/>
                                  <a:cs typeface="Times New Roman"/>
                                  <a:sym typeface="Times New Roman"/>
                                </a:rPr>
                                <m:t>𝑝</m:t>
                              </m:r>
                              <m:d>
                                <m:dPr>
                                  <m:ctrlPr>
                                    <a:rPr lang="en-US" sz="1800" i="1" dirty="0">
                                      <a:latin typeface="Cambria Math" panose="02040503050406030204" pitchFamily="18" charset="0"/>
                                      <a:ea typeface="Times New Roman"/>
                                      <a:cs typeface="Times New Roman"/>
                                      <a:sym typeface="Times New Roman"/>
                                    </a:rPr>
                                  </m:ctrlPr>
                                </m:dPr>
                                <m:e>
                                  <m:r>
                                    <a:rPr lang="en-US" sz="1800" i="1" dirty="0">
                                      <a:latin typeface="Cambria Math" panose="02040503050406030204" pitchFamily="18" charset="0"/>
                                      <a:ea typeface="Times New Roman"/>
                                      <a:cs typeface="Times New Roman"/>
                                      <a:sym typeface="Times New Roman"/>
                                    </a:rPr>
                                    <m:t>1</m:t>
                                  </m:r>
                                </m:e>
                              </m:d>
                            </m:e>
                          </m:d>
                        </m:den>
                      </m:f>
                    </m:oMath>
                  </m:oMathPara>
                </a14:m>
                <a:endParaRPr lang="en-US" sz="1800" dirty="0">
                  <a:latin typeface="Times New Roman"/>
                  <a:ea typeface="Times New Roman"/>
                  <a:cs typeface="Times New Roman"/>
                  <a:sym typeface="Times New Roman"/>
                </a:endParaRPr>
              </a:p>
            </p:txBody>
          </p:sp>
        </mc:Choice>
        <mc:Fallback xmlns="">
          <p:sp>
            <p:nvSpPr>
              <p:cNvPr id="126" name="Google Shape;126;g3d44f2775a5_0_56"/>
              <p:cNvSpPr txBox="1">
                <a:spLocks noGrp="1" noRot="1" noChangeAspect="1" noMove="1" noResize="1" noEditPoints="1" noAdjustHandles="1" noChangeArrowheads="1" noChangeShapeType="1" noTextEdit="1"/>
              </p:cNvSpPr>
              <p:nvPr>
                <p:ph type="body" idx="1"/>
              </p:nvPr>
            </p:nvSpPr>
            <p:spPr>
              <a:xfrm>
                <a:off x="1278850" y="1221964"/>
                <a:ext cx="10622700" cy="4954861"/>
              </a:xfrm>
              <a:prstGeom prst="rect">
                <a:avLst/>
              </a:prstGeom>
              <a:blipFill>
                <a:blip r:embed="rId3"/>
                <a:stretch>
                  <a:fillRect l="-402"/>
                </a:stretch>
              </a:blipFill>
              <a:ln>
                <a:noFill/>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6">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6">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ain Title Squar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in text slide">
  <a:themeElements>
    <a:clrScheme name="Custom 1">
      <a:dk1>
        <a:srgbClr val="A38342"/>
      </a:dk1>
      <a:lt1>
        <a:srgbClr val="FFFFFF"/>
      </a:lt1>
      <a:dk2>
        <a:srgbClr val="000000"/>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952</TotalTime>
  <Words>1852</Words>
  <Application>Microsoft Office PowerPoint</Application>
  <PresentationFormat>宽屏</PresentationFormat>
  <Paragraphs>200</Paragraphs>
  <Slides>23</Slides>
  <Notes>22</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23</vt:i4>
      </vt:variant>
    </vt:vector>
  </HeadingPairs>
  <TitlesOfParts>
    <vt:vector size="32" baseType="lpstr">
      <vt:lpstr>Cormorant</vt:lpstr>
      <vt:lpstr>Nunito Sans</vt:lpstr>
      <vt:lpstr>Times New Roman</vt:lpstr>
      <vt:lpstr>Wingdings</vt:lpstr>
      <vt:lpstr>Calibri</vt:lpstr>
      <vt:lpstr>Cambria Math</vt:lpstr>
      <vt:lpstr>Arial</vt:lpstr>
      <vt:lpstr>Main Title Square</vt:lpstr>
      <vt:lpstr>Main text slide</vt:lpstr>
      <vt:lpstr>A Framework for Generalizable Classification Under Label Shift</vt:lpstr>
      <vt:lpstr>Background</vt:lpstr>
      <vt:lpstr>Data Set Shift</vt:lpstr>
      <vt:lpstr>Label Shift</vt:lpstr>
      <vt:lpstr>Estimate Label Shift</vt:lpstr>
      <vt:lpstr>Black Box Shift Estimation (BBSE)</vt:lpstr>
      <vt:lpstr>BBSE Example</vt:lpstr>
      <vt:lpstr>Maximum Likelihood Label Shift (MLLS)</vt:lpstr>
      <vt:lpstr>EM Algorithm</vt:lpstr>
      <vt:lpstr>Calibration</vt:lpstr>
      <vt:lpstr>Comparison between BBSE and MLLS</vt:lpstr>
      <vt:lpstr>Comparison between BBSE and MLLS</vt:lpstr>
      <vt:lpstr>Stable &amp; Unstable Variables</vt:lpstr>
      <vt:lpstr>Variable Selection</vt:lpstr>
      <vt:lpstr>Resampling Procedure</vt:lpstr>
      <vt:lpstr>Criterion</vt:lpstr>
      <vt:lpstr>Simulation</vt:lpstr>
      <vt:lpstr>Variable Selection Result</vt:lpstr>
      <vt:lpstr>Conclusion &amp; Discussion</vt:lpstr>
      <vt:lpstr>PowerPoint 演示文稿</vt:lpstr>
      <vt:lpstr>Black Box Shift Estimation (BBSE)</vt:lpstr>
      <vt:lpstr>EM Algorithm &amp; MLLS</vt:lpstr>
      <vt:lpstr>Label Shift Correction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Xue, Ives</cp:lastModifiedBy>
  <cp:revision>10</cp:revision>
  <dcterms:modified xsi:type="dcterms:W3CDTF">2026-04-28T03:49:08Z</dcterms:modified>
</cp:coreProperties>
</file>